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1" d="100"/>
          <a:sy n="101" d="100"/>
        </p:scale>
        <p:origin x="693"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67506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D3D"/>
        </a:solidFill>
        <a:effectLst/>
      </p:bgPr>
    </p:bg>
    <p:spTree>
      <p:nvGrpSpPr>
        <p:cNvPr id="1" name=""/>
        <p:cNvGrpSpPr/>
        <p:nvPr/>
      </p:nvGrpSpPr>
      <p:grpSpPr>
        <a:xfrm>
          <a:off x="0" y="0"/>
          <a:ext cx="0" cy="0"/>
          <a:chOff x="0" y="0"/>
          <a:chExt cx="0" cy="0"/>
        </a:xfrm>
      </p:grpSpPr>
      <p:sp>
        <p:nvSpPr>
          <p:cNvPr id="2" name="Shape 0"/>
          <p:cNvSpPr/>
          <p:nvPr/>
        </p:nvSpPr>
        <p:spPr>
          <a:xfrm>
            <a:off x="0" y="0"/>
            <a:ext cx="3108960" cy="5143500"/>
          </a:xfrm>
          <a:prstGeom prst="rect">
            <a:avLst/>
          </a:prstGeom>
          <a:solidFill>
            <a:srgbClr val="2C4A5A"/>
          </a:solidFill>
          <a:ln/>
        </p:spPr>
        <p:txBody>
          <a:bodyPr/>
          <a:lstStyle/>
          <a:p>
            <a:endParaRPr lang="en-IN"/>
          </a:p>
        </p:txBody>
      </p:sp>
      <p:sp>
        <p:nvSpPr>
          <p:cNvPr id="3" name="Shape 1"/>
          <p:cNvSpPr/>
          <p:nvPr/>
        </p:nvSpPr>
        <p:spPr>
          <a:xfrm>
            <a:off x="3108960" y="0"/>
            <a:ext cx="109728" cy="5143500"/>
          </a:xfrm>
          <a:prstGeom prst="rect">
            <a:avLst/>
          </a:prstGeom>
          <a:solidFill>
            <a:srgbClr val="2A8C82"/>
          </a:solidFill>
          <a:ln/>
        </p:spPr>
        <p:txBody>
          <a:bodyPr/>
          <a:lstStyle/>
          <a:p>
            <a:endParaRPr lang="en-IN"/>
          </a:p>
        </p:txBody>
      </p:sp>
      <p:sp>
        <p:nvSpPr>
          <p:cNvPr id="4" name="Text 2"/>
          <p:cNvSpPr/>
          <p:nvPr/>
        </p:nvSpPr>
        <p:spPr>
          <a:xfrm>
            <a:off x="3383280" y="640080"/>
            <a:ext cx="5486400" cy="822960"/>
          </a:xfrm>
          <a:prstGeom prst="rect">
            <a:avLst/>
          </a:prstGeom>
          <a:noFill/>
          <a:ln/>
        </p:spPr>
        <p:txBody>
          <a:bodyPr wrap="square" lIns="0" tIns="0" rIns="0" bIns="0" rtlCol="0" anchor="ctr"/>
          <a:lstStyle/>
          <a:p>
            <a:pPr marL="0" indent="0" algn="l">
              <a:buNone/>
            </a:pPr>
            <a:r>
              <a:rPr lang="en-US" sz="3800" b="1" dirty="0">
                <a:solidFill>
                  <a:srgbClr val="FFFFFF"/>
                </a:solidFill>
                <a:latin typeface="Cambria" pitchFamily="34" charset="0"/>
                <a:ea typeface="Cambria" pitchFamily="34" charset="-122"/>
                <a:cs typeface="Cambria" pitchFamily="34" charset="-120"/>
              </a:rPr>
              <a:t>LightFM-Based</a:t>
            </a:r>
            <a:endParaRPr lang="en-US" sz="3800" dirty="0"/>
          </a:p>
        </p:txBody>
      </p:sp>
      <p:sp>
        <p:nvSpPr>
          <p:cNvPr id="5" name="Text 3"/>
          <p:cNvSpPr/>
          <p:nvPr/>
        </p:nvSpPr>
        <p:spPr>
          <a:xfrm>
            <a:off x="3383280" y="1417320"/>
            <a:ext cx="5486400" cy="822960"/>
          </a:xfrm>
          <a:prstGeom prst="rect">
            <a:avLst/>
          </a:prstGeom>
          <a:noFill/>
          <a:ln/>
        </p:spPr>
        <p:txBody>
          <a:bodyPr wrap="square" lIns="0" tIns="0" rIns="0" bIns="0" rtlCol="0" anchor="ctr"/>
          <a:lstStyle/>
          <a:p>
            <a:pPr marL="0" indent="0" algn="l">
              <a:buNone/>
            </a:pPr>
            <a:r>
              <a:rPr lang="en-US" sz="3800" b="1" dirty="0">
                <a:solidFill>
                  <a:srgbClr val="4BB8AE"/>
                </a:solidFill>
                <a:latin typeface="Cambria" pitchFamily="34" charset="0"/>
                <a:ea typeface="Cambria" pitchFamily="34" charset="-122"/>
                <a:cs typeface="Cambria" pitchFamily="34" charset="-120"/>
              </a:rPr>
              <a:t>Movie Recommender</a:t>
            </a:r>
            <a:endParaRPr lang="en-US" sz="3800" dirty="0"/>
          </a:p>
        </p:txBody>
      </p:sp>
      <p:sp>
        <p:nvSpPr>
          <p:cNvPr id="6" name="Text 4"/>
          <p:cNvSpPr/>
          <p:nvPr/>
        </p:nvSpPr>
        <p:spPr>
          <a:xfrm>
            <a:off x="3383280" y="2194560"/>
            <a:ext cx="5486400" cy="640080"/>
          </a:xfrm>
          <a:prstGeom prst="rect">
            <a:avLst/>
          </a:prstGeom>
          <a:noFill/>
          <a:ln/>
        </p:spPr>
        <p:txBody>
          <a:bodyPr wrap="square" lIns="0" tIns="0" rIns="0" bIns="0" rtlCol="0" anchor="ctr"/>
          <a:lstStyle/>
          <a:p>
            <a:pPr marL="0" indent="0" algn="l">
              <a:buNone/>
            </a:pPr>
            <a:r>
              <a:rPr lang="en-US" sz="3800" b="1" dirty="0">
                <a:solidFill>
                  <a:srgbClr val="FFFFFF"/>
                </a:solidFill>
                <a:latin typeface="Cambria" pitchFamily="34" charset="0"/>
                <a:ea typeface="Cambria" pitchFamily="34" charset="-122"/>
                <a:cs typeface="Cambria" pitchFamily="34" charset="-120"/>
              </a:rPr>
              <a:t>System</a:t>
            </a:r>
            <a:endParaRPr lang="en-US" sz="3800" dirty="0"/>
          </a:p>
        </p:txBody>
      </p:sp>
      <p:sp>
        <p:nvSpPr>
          <p:cNvPr id="7" name="Text 5"/>
          <p:cNvSpPr/>
          <p:nvPr/>
        </p:nvSpPr>
        <p:spPr>
          <a:xfrm>
            <a:off x="3383280" y="2971800"/>
            <a:ext cx="5486400" cy="411480"/>
          </a:xfrm>
          <a:prstGeom prst="rect">
            <a:avLst/>
          </a:prstGeom>
          <a:noFill/>
          <a:ln/>
        </p:spPr>
        <p:txBody>
          <a:bodyPr wrap="square" lIns="0" tIns="0" rIns="0" bIns="0" rtlCol="0" anchor="ctr"/>
          <a:lstStyle/>
          <a:p>
            <a:pPr marL="0" indent="0" algn="l">
              <a:buNone/>
            </a:pPr>
            <a:r>
              <a:rPr lang="en-US" sz="1400" i="1" dirty="0">
                <a:solidFill>
                  <a:srgbClr val="A0BAC8"/>
                </a:solidFill>
                <a:latin typeface="Calibri" pitchFamily="34" charset="0"/>
                <a:ea typeface="Calibri" pitchFamily="34" charset="-122"/>
                <a:cs typeface="Calibri" pitchFamily="34" charset="-120"/>
              </a:rPr>
              <a:t>Comparative Study of UBCF · IBCF · Matrix Factorization</a:t>
            </a:r>
            <a:endParaRPr lang="en-US" sz="1400" dirty="0"/>
          </a:p>
        </p:txBody>
      </p:sp>
      <p:sp>
        <p:nvSpPr>
          <p:cNvPr id="8" name="Shape 6"/>
          <p:cNvSpPr/>
          <p:nvPr/>
        </p:nvSpPr>
        <p:spPr>
          <a:xfrm>
            <a:off x="3383280" y="3351276"/>
            <a:ext cx="5303520" cy="18288"/>
          </a:xfrm>
          <a:prstGeom prst="rect">
            <a:avLst/>
          </a:prstGeom>
          <a:solidFill>
            <a:srgbClr val="2A8C82"/>
          </a:solidFill>
          <a:ln/>
        </p:spPr>
        <p:txBody>
          <a:bodyPr/>
          <a:lstStyle/>
          <a:p>
            <a:endParaRPr lang="en-IN"/>
          </a:p>
        </p:txBody>
      </p:sp>
      <p:sp>
        <p:nvSpPr>
          <p:cNvPr id="9" name="Text 7"/>
          <p:cNvSpPr/>
          <p:nvPr/>
        </p:nvSpPr>
        <p:spPr>
          <a:xfrm>
            <a:off x="3383280" y="3706788"/>
            <a:ext cx="5303520" cy="292608"/>
          </a:xfrm>
          <a:prstGeom prst="rect">
            <a:avLst/>
          </a:prstGeom>
          <a:noFill/>
          <a:ln/>
        </p:spPr>
        <p:txBody>
          <a:bodyPr wrap="square" lIns="0" tIns="0" rIns="0" bIns="0" rtlCol="0" anchor="ctr"/>
          <a:lstStyle/>
          <a:p>
            <a:pPr marL="0" indent="0" algn="l">
              <a:buNone/>
            </a:pPr>
            <a:r>
              <a:rPr lang="en-US" sz="1200" dirty="0" err="1">
                <a:solidFill>
                  <a:srgbClr val="8AAFC0"/>
                </a:solidFill>
                <a:latin typeface="Calibri" pitchFamily="34" charset="0"/>
                <a:ea typeface="Calibri" pitchFamily="34" charset="-122"/>
                <a:cs typeface="Calibri" pitchFamily="34" charset="-120"/>
              </a:rPr>
              <a:t>Course:Exploratory</a:t>
            </a:r>
            <a:r>
              <a:rPr lang="en-US" sz="1200" dirty="0">
                <a:solidFill>
                  <a:srgbClr val="8AAFC0"/>
                </a:solidFill>
                <a:latin typeface="Calibri" pitchFamily="34" charset="0"/>
                <a:ea typeface="Calibri" pitchFamily="34" charset="-122"/>
                <a:cs typeface="Calibri" pitchFamily="34" charset="-120"/>
              </a:rPr>
              <a:t> Project</a:t>
            </a:r>
          </a:p>
          <a:p>
            <a:pPr marL="0" indent="0" algn="l">
              <a:buNone/>
            </a:pPr>
            <a:r>
              <a:rPr lang="en-US" sz="1200" dirty="0">
                <a:solidFill>
                  <a:srgbClr val="8AAFC0"/>
                </a:solidFill>
                <a:latin typeface="Calibri" pitchFamily="34" charset="0"/>
                <a:ea typeface="Calibri" pitchFamily="34" charset="-122"/>
                <a:cs typeface="Calibri" pitchFamily="34" charset="-120"/>
              </a:rPr>
              <a:t>Done by: </a:t>
            </a:r>
            <a:r>
              <a:rPr lang="en-US" sz="1200" dirty="0" err="1">
                <a:solidFill>
                  <a:srgbClr val="8AAFC0"/>
                </a:solidFill>
                <a:latin typeface="Calibri" pitchFamily="34" charset="0"/>
                <a:ea typeface="Calibri" pitchFamily="34" charset="-122"/>
                <a:cs typeface="Calibri" pitchFamily="34" charset="-120"/>
              </a:rPr>
              <a:t>Bapatla</a:t>
            </a:r>
            <a:r>
              <a:rPr lang="en-US" sz="1200" dirty="0">
                <a:solidFill>
                  <a:srgbClr val="8AAFC0"/>
                </a:solidFill>
                <a:latin typeface="Calibri" pitchFamily="34" charset="0"/>
                <a:ea typeface="Calibri" pitchFamily="34" charset="-122"/>
                <a:cs typeface="Calibri" pitchFamily="34" charset="-120"/>
              </a:rPr>
              <a:t> Harika[24075015-Btech CSE 2</a:t>
            </a:r>
            <a:r>
              <a:rPr lang="en-US" sz="1200" baseline="30000" dirty="0">
                <a:solidFill>
                  <a:srgbClr val="8AAFC0"/>
                </a:solidFill>
                <a:latin typeface="Calibri" pitchFamily="34" charset="0"/>
                <a:ea typeface="Calibri" pitchFamily="34" charset="-122"/>
                <a:cs typeface="Calibri" pitchFamily="34" charset="-120"/>
              </a:rPr>
              <a:t>ND</a:t>
            </a:r>
            <a:r>
              <a:rPr lang="en-US" sz="1200" dirty="0">
                <a:solidFill>
                  <a:srgbClr val="8AAFC0"/>
                </a:solidFill>
                <a:latin typeface="Calibri" pitchFamily="34" charset="0"/>
                <a:ea typeface="Calibri" pitchFamily="34" charset="-122"/>
                <a:cs typeface="Calibri" pitchFamily="34" charset="-120"/>
              </a:rPr>
              <a:t> YEAR]</a:t>
            </a:r>
          </a:p>
          <a:p>
            <a:r>
              <a:rPr lang="en-US" sz="1200" dirty="0">
                <a:solidFill>
                  <a:srgbClr val="8AAFC0"/>
                </a:solidFill>
                <a:latin typeface="Calibri" pitchFamily="34" charset="0"/>
                <a:ea typeface="Calibri" pitchFamily="34" charset="-122"/>
                <a:cs typeface="Calibri" pitchFamily="34" charset="-120"/>
              </a:rPr>
              <a:t>                 Jitesh Kumar Mishra[24074020-IDD CSE 2</a:t>
            </a:r>
            <a:r>
              <a:rPr lang="en-US" sz="1200" baseline="30000" dirty="0">
                <a:solidFill>
                  <a:srgbClr val="8AAFC0"/>
                </a:solidFill>
                <a:latin typeface="Calibri" pitchFamily="34" charset="0"/>
                <a:ea typeface="Calibri" pitchFamily="34" charset="-122"/>
                <a:cs typeface="Calibri" pitchFamily="34" charset="-120"/>
              </a:rPr>
              <a:t>ND</a:t>
            </a:r>
            <a:r>
              <a:rPr lang="en-US" sz="1200" dirty="0">
                <a:solidFill>
                  <a:srgbClr val="8AAFC0"/>
                </a:solidFill>
                <a:latin typeface="Calibri" pitchFamily="34" charset="0"/>
                <a:ea typeface="Calibri" pitchFamily="34" charset="-122"/>
                <a:cs typeface="Calibri" pitchFamily="34" charset="-120"/>
              </a:rPr>
              <a:t> YEAR]</a:t>
            </a:r>
          </a:p>
          <a:p>
            <a:endParaRPr lang="en-US" sz="1200" dirty="0"/>
          </a:p>
        </p:txBody>
      </p:sp>
      <p:sp>
        <p:nvSpPr>
          <p:cNvPr id="10" name="Text 8"/>
          <p:cNvSpPr/>
          <p:nvPr/>
        </p:nvSpPr>
        <p:spPr>
          <a:xfrm>
            <a:off x="3383280" y="3904487"/>
            <a:ext cx="5303520" cy="427563"/>
          </a:xfrm>
          <a:prstGeom prst="rect">
            <a:avLst/>
          </a:prstGeom>
          <a:noFill/>
          <a:ln/>
        </p:spPr>
        <p:txBody>
          <a:bodyPr wrap="square" lIns="0" tIns="0" rIns="0" bIns="0" rtlCol="0" anchor="ctr"/>
          <a:lstStyle/>
          <a:p>
            <a:pPr marL="0" indent="0" algn="l">
              <a:buNone/>
            </a:pPr>
            <a:r>
              <a:rPr lang="en-US" sz="1200" dirty="0">
                <a:solidFill>
                  <a:srgbClr val="8AAFC0"/>
                </a:solidFill>
                <a:latin typeface="Calibri" pitchFamily="34" charset="0"/>
                <a:ea typeface="Calibri" pitchFamily="34" charset="-122"/>
                <a:cs typeface="Calibri" pitchFamily="34" charset="-120"/>
              </a:rPr>
              <a:t>Guided by: Dr. Bidyut Kumar Patra, IIT (BHU) Varanasi</a:t>
            </a:r>
            <a:endParaRPr lang="en-US" sz="1200" dirty="0"/>
          </a:p>
        </p:txBody>
      </p:sp>
      <p:sp>
        <p:nvSpPr>
          <p:cNvPr id="11" name="Text 9"/>
          <p:cNvSpPr/>
          <p:nvPr/>
        </p:nvSpPr>
        <p:spPr>
          <a:xfrm>
            <a:off x="3383280" y="4434840"/>
            <a:ext cx="5303520" cy="274320"/>
          </a:xfrm>
          <a:prstGeom prst="rect">
            <a:avLst/>
          </a:prstGeom>
          <a:noFill/>
          <a:ln/>
        </p:spPr>
        <p:txBody>
          <a:bodyPr wrap="square" lIns="0" tIns="0" rIns="0" bIns="0" rtlCol="0" anchor="ctr"/>
          <a:lstStyle/>
          <a:p>
            <a:pPr marL="0" indent="0" algn="l">
              <a:buNone/>
            </a:pPr>
            <a:endParaRPr lang="en-US" sz="1100" dirty="0"/>
          </a:p>
        </p:txBody>
      </p:sp>
      <p:sp>
        <p:nvSpPr>
          <p:cNvPr id="12" name="Text 10"/>
          <p:cNvSpPr/>
          <p:nvPr/>
        </p:nvSpPr>
        <p:spPr>
          <a:xfrm>
            <a:off x="91440" y="1645920"/>
            <a:ext cx="2743200" cy="1828800"/>
          </a:xfrm>
          <a:prstGeom prst="rect">
            <a:avLst/>
          </a:prstGeom>
          <a:noFill/>
          <a:ln/>
        </p:spPr>
        <p:txBody>
          <a:bodyPr wrap="square" rtlCol="0" anchor="ctr"/>
          <a:lstStyle/>
          <a:p>
            <a:pPr marL="0" indent="0" algn="ctr">
              <a:buNone/>
            </a:pPr>
            <a:r>
              <a:rPr lang="en-US" sz="2200" b="1" dirty="0">
                <a:solidFill>
                  <a:srgbClr val="3D6070"/>
                </a:solidFill>
                <a:latin typeface="Cambria" pitchFamily="34" charset="0"/>
                <a:ea typeface="Cambria" pitchFamily="34" charset="-122"/>
                <a:cs typeface="Cambria" pitchFamily="34" charset="-120"/>
              </a:rPr>
              <a:t>RECOMMENDER</a:t>
            </a:r>
            <a:endParaRPr lang="en-US" sz="2200" dirty="0"/>
          </a:p>
          <a:p>
            <a:pPr marL="0" indent="0" algn="ctr">
              <a:buNone/>
            </a:pPr>
            <a:r>
              <a:rPr lang="en-US" sz="2200" b="1" dirty="0">
                <a:solidFill>
                  <a:srgbClr val="3D6070"/>
                </a:solidFill>
                <a:latin typeface="Cambria" pitchFamily="34" charset="0"/>
                <a:ea typeface="Cambria" pitchFamily="34" charset="-122"/>
                <a:cs typeface="Cambria" pitchFamily="34" charset="-120"/>
              </a:rPr>
              <a:t>SYSTEM</a:t>
            </a:r>
            <a:endParaRPr lang="en-US" sz="2200" dirty="0"/>
          </a:p>
        </p:txBody>
      </p:sp>
      <p:sp>
        <p:nvSpPr>
          <p:cNvPr id="13" name="Text 11"/>
          <p:cNvSpPr/>
          <p:nvPr/>
        </p:nvSpPr>
        <p:spPr>
          <a:xfrm>
            <a:off x="91440" y="4480560"/>
            <a:ext cx="2743200" cy="365760"/>
          </a:xfrm>
          <a:prstGeom prst="rect">
            <a:avLst/>
          </a:prstGeom>
          <a:noFill/>
          <a:ln/>
        </p:spPr>
        <p:txBody>
          <a:bodyPr wrap="square" lIns="0" tIns="0" rIns="0" bIns="0" rtlCol="0" anchor="ctr"/>
          <a:lstStyle/>
          <a:p>
            <a:pPr marL="0" indent="0" algn="ctr">
              <a:buNone/>
            </a:pPr>
            <a:r>
              <a:rPr lang="en-US" sz="900" dirty="0">
                <a:solidFill>
                  <a:srgbClr val="3D6070"/>
                </a:solidFill>
                <a:latin typeface="Calibri" pitchFamily="34" charset="0"/>
                <a:ea typeface="Calibri" pitchFamily="34" charset="-122"/>
                <a:cs typeface="Calibri" pitchFamily="34" charset="-120"/>
              </a:rPr>
              <a:t>MovieLens 100K · Precision@K · Recall@K</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9"/>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A8C82"/>
          </a:solidFill>
          <a:ln/>
        </p:spPr>
        <p:txBody>
          <a:bodyPr/>
          <a:lstStyle/>
          <a:p>
            <a:endParaRPr lang="en-IN"/>
          </a:p>
        </p:txBody>
      </p:sp>
      <p:sp>
        <p:nvSpPr>
          <p:cNvPr id="3" name="Text 1"/>
          <p:cNvSpPr/>
          <p:nvPr/>
        </p:nvSpPr>
        <p:spPr>
          <a:xfrm>
            <a:off x="411480" y="201168"/>
            <a:ext cx="8503920" cy="594360"/>
          </a:xfrm>
          <a:prstGeom prst="rect">
            <a:avLst/>
          </a:prstGeom>
          <a:noFill/>
          <a:ln/>
        </p:spPr>
        <p:txBody>
          <a:bodyPr wrap="square" lIns="0" tIns="0" rIns="0" bIns="0" rtlCol="0" anchor="ctr"/>
          <a:lstStyle/>
          <a:p>
            <a:pPr marL="0" indent="0" algn="l">
              <a:buNone/>
            </a:pPr>
            <a:r>
              <a:rPr lang="en-US" sz="2600" b="1" dirty="0">
                <a:solidFill>
                  <a:srgbClr val="1E2D3D"/>
                </a:solidFill>
                <a:latin typeface="Cambria" pitchFamily="34" charset="0"/>
                <a:ea typeface="Cambria" pitchFamily="34" charset="-122"/>
                <a:cs typeface="Cambria" pitchFamily="34" charset="-120"/>
              </a:rPr>
              <a:t>Presentation Agenda</a:t>
            </a:r>
            <a:endParaRPr lang="en-US" sz="2600" dirty="0"/>
          </a:p>
        </p:txBody>
      </p:sp>
      <p:sp>
        <p:nvSpPr>
          <p:cNvPr id="4" name="Shape 2"/>
          <p:cNvSpPr/>
          <p:nvPr/>
        </p:nvSpPr>
        <p:spPr>
          <a:xfrm>
            <a:off x="411480" y="868680"/>
            <a:ext cx="8321040" cy="22860"/>
          </a:xfrm>
          <a:prstGeom prst="rect">
            <a:avLst/>
          </a:prstGeom>
          <a:solidFill>
            <a:srgbClr val="4BB8AE"/>
          </a:solidFill>
          <a:ln/>
        </p:spPr>
        <p:txBody>
          <a:bodyPr/>
          <a:lstStyle/>
          <a:p>
            <a:endParaRPr lang="en-IN"/>
          </a:p>
        </p:txBody>
      </p:sp>
      <p:sp>
        <p:nvSpPr>
          <p:cNvPr id="5" name="Shape 3"/>
          <p:cNvSpPr/>
          <p:nvPr/>
        </p:nvSpPr>
        <p:spPr>
          <a:xfrm>
            <a:off x="411480" y="1097280"/>
            <a:ext cx="475488" cy="502920"/>
          </a:xfrm>
          <a:prstGeom prst="rect">
            <a:avLst/>
          </a:prstGeom>
          <a:solidFill>
            <a:srgbClr val="2A8C82"/>
          </a:solidFill>
          <a:ln/>
          <a:effectLst>
            <a:outerShdw blurRad="63500" dist="25400" dir="8100000" algn="bl" rotWithShape="0">
              <a:srgbClr val="000000">
                <a:alpha val="10000"/>
              </a:srgbClr>
            </a:outerShdw>
          </a:effectLst>
        </p:spPr>
        <p:txBody>
          <a:bodyPr/>
          <a:lstStyle/>
          <a:p>
            <a:endParaRPr lang="en-IN"/>
          </a:p>
        </p:txBody>
      </p:sp>
      <p:sp>
        <p:nvSpPr>
          <p:cNvPr id="6" name="Text 4"/>
          <p:cNvSpPr/>
          <p:nvPr/>
        </p:nvSpPr>
        <p:spPr>
          <a:xfrm>
            <a:off x="411480" y="1097280"/>
            <a:ext cx="475488"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01</a:t>
            </a:r>
            <a:endParaRPr lang="en-US" sz="1600" dirty="0"/>
          </a:p>
        </p:txBody>
      </p:sp>
      <p:sp>
        <p:nvSpPr>
          <p:cNvPr id="7" name="Text 5"/>
          <p:cNvSpPr/>
          <p:nvPr/>
        </p:nvSpPr>
        <p:spPr>
          <a:xfrm>
            <a:off x="1005840" y="1170432"/>
            <a:ext cx="3474720" cy="384048"/>
          </a:xfrm>
          <a:prstGeom prst="rect">
            <a:avLst/>
          </a:prstGeom>
          <a:noFill/>
          <a:ln/>
        </p:spPr>
        <p:txBody>
          <a:bodyPr wrap="square" lIns="0" tIns="0" rIns="0" bIns="0" rtlCol="0" anchor="ctr"/>
          <a:lstStyle/>
          <a:p>
            <a:pPr marL="0" indent="0" algn="l">
              <a:buNone/>
            </a:pPr>
            <a:r>
              <a:rPr lang="en-US" sz="1300" dirty="0">
                <a:solidFill>
                  <a:srgbClr val="1A2533"/>
                </a:solidFill>
                <a:latin typeface="Calibri" pitchFamily="34" charset="0"/>
                <a:ea typeface="Calibri" pitchFamily="34" charset="-122"/>
                <a:cs typeface="Calibri" pitchFamily="34" charset="-120"/>
              </a:rPr>
              <a:t>Project Overview &amp; Problem Statement</a:t>
            </a:r>
            <a:endParaRPr lang="en-US" sz="1300" dirty="0"/>
          </a:p>
        </p:txBody>
      </p:sp>
      <p:sp>
        <p:nvSpPr>
          <p:cNvPr id="8" name="Shape 6"/>
          <p:cNvSpPr/>
          <p:nvPr/>
        </p:nvSpPr>
        <p:spPr>
          <a:xfrm>
            <a:off x="411480" y="1856232"/>
            <a:ext cx="475488" cy="502920"/>
          </a:xfrm>
          <a:prstGeom prst="rect">
            <a:avLst/>
          </a:prstGeom>
          <a:solidFill>
            <a:srgbClr val="2A8C82"/>
          </a:solidFill>
          <a:ln/>
          <a:effectLst>
            <a:outerShdw blurRad="63500" dist="25400" dir="8100000" algn="bl" rotWithShape="0">
              <a:srgbClr val="000000">
                <a:alpha val="10000"/>
              </a:srgbClr>
            </a:outerShdw>
          </a:effectLst>
        </p:spPr>
        <p:txBody>
          <a:bodyPr/>
          <a:lstStyle/>
          <a:p>
            <a:endParaRPr lang="en-IN"/>
          </a:p>
        </p:txBody>
      </p:sp>
      <p:sp>
        <p:nvSpPr>
          <p:cNvPr id="9" name="Text 7"/>
          <p:cNvSpPr/>
          <p:nvPr/>
        </p:nvSpPr>
        <p:spPr>
          <a:xfrm>
            <a:off x="411480" y="1856232"/>
            <a:ext cx="475488"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02</a:t>
            </a:r>
            <a:endParaRPr lang="en-US" sz="1600" dirty="0"/>
          </a:p>
        </p:txBody>
      </p:sp>
      <p:sp>
        <p:nvSpPr>
          <p:cNvPr id="10" name="Text 8"/>
          <p:cNvSpPr/>
          <p:nvPr/>
        </p:nvSpPr>
        <p:spPr>
          <a:xfrm>
            <a:off x="1005840" y="1929384"/>
            <a:ext cx="3474720" cy="384048"/>
          </a:xfrm>
          <a:prstGeom prst="rect">
            <a:avLst/>
          </a:prstGeom>
          <a:noFill/>
          <a:ln/>
        </p:spPr>
        <p:txBody>
          <a:bodyPr wrap="square" lIns="0" tIns="0" rIns="0" bIns="0" rtlCol="0" anchor="ctr"/>
          <a:lstStyle/>
          <a:p>
            <a:pPr marL="0" indent="0" algn="l">
              <a:buNone/>
            </a:pPr>
            <a:r>
              <a:rPr lang="en-US" sz="1300" dirty="0">
                <a:solidFill>
                  <a:srgbClr val="1A2533"/>
                </a:solidFill>
                <a:latin typeface="Calibri" pitchFamily="34" charset="0"/>
                <a:ea typeface="Calibri" pitchFamily="34" charset="-122"/>
                <a:cs typeface="Calibri" pitchFamily="34" charset="-120"/>
              </a:rPr>
              <a:t>Dataset: MovieLens 100K</a:t>
            </a:r>
            <a:endParaRPr lang="en-US" sz="1300" dirty="0"/>
          </a:p>
        </p:txBody>
      </p:sp>
      <p:sp>
        <p:nvSpPr>
          <p:cNvPr id="11" name="Shape 9"/>
          <p:cNvSpPr/>
          <p:nvPr/>
        </p:nvSpPr>
        <p:spPr>
          <a:xfrm>
            <a:off x="411480" y="2615184"/>
            <a:ext cx="475488" cy="502920"/>
          </a:xfrm>
          <a:prstGeom prst="rect">
            <a:avLst/>
          </a:prstGeom>
          <a:solidFill>
            <a:srgbClr val="2A8C82"/>
          </a:solidFill>
          <a:ln/>
          <a:effectLst>
            <a:outerShdw blurRad="63500" dist="25400" dir="8100000" algn="bl" rotWithShape="0">
              <a:srgbClr val="000000">
                <a:alpha val="10000"/>
              </a:srgbClr>
            </a:outerShdw>
          </a:effectLst>
        </p:spPr>
        <p:txBody>
          <a:bodyPr/>
          <a:lstStyle/>
          <a:p>
            <a:endParaRPr lang="en-IN"/>
          </a:p>
        </p:txBody>
      </p:sp>
      <p:sp>
        <p:nvSpPr>
          <p:cNvPr id="12" name="Text 10"/>
          <p:cNvSpPr/>
          <p:nvPr/>
        </p:nvSpPr>
        <p:spPr>
          <a:xfrm>
            <a:off x="411480" y="2615184"/>
            <a:ext cx="475488"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03</a:t>
            </a:r>
            <a:endParaRPr lang="en-US" sz="1600" dirty="0"/>
          </a:p>
        </p:txBody>
      </p:sp>
      <p:sp>
        <p:nvSpPr>
          <p:cNvPr id="13" name="Text 11"/>
          <p:cNvSpPr/>
          <p:nvPr/>
        </p:nvSpPr>
        <p:spPr>
          <a:xfrm>
            <a:off x="1005840" y="2688336"/>
            <a:ext cx="3474720" cy="384048"/>
          </a:xfrm>
          <a:prstGeom prst="rect">
            <a:avLst/>
          </a:prstGeom>
          <a:noFill/>
          <a:ln/>
        </p:spPr>
        <p:txBody>
          <a:bodyPr wrap="square" lIns="0" tIns="0" rIns="0" bIns="0" rtlCol="0" anchor="ctr"/>
          <a:lstStyle/>
          <a:p>
            <a:pPr marL="0" indent="0" algn="l">
              <a:buNone/>
            </a:pPr>
            <a:r>
              <a:rPr lang="en-US" sz="1300" dirty="0">
                <a:solidFill>
                  <a:srgbClr val="1A2533"/>
                </a:solidFill>
                <a:latin typeface="Calibri" pitchFamily="34" charset="0"/>
                <a:ea typeface="Calibri" pitchFamily="34" charset="-122"/>
                <a:cs typeface="Calibri" pitchFamily="34" charset="-120"/>
              </a:rPr>
              <a:t>System Architecture &amp; Code Structure</a:t>
            </a:r>
            <a:endParaRPr lang="en-US" sz="1300" dirty="0"/>
          </a:p>
        </p:txBody>
      </p:sp>
      <p:sp>
        <p:nvSpPr>
          <p:cNvPr id="14" name="Shape 12"/>
          <p:cNvSpPr/>
          <p:nvPr/>
        </p:nvSpPr>
        <p:spPr>
          <a:xfrm>
            <a:off x="411480" y="3374136"/>
            <a:ext cx="475488" cy="502920"/>
          </a:xfrm>
          <a:prstGeom prst="rect">
            <a:avLst/>
          </a:prstGeom>
          <a:solidFill>
            <a:srgbClr val="2A8C82"/>
          </a:solidFill>
          <a:ln/>
          <a:effectLst>
            <a:outerShdw blurRad="63500" dist="25400" dir="8100000" algn="bl" rotWithShape="0">
              <a:srgbClr val="000000">
                <a:alpha val="10000"/>
              </a:srgbClr>
            </a:outerShdw>
          </a:effectLst>
        </p:spPr>
        <p:txBody>
          <a:bodyPr/>
          <a:lstStyle/>
          <a:p>
            <a:endParaRPr lang="en-IN"/>
          </a:p>
        </p:txBody>
      </p:sp>
      <p:sp>
        <p:nvSpPr>
          <p:cNvPr id="15" name="Text 13"/>
          <p:cNvSpPr/>
          <p:nvPr/>
        </p:nvSpPr>
        <p:spPr>
          <a:xfrm>
            <a:off x="411480" y="3374136"/>
            <a:ext cx="475488"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04</a:t>
            </a:r>
            <a:endParaRPr lang="en-US" sz="1600" dirty="0"/>
          </a:p>
        </p:txBody>
      </p:sp>
      <p:sp>
        <p:nvSpPr>
          <p:cNvPr id="16" name="Text 14"/>
          <p:cNvSpPr/>
          <p:nvPr/>
        </p:nvSpPr>
        <p:spPr>
          <a:xfrm>
            <a:off x="1005840" y="3447288"/>
            <a:ext cx="3474720" cy="384048"/>
          </a:xfrm>
          <a:prstGeom prst="rect">
            <a:avLst/>
          </a:prstGeom>
          <a:noFill/>
          <a:ln/>
        </p:spPr>
        <p:txBody>
          <a:bodyPr wrap="square" lIns="0" tIns="0" rIns="0" bIns="0" rtlCol="0" anchor="ctr"/>
          <a:lstStyle/>
          <a:p>
            <a:pPr marL="0" indent="0" algn="l">
              <a:buNone/>
            </a:pPr>
            <a:r>
              <a:rPr lang="en-US" sz="1300" dirty="0">
                <a:solidFill>
                  <a:srgbClr val="1A2533"/>
                </a:solidFill>
                <a:latin typeface="Calibri" pitchFamily="34" charset="0"/>
                <a:ea typeface="Calibri" pitchFamily="34" charset="-122"/>
                <a:cs typeface="Calibri" pitchFamily="34" charset="-120"/>
              </a:rPr>
              <a:t>What is LightFM?</a:t>
            </a:r>
            <a:endParaRPr lang="en-US" sz="1300" dirty="0"/>
          </a:p>
        </p:txBody>
      </p:sp>
      <p:sp>
        <p:nvSpPr>
          <p:cNvPr id="17" name="Shape 15"/>
          <p:cNvSpPr/>
          <p:nvPr/>
        </p:nvSpPr>
        <p:spPr>
          <a:xfrm>
            <a:off x="411480" y="4133088"/>
            <a:ext cx="475488" cy="502920"/>
          </a:xfrm>
          <a:prstGeom prst="rect">
            <a:avLst/>
          </a:prstGeom>
          <a:solidFill>
            <a:srgbClr val="2A8C82"/>
          </a:solidFill>
          <a:ln/>
          <a:effectLst>
            <a:outerShdw blurRad="63500" dist="25400" dir="8100000" algn="bl" rotWithShape="0">
              <a:srgbClr val="000000">
                <a:alpha val="10000"/>
              </a:srgbClr>
            </a:outerShdw>
          </a:effectLst>
        </p:spPr>
        <p:txBody>
          <a:bodyPr/>
          <a:lstStyle/>
          <a:p>
            <a:endParaRPr lang="en-IN"/>
          </a:p>
        </p:txBody>
      </p:sp>
      <p:sp>
        <p:nvSpPr>
          <p:cNvPr id="18" name="Text 16"/>
          <p:cNvSpPr/>
          <p:nvPr/>
        </p:nvSpPr>
        <p:spPr>
          <a:xfrm>
            <a:off x="411480" y="4133088"/>
            <a:ext cx="475488"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05</a:t>
            </a:r>
            <a:endParaRPr lang="en-US" sz="1600" dirty="0"/>
          </a:p>
        </p:txBody>
      </p:sp>
      <p:sp>
        <p:nvSpPr>
          <p:cNvPr id="19" name="Text 17"/>
          <p:cNvSpPr/>
          <p:nvPr/>
        </p:nvSpPr>
        <p:spPr>
          <a:xfrm>
            <a:off x="1005840" y="4206240"/>
            <a:ext cx="3474720" cy="384048"/>
          </a:xfrm>
          <a:prstGeom prst="rect">
            <a:avLst/>
          </a:prstGeom>
          <a:noFill/>
          <a:ln/>
        </p:spPr>
        <p:txBody>
          <a:bodyPr wrap="square" lIns="0" tIns="0" rIns="0" bIns="0" rtlCol="0" anchor="ctr"/>
          <a:lstStyle/>
          <a:p>
            <a:pPr marL="0" indent="0" algn="l">
              <a:buNone/>
            </a:pPr>
            <a:r>
              <a:rPr lang="en-US" sz="1300" dirty="0">
                <a:solidFill>
                  <a:srgbClr val="1A2533"/>
                </a:solidFill>
                <a:latin typeface="Calibri" pitchFamily="34" charset="0"/>
                <a:ea typeface="Calibri" pitchFamily="34" charset="-122"/>
                <a:cs typeface="Calibri" pitchFamily="34" charset="-120"/>
              </a:rPr>
              <a:t>Model 1: User-Based Collaborative Filtering</a:t>
            </a:r>
            <a:endParaRPr lang="en-US" sz="1300" dirty="0"/>
          </a:p>
        </p:txBody>
      </p:sp>
      <p:sp>
        <p:nvSpPr>
          <p:cNvPr id="20" name="Shape 18"/>
          <p:cNvSpPr/>
          <p:nvPr/>
        </p:nvSpPr>
        <p:spPr>
          <a:xfrm>
            <a:off x="4709160" y="1097280"/>
            <a:ext cx="475488" cy="502920"/>
          </a:xfrm>
          <a:prstGeom prst="rect">
            <a:avLst/>
          </a:prstGeom>
          <a:solidFill>
            <a:srgbClr val="2C4A5A"/>
          </a:solidFill>
          <a:ln/>
          <a:effectLst>
            <a:outerShdw blurRad="63500" dist="25400" dir="8100000" algn="bl" rotWithShape="0">
              <a:srgbClr val="000000">
                <a:alpha val="10000"/>
              </a:srgbClr>
            </a:outerShdw>
          </a:effectLst>
        </p:spPr>
        <p:txBody>
          <a:bodyPr/>
          <a:lstStyle/>
          <a:p>
            <a:endParaRPr lang="en-IN"/>
          </a:p>
        </p:txBody>
      </p:sp>
      <p:sp>
        <p:nvSpPr>
          <p:cNvPr id="21" name="Text 19"/>
          <p:cNvSpPr/>
          <p:nvPr/>
        </p:nvSpPr>
        <p:spPr>
          <a:xfrm>
            <a:off x="4709160" y="1097280"/>
            <a:ext cx="475488"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06</a:t>
            </a:r>
            <a:endParaRPr lang="en-US" sz="1600" dirty="0"/>
          </a:p>
        </p:txBody>
      </p:sp>
      <p:sp>
        <p:nvSpPr>
          <p:cNvPr id="22" name="Text 20"/>
          <p:cNvSpPr/>
          <p:nvPr/>
        </p:nvSpPr>
        <p:spPr>
          <a:xfrm>
            <a:off x="5303520" y="1170432"/>
            <a:ext cx="3474720" cy="384048"/>
          </a:xfrm>
          <a:prstGeom prst="rect">
            <a:avLst/>
          </a:prstGeom>
          <a:noFill/>
          <a:ln/>
        </p:spPr>
        <p:txBody>
          <a:bodyPr wrap="square" lIns="0" tIns="0" rIns="0" bIns="0" rtlCol="0" anchor="ctr"/>
          <a:lstStyle/>
          <a:p>
            <a:pPr marL="0" indent="0" algn="l">
              <a:buNone/>
            </a:pPr>
            <a:r>
              <a:rPr lang="en-US" sz="1300" dirty="0">
                <a:solidFill>
                  <a:srgbClr val="1A2533"/>
                </a:solidFill>
                <a:latin typeface="Calibri" pitchFamily="34" charset="0"/>
                <a:ea typeface="Calibri" pitchFamily="34" charset="-122"/>
                <a:cs typeface="Calibri" pitchFamily="34" charset="-120"/>
              </a:rPr>
              <a:t>Model 2: Item-Based Collaborative Filtering</a:t>
            </a:r>
            <a:endParaRPr lang="en-US" sz="1300" dirty="0"/>
          </a:p>
        </p:txBody>
      </p:sp>
      <p:sp>
        <p:nvSpPr>
          <p:cNvPr id="23" name="Shape 21"/>
          <p:cNvSpPr/>
          <p:nvPr/>
        </p:nvSpPr>
        <p:spPr>
          <a:xfrm>
            <a:off x="4709160" y="1856232"/>
            <a:ext cx="475488" cy="502920"/>
          </a:xfrm>
          <a:prstGeom prst="rect">
            <a:avLst/>
          </a:prstGeom>
          <a:solidFill>
            <a:srgbClr val="2C4A5A"/>
          </a:solidFill>
          <a:ln/>
          <a:effectLst>
            <a:outerShdw blurRad="63500" dist="25400" dir="8100000" algn="bl" rotWithShape="0">
              <a:srgbClr val="000000">
                <a:alpha val="10000"/>
              </a:srgbClr>
            </a:outerShdw>
          </a:effectLst>
        </p:spPr>
        <p:txBody>
          <a:bodyPr/>
          <a:lstStyle/>
          <a:p>
            <a:endParaRPr lang="en-IN"/>
          </a:p>
        </p:txBody>
      </p:sp>
      <p:sp>
        <p:nvSpPr>
          <p:cNvPr id="24" name="Text 22"/>
          <p:cNvSpPr/>
          <p:nvPr/>
        </p:nvSpPr>
        <p:spPr>
          <a:xfrm>
            <a:off x="4709160" y="1856232"/>
            <a:ext cx="475488"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07</a:t>
            </a:r>
            <a:endParaRPr lang="en-US" sz="1600" dirty="0"/>
          </a:p>
        </p:txBody>
      </p:sp>
      <p:sp>
        <p:nvSpPr>
          <p:cNvPr id="25" name="Text 23"/>
          <p:cNvSpPr/>
          <p:nvPr/>
        </p:nvSpPr>
        <p:spPr>
          <a:xfrm>
            <a:off x="5303520" y="1929384"/>
            <a:ext cx="3474720" cy="384048"/>
          </a:xfrm>
          <a:prstGeom prst="rect">
            <a:avLst/>
          </a:prstGeom>
          <a:noFill/>
          <a:ln/>
        </p:spPr>
        <p:txBody>
          <a:bodyPr wrap="square" lIns="0" tIns="0" rIns="0" bIns="0" rtlCol="0" anchor="ctr"/>
          <a:lstStyle/>
          <a:p>
            <a:pPr marL="0" indent="0" algn="l">
              <a:buNone/>
            </a:pPr>
            <a:r>
              <a:rPr lang="en-US" sz="1300" dirty="0">
                <a:solidFill>
                  <a:srgbClr val="1A2533"/>
                </a:solidFill>
                <a:latin typeface="Calibri" pitchFamily="34" charset="0"/>
                <a:ea typeface="Calibri" pitchFamily="34" charset="-122"/>
                <a:cs typeface="Calibri" pitchFamily="34" charset="-120"/>
              </a:rPr>
              <a:t>Model 3: Matrix Factorization</a:t>
            </a:r>
            <a:endParaRPr lang="en-US" sz="1300" dirty="0"/>
          </a:p>
        </p:txBody>
      </p:sp>
      <p:sp>
        <p:nvSpPr>
          <p:cNvPr id="26" name="Shape 24"/>
          <p:cNvSpPr/>
          <p:nvPr/>
        </p:nvSpPr>
        <p:spPr>
          <a:xfrm>
            <a:off x="4709160" y="2615184"/>
            <a:ext cx="475488" cy="502920"/>
          </a:xfrm>
          <a:prstGeom prst="rect">
            <a:avLst/>
          </a:prstGeom>
          <a:solidFill>
            <a:srgbClr val="2C4A5A"/>
          </a:solidFill>
          <a:ln/>
          <a:effectLst>
            <a:outerShdw blurRad="63500" dist="25400" dir="8100000" algn="bl" rotWithShape="0">
              <a:srgbClr val="000000">
                <a:alpha val="10000"/>
              </a:srgbClr>
            </a:outerShdw>
          </a:effectLst>
        </p:spPr>
        <p:txBody>
          <a:bodyPr/>
          <a:lstStyle/>
          <a:p>
            <a:endParaRPr lang="en-IN"/>
          </a:p>
        </p:txBody>
      </p:sp>
      <p:sp>
        <p:nvSpPr>
          <p:cNvPr id="27" name="Text 25"/>
          <p:cNvSpPr/>
          <p:nvPr/>
        </p:nvSpPr>
        <p:spPr>
          <a:xfrm>
            <a:off x="4709160" y="2615184"/>
            <a:ext cx="475488"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08</a:t>
            </a:r>
            <a:endParaRPr lang="en-US" sz="1600" dirty="0"/>
          </a:p>
        </p:txBody>
      </p:sp>
      <p:sp>
        <p:nvSpPr>
          <p:cNvPr id="28" name="Text 26"/>
          <p:cNvSpPr/>
          <p:nvPr/>
        </p:nvSpPr>
        <p:spPr>
          <a:xfrm>
            <a:off x="5303520" y="2688336"/>
            <a:ext cx="3474720" cy="384048"/>
          </a:xfrm>
          <a:prstGeom prst="rect">
            <a:avLst/>
          </a:prstGeom>
          <a:noFill/>
          <a:ln/>
        </p:spPr>
        <p:txBody>
          <a:bodyPr wrap="square" lIns="0" tIns="0" rIns="0" bIns="0" rtlCol="0" anchor="ctr"/>
          <a:lstStyle/>
          <a:p>
            <a:pPr marL="0" indent="0" algn="l">
              <a:buNone/>
            </a:pPr>
            <a:r>
              <a:rPr lang="en-US" sz="1300" dirty="0">
                <a:solidFill>
                  <a:srgbClr val="1A2533"/>
                </a:solidFill>
                <a:latin typeface="Calibri" pitchFamily="34" charset="0"/>
                <a:ea typeface="Calibri" pitchFamily="34" charset="-122"/>
                <a:cs typeface="Calibri" pitchFamily="34" charset="-120"/>
              </a:rPr>
              <a:t>Evaluation Metrics: Precision@K &amp; Recall@K</a:t>
            </a:r>
            <a:endParaRPr lang="en-US" sz="1300" dirty="0"/>
          </a:p>
        </p:txBody>
      </p:sp>
      <p:sp>
        <p:nvSpPr>
          <p:cNvPr id="29" name="Shape 27"/>
          <p:cNvSpPr/>
          <p:nvPr/>
        </p:nvSpPr>
        <p:spPr>
          <a:xfrm>
            <a:off x="4709160" y="3374136"/>
            <a:ext cx="475488" cy="502920"/>
          </a:xfrm>
          <a:prstGeom prst="rect">
            <a:avLst/>
          </a:prstGeom>
          <a:solidFill>
            <a:srgbClr val="2C4A5A"/>
          </a:solidFill>
          <a:ln/>
          <a:effectLst>
            <a:outerShdw blurRad="63500" dist="25400" dir="8100000" algn="bl" rotWithShape="0">
              <a:srgbClr val="000000">
                <a:alpha val="10000"/>
              </a:srgbClr>
            </a:outerShdw>
          </a:effectLst>
        </p:spPr>
        <p:txBody>
          <a:bodyPr/>
          <a:lstStyle/>
          <a:p>
            <a:endParaRPr lang="en-IN"/>
          </a:p>
        </p:txBody>
      </p:sp>
      <p:sp>
        <p:nvSpPr>
          <p:cNvPr id="30" name="Text 28"/>
          <p:cNvSpPr/>
          <p:nvPr/>
        </p:nvSpPr>
        <p:spPr>
          <a:xfrm>
            <a:off x="4709160" y="3374136"/>
            <a:ext cx="475488"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09</a:t>
            </a:r>
            <a:endParaRPr lang="en-US" sz="1600" dirty="0"/>
          </a:p>
        </p:txBody>
      </p:sp>
      <p:sp>
        <p:nvSpPr>
          <p:cNvPr id="31" name="Text 29"/>
          <p:cNvSpPr/>
          <p:nvPr/>
        </p:nvSpPr>
        <p:spPr>
          <a:xfrm>
            <a:off x="5303520" y="3447288"/>
            <a:ext cx="3474720" cy="384048"/>
          </a:xfrm>
          <a:prstGeom prst="rect">
            <a:avLst/>
          </a:prstGeom>
          <a:noFill/>
          <a:ln/>
        </p:spPr>
        <p:txBody>
          <a:bodyPr wrap="square" lIns="0" tIns="0" rIns="0" bIns="0" rtlCol="0" anchor="ctr"/>
          <a:lstStyle/>
          <a:p>
            <a:pPr marL="0" indent="0" algn="l">
              <a:buNone/>
            </a:pPr>
            <a:r>
              <a:rPr lang="en-US" sz="1300" dirty="0">
                <a:solidFill>
                  <a:srgbClr val="1A2533"/>
                </a:solidFill>
                <a:latin typeface="Calibri" pitchFamily="34" charset="0"/>
                <a:ea typeface="Calibri" pitchFamily="34" charset="-122"/>
                <a:cs typeface="Calibri" pitchFamily="34" charset="-120"/>
              </a:rPr>
              <a:t>Model Comparison</a:t>
            </a:r>
            <a:endParaRPr lang="en-US" sz="1300" dirty="0"/>
          </a:p>
        </p:txBody>
      </p:sp>
      <p:sp>
        <p:nvSpPr>
          <p:cNvPr id="32" name="Shape 30"/>
          <p:cNvSpPr/>
          <p:nvPr/>
        </p:nvSpPr>
        <p:spPr>
          <a:xfrm>
            <a:off x="4709160" y="4133088"/>
            <a:ext cx="475488" cy="502920"/>
          </a:xfrm>
          <a:prstGeom prst="rect">
            <a:avLst/>
          </a:prstGeom>
          <a:solidFill>
            <a:srgbClr val="2C4A5A"/>
          </a:solidFill>
          <a:ln/>
          <a:effectLst>
            <a:outerShdw blurRad="63500" dist="25400" dir="8100000" algn="bl" rotWithShape="0">
              <a:srgbClr val="000000">
                <a:alpha val="10000"/>
              </a:srgbClr>
            </a:outerShdw>
          </a:effectLst>
        </p:spPr>
        <p:txBody>
          <a:bodyPr/>
          <a:lstStyle/>
          <a:p>
            <a:endParaRPr lang="en-IN"/>
          </a:p>
        </p:txBody>
      </p:sp>
      <p:sp>
        <p:nvSpPr>
          <p:cNvPr id="33" name="Text 31"/>
          <p:cNvSpPr/>
          <p:nvPr/>
        </p:nvSpPr>
        <p:spPr>
          <a:xfrm>
            <a:off x="4709160" y="4133088"/>
            <a:ext cx="475488"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10</a:t>
            </a:r>
            <a:endParaRPr lang="en-US" sz="1600" dirty="0"/>
          </a:p>
        </p:txBody>
      </p:sp>
      <p:sp>
        <p:nvSpPr>
          <p:cNvPr id="34" name="Text 32"/>
          <p:cNvSpPr/>
          <p:nvPr/>
        </p:nvSpPr>
        <p:spPr>
          <a:xfrm>
            <a:off x="5303520" y="4206240"/>
            <a:ext cx="3474720" cy="384048"/>
          </a:xfrm>
          <a:prstGeom prst="rect">
            <a:avLst/>
          </a:prstGeom>
          <a:noFill/>
          <a:ln/>
        </p:spPr>
        <p:txBody>
          <a:bodyPr wrap="square" lIns="0" tIns="0" rIns="0" bIns="0" rtlCol="0" anchor="ctr"/>
          <a:lstStyle/>
          <a:p>
            <a:pPr marL="0" indent="0" algn="l">
              <a:buNone/>
            </a:pPr>
            <a:r>
              <a:rPr lang="en-US" sz="1300" dirty="0">
                <a:solidFill>
                  <a:srgbClr val="1A2533"/>
                </a:solidFill>
                <a:latin typeface="Calibri" pitchFamily="34" charset="0"/>
                <a:ea typeface="Calibri" pitchFamily="34" charset="-122"/>
                <a:cs typeface="Calibri" pitchFamily="34" charset="-120"/>
              </a:rPr>
              <a:t>Key Idea</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9"/>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A8C82"/>
          </a:solidFill>
          <a:ln/>
        </p:spPr>
        <p:txBody>
          <a:bodyPr/>
          <a:lstStyle/>
          <a:p>
            <a:endParaRPr lang="en-IN"/>
          </a:p>
        </p:txBody>
      </p:sp>
      <p:sp>
        <p:nvSpPr>
          <p:cNvPr id="3" name="Text 1"/>
          <p:cNvSpPr/>
          <p:nvPr/>
        </p:nvSpPr>
        <p:spPr>
          <a:xfrm>
            <a:off x="411480" y="201168"/>
            <a:ext cx="8503920" cy="594360"/>
          </a:xfrm>
          <a:prstGeom prst="rect">
            <a:avLst/>
          </a:prstGeom>
          <a:noFill/>
          <a:ln/>
        </p:spPr>
        <p:txBody>
          <a:bodyPr wrap="square" lIns="0" tIns="0" rIns="0" bIns="0" rtlCol="0" anchor="ctr"/>
          <a:lstStyle/>
          <a:p>
            <a:pPr marL="0" indent="0" algn="l">
              <a:buNone/>
            </a:pPr>
            <a:r>
              <a:rPr lang="en-US" sz="2600" b="1" dirty="0">
                <a:solidFill>
                  <a:srgbClr val="1E2D3D"/>
                </a:solidFill>
                <a:latin typeface="Cambria" pitchFamily="34" charset="0"/>
                <a:ea typeface="Cambria" pitchFamily="34" charset="-122"/>
                <a:cs typeface="Cambria" pitchFamily="34" charset="-120"/>
              </a:rPr>
              <a:t>Project Overview</a:t>
            </a:r>
            <a:endParaRPr lang="en-US" sz="2600" dirty="0"/>
          </a:p>
        </p:txBody>
      </p:sp>
      <p:sp>
        <p:nvSpPr>
          <p:cNvPr id="4" name="Shape 2"/>
          <p:cNvSpPr/>
          <p:nvPr/>
        </p:nvSpPr>
        <p:spPr>
          <a:xfrm>
            <a:off x="411480" y="868680"/>
            <a:ext cx="8321040" cy="22860"/>
          </a:xfrm>
          <a:prstGeom prst="rect">
            <a:avLst/>
          </a:prstGeom>
          <a:solidFill>
            <a:srgbClr val="4BB8AE"/>
          </a:solidFill>
          <a:ln/>
        </p:spPr>
        <p:txBody>
          <a:bodyPr/>
          <a:lstStyle/>
          <a:p>
            <a:endParaRPr lang="en-IN"/>
          </a:p>
        </p:txBody>
      </p:sp>
      <p:sp>
        <p:nvSpPr>
          <p:cNvPr id="5" name="Text 3"/>
          <p:cNvSpPr/>
          <p:nvPr/>
        </p:nvSpPr>
        <p:spPr>
          <a:xfrm>
            <a:off x="411480" y="1005840"/>
            <a:ext cx="8321040" cy="640080"/>
          </a:xfrm>
          <a:prstGeom prst="rect">
            <a:avLst/>
          </a:prstGeom>
          <a:noFill/>
          <a:ln/>
        </p:spPr>
        <p:txBody>
          <a:bodyPr wrap="square" lIns="0" tIns="0" rIns="0" bIns="0" rtlCol="0" anchor="ctr"/>
          <a:lstStyle/>
          <a:p>
            <a:pPr marL="0" indent="0" algn="l">
              <a:buNone/>
            </a:pPr>
            <a:r>
              <a:rPr lang="en-US" sz="1350" dirty="0">
                <a:solidFill>
                  <a:srgbClr val="3D5166"/>
                </a:solidFill>
                <a:latin typeface="Calibri" pitchFamily="34" charset="0"/>
                <a:ea typeface="Calibri" pitchFamily="34" charset="-122"/>
                <a:cs typeface="Calibri" pitchFamily="34" charset="-120"/>
              </a:rPr>
              <a:t>Implementing and comparing three classical Recommender System algorithms on the MovieLens 100K dataset using the LightFM Python library — to predict movies a user would enjoy and evaluate performance using Precision@K and Recall@K.</a:t>
            </a:r>
            <a:endParaRPr lang="en-US" sz="1350" dirty="0"/>
          </a:p>
        </p:txBody>
      </p:sp>
      <p:sp>
        <p:nvSpPr>
          <p:cNvPr id="6" name="Shape 4"/>
          <p:cNvSpPr/>
          <p:nvPr/>
        </p:nvSpPr>
        <p:spPr>
          <a:xfrm>
            <a:off x="411480" y="1783080"/>
            <a:ext cx="2606040" cy="2651760"/>
          </a:xfrm>
          <a:prstGeom prst="rect">
            <a:avLst/>
          </a:prstGeom>
          <a:solidFill>
            <a:srgbClr val="2A8C82"/>
          </a:solidFill>
          <a:ln/>
          <a:effectLst>
            <a:outerShdw blurRad="63500" dist="25400" dir="8100000" algn="bl" rotWithShape="0">
              <a:srgbClr val="000000">
                <a:alpha val="10000"/>
              </a:srgbClr>
            </a:outerShdw>
          </a:effectLst>
        </p:spPr>
        <p:txBody>
          <a:bodyPr/>
          <a:lstStyle/>
          <a:p>
            <a:endParaRPr lang="en-IN"/>
          </a:p>
        </p:txBody>
      </p:sp>
      <p:sp>
        <p:nvSpPr>
          <p:cNvPr id="7" name="Text 5"/>
          <p:cNvSpPr/>
          <p:nvPr/>
        </p:nvSpPr>
        <p:spPr>
          <a:xfrm>
            <a:off x="411480" y="1874520"/>
            <a:ext cx="2606040" cy="685800"/>
          </a:xfrm>
          <a:prstGeom prst="rect">
            <a:avLst/>
          </a:prstGeom>
          <a:noFill/>
          <a:ln/>
        </p:spPr>
        <p:txBody>
          <a:bodyPr wrap="square" lIns="0" tIns="0" rIns="0" bIns="0" rtlCol="0" anchor="t"/>
          <a:lstStyle/>
          <a:p>
            <a:pPr marL="0" indent="0" algn="ctr">
              <a:buNone/>
            </a:pPr>
            <a:r>
              <a:rPr lang="en-US" sz="3600" b="1" dirty="0">
                <a:solidFill>
                  <a:srgbClr val="AACCDA"/>
                </a:solidFill>
                <a:latin typeface="Cambria" pitchFamily="34" charset="0"/>
                <a:ea typeface="Cambria" pitchFamily="34" charset="-122"/>
                <a:cs typeface="Cambria" pitchFamily="34" charset="-120"/>
              </a:rPr>
              <a:t>01</a:t>
            </a:r>
            <a:endParaRPr lang="en-US" sz="3600" dirty="0"/>
          </a:p>
        </p:txBody>
      </p:sp>
      <p:sp>
        <p:nvSpPr>
          <p:cNvPr id="8" name="Text 6"/>
          <p:cNvSpPr/>
          <p:nvPr/>
        </p:nvSpPr>
        <p:spPr>
          <a:xfrm>
            <a:off x="411480" y="2606040"/>
            <a:ext cx="2606040"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User-Based CF</a:t>
            </a:r>
            <a:endParaRPr lang="en-US" sz="1600" dirty="0"/>
          </a:p>
        </p:txBody>
      </p:sp>
      <p:sp>
        <p:nvSpPr>
          <p:cNvPr id="9" name="Shape 7"/>
          <p:cNvSpPr/>
          <p:nvPr/>
        </p:nvSpPr>
        <p:spPr>
          <a:xfrm>
            <a:off x="640080" y="3108960"/>
            <a:ext cx="2148840" cy="18288"/>
          </a:xfrm>
          <a:prstGeom prst="rect">
            <a:avLst/>
          </a:prstGeom>
          <a:solidFill>
            <a:srgbClr val="AACCDA"/>
          </a:solidFill>
          <a:ln/>
        </p:spPr>
        <p:txBody>
          <a:bodyPr/>
          <a:lstStyle/>
          <a:p>
            <a:endParaRPr lang="en-IN"/>
          </a:p>
        </p:txBody>
      </p:sp>
      <p:sp>
        <p:nvSpPr>
          <p:cNvPr id="10" name="Text 8"/>
          <p:cNvSpPr/>
          <p:nvPr/>
        </p:nvSpPr>
        <p:spPr>
          <a:xfrm>
            <a:off x="411480" y="3200400"/>
            <a:ext cx="2606040" cy="1005840"/>
          </a:xfrm>
          <a:prstGeom prst="rect">
            <a:avLst/>
          </a:prstGeom>
          <a:noFill/>
          <a:ln/>
        </p:spPr>
        <p:txBody>
          <a:bodyPr wrap="square" lIns="50800" tIns="50800" rIns="50800" bIns="50800" rtlCol="0" anchor="t"/>
          <a:lstStyle/>
          <a:p>
            <a:pPr marL="0" indent="0" algn="ctr">
              <a:buNone/>
            </a:pPr>
            <a:r>
              <a:rPr lang="en-US" sz="1200" dirty="0">
                <a:solidFill>
                  <a:srgbClr val="EAF4F8"/>
                </a:solidFill>
                <a:latin typeface="Calibri" pitchFamily="34" charset="0"/>
                <a:ea typeface="Calibri" pitchFamily="34" charset="-122"/>
                <a:cs typeface="Calibri" pitchFamily="34" charset="-120"/>
              </a:rPr>
              <a:t>Recommends movies liked by similar users</a:t>
            </a:r>
            <a:endParaRPr lang="en-US" sz="1200" dirty="0"/>
          </a:p>
        </p:txBody>
      </p:sp>
      <p:sp>
        <p:nvSpPr>
          <p:cNvPr id="11" name="Shape 9"/>
          <p:cNvSpPr/>
          <p:nvPr/>
        </p:nvSpPr>
        <p:spPr>
          <a:xfrm>
            <a:off x="3246120" y="1783080"/>
            <a:ext cx="2606040" cy="2651760"/>
          </a:xfrm>
          <a:prstGeom prst="rect">
            <a:avLst/>
          </a:prstGeom>
          <a:solidFill>
            <a:srgbClr val="2C4A5A"/>
          </a:solidFill>
          <a:ln/>
          <a:effectLst>
            <a:outerShdw blurRad="63500" dist="25400" dir="8100000" algn="bl" rotWithShape="0">
              <a:srgbClr val="000000">
                <a:alpha val="10000"/>
              </a:srgbClr>
            </a:outerShdw>
          </a:effectLst>
        </p:spPr>
        <p:txBody>
          <a:bodyPr/>
          <a:lstStyle/>
          <a:p>
            <a:endParaRPr lang="en-IN"/>
          </a:p>
        </p:txBody>
      </p:sp>
      <p:sp>
        <p:nvSpPr>
          <p:cNvPr id="12" name="Text 10"/>
          <p:cNvSpPr/>
          <p:nvPr/>
        </p:nvSpPr>
        <p:spPr>
          <a:xfrm>
            <a:off x="3246120" y="1874520"/>
            <a:ext cx="2606040" cy="685800"/>
          </a:xfrm>
          <a:prstGeom prst="rect">
            <a:avLst/>
          </a:prstGeom>
          <a:noFill/>
          <a:ln/>
        </p:spPr>
        <p:txBody>
          <a:bodyPr wrap="square" lIns="0" tIns="0" rIns="0" bIns="0" rtlCol="0" anchor="t"/>
          <a:lstStyle/>
          <a:p>
            <a:pPr marL="0" indent="0" algn="ctr">
              <a:buNone/>
            </a:pPr>
            <a:r>
              <a:rPr lang="en-US" sz="3600" b="1" dirty="0">
                <a:solidFill>
                  <a:srgbClr val="AACCDA"/>
                </a:solidFill>
                <a:latin typeface="Cambria" pitchFamily="34" charset="0"/>
                <a:ea typeface="Cambria" pitchFamily="34" charset="-122"/>
                <a:cs typeface="Cambria" pitchFamily="34" charset="-120"/>
              </a:rPr>
              <a:t>02</a:t>
            </a:r>
            <a:endParaRPr lang="en-US" sz="3600" dirty="0"/>
          </a:p>
        </p:txBody>
      </p:sp>
      <p:sp>
        <p:nvSpPr>
          <p:cNvPr id="13" name="Text 11"/>
          <p:cNvSpPr/>
          <p:nvPr/>
        </p:nvSpPr>
        <p:spPr>
          <a:xfrm>
            <a:off x="3246120" y="2606040"/>
            <a:ext cx="2606040"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Item-Based CF</a:t>
            </a:r>
            <a:endParaRPr lang="en-US" sz="1600" dirty="0"/>
          </a:p>
        </p:txBody>
      </p:sp>
      <p:sp>
        <p:nvSpPr>
          <p:cNvPr id="14" name="Shape 12"/>
          <p:cNvSpPr/>
          <p:nvPr/>
        </p:nvSpPr>
        <p:spPr>
          <a:xfrm>
            <a:off x="3474720" y="3108960"/>
            <a:ext cx="2148840" cy="18288"/>
          </a:xfrm>
          <a:prstGeom prst="rect">
            <a:avLst/>
          </a:prstGeom>
          <a:solidFill>
            <a:srgbClr val="AACCDA"/>
          </a:solidFill>
          <a:ln/>
        </p:spPr>
        <p:txBody>
          <a:bodyPr/>
          <a:lstStyle/>
          <a:p>
            <a:endParaRPr lang="en-IN"/>
          </a:p>
        </p:txBody>
      </p:sp>
      <p:sp>
        <p:nvSpPr>
          <p:cNvPr id="15" name="Text 13"/>
          <p:cNvSpPr/>
          <p:nvPr/>
        </p:nvSpPr>
        <p:spPr>
          <a:xfrm>
            <a:off x="3246120" y="3200400"/>
            <a:ext cx="2606040" cy="1005840"/>
          </a:xfrm>
          <a:prstGeom prst="rect">
            <a:avLst/>
          </a:prstGeom>
          <a:noFill/>
          <a:ln/>
        </p:spPr>
        <p:txBody>
          <a:bodyPr wrap="square" lIns="50800" tIns="50800" rIns="50800" bIns="50800" rtlCol="0" anchor="t"/>
          <a:lstStyle/>
          <a:p>
            <a:pPr marL="0" indent="0" algn="ctr">
              <a:buNone/>
            </a:pPr>
            <a:r>
              <a:rPr lang="en-US" sz="1200" dirty="0">
                <a:solidFill>
                  <a:srgbClr val="EAF4F8"/>
                </a:solidFill>
                <a:latin typeface="Calibri" pitchFamily="34" charset="0"/>
                <a:ea typeface="Calibri" pitchFamily="34" charset="-122"/>
                <a:cs typeface="Calibri" pitchFamily="34" charset="-120"/>
              </a:rPr>
              <a:t>Recommends items similar to what user watched</a:t>
            </a:r>
            <a:endParaRPr lang="en-US" sz="1200" dirty="0"/>
          </a:p>
        </p:txBody>
      </p:sp>
      <p:sp>
        <p:nvSpPr>
          <p:cNvPr id="16" name="Shape 14"/>
          <p:cNvSpPr/>
          <p:nvPr/>
        </p:nvSpPr>
        <p:spPr>
          <a:xfrm>
            <a:off x="6080760" y="1783080"/>
            <a:ext cx="2606040" cy="2651760"/>
          </a:xfrm>
          <a:prstGeom prst="rect">
            <a:avLst/>
          </a:prstGeom>
          <a:solidFill>
            <a:srgbClr val="2A5E6A"/>
          </a:solidFill>
          <a:ln/>
          <a:effectLst>
            <a:outerShdw blurRad="63500" dist="25400" dir="8100000" algn="bl" rotWithShape="0">
              <a:srgbClr val="000000">
                <a:alpha val="10000"/>
              </a:srgbClr>
            </a:outerShdw>
          </a:effectLst>
        </p:spPr>
        <p:txBody>
          <a:bodyPr/>
          <a:lstStyle/>
          <a:p>
            <a:endParaRPr lang="en-IN"/>
          </a:p>
        </p:txBody>
      </p:sp>
      <p:sp>
        <p:nvSpPr>
          <p:cNvPr id="17" name="Text 15"/>
          <p:cNvSpPr/>
          <p:nvPr/>
        </p:nvSpPr>
        <p:spPr>
          <a:xfrm>
            <a:off x="6080760" y="1874520"/>
            <a:ext cx="2606040" cy="685800"/>
          </a:xfrm>
          <a:prstGeom prst="rect">
            <a:avLst/>
          </a:prstGeom>
          <a:noFill/>
          <a:ln/>
        </p:spPr>
        <p:txBody>
          <a:bodyPr wrap="square" lIns="0" tIns="0" rIns="0" bIns="0" rtlCol="0" anchor="t"/>
          <a:lstStyle/>
          <a:p>
            <a:pPr marL="0" indent="0" algn="ctr">
              <a:buNone/>
            </a:pPr>
            <a:r>
              <a:rPr lang="en-US" sz="3600" b="1" dirty="0">
                <a:solidFill>
                  <a:srgbClr val="AACCDA"/>
                </a:solidFill>
                <a:latin typeface="Cambria" pitchFamily="34" charset="0"/>
                <a:ea typeface="Cambria" pitchFamily="34" charset="-122"/>
                <a:cs typeface="Cambria" pitchFamily="34" charset="-120"/>
              </a:rPr>
              <a:t>03</a:t>
            </a:r>
            <a:endParaRPr lang="en-US" sz="3600" dirty="0"/>
          </a:p>
        </p:txBody>
      </p:sp>
      <p:sp>
        <p:nvSpPr>
          <p:cNvPr id="18" name="Text 16"/>
          <p:cNvSpPr/>
          <p:nvPr/>
        </p:nvSpPr>
        <p:spPr>
          <a:xfrm>
            <a:off x="6080760" y="2606040"/>
            <a:ext cx="2606040"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Matrix Factorization</a:t>
            </a:r>
            <a:endParaRPr lang="en-US" sz="1600" dirty="0"/>
          </a:p>
        </p:txBody>
      </p:sp>
      <p:sp>
        <p:nvSpPr>
          <p:cNvPr id="19" name="Shape 17"/>
          <p:cNvSpPr/>
          <p:nvPr/>
        </p:nvSpPr>
        <p:spPr>
          <a:xfrm>
            <a:off x="6309360" y="3108960"/>
            <a:ext cx="2148840" cy="18288"/>
          </a:xfrm>
          <a:prstGeom prst="rect">
            <a:avLst/>
          </a:prstGeom>
          <a:solidFill>
            <a:srgbClr val="AACCDA"/>
          </a:solidFill>
          <a:ln/>
        </p:spPr>
        <p:txBody>
          <a:bodyPr/>
          <a:lstStyle/>
          <a:p>
            <a:endParaRPr lang="en-IN"/>
          </a:p>
        </p:txBody>
      </p:sp>
      <p:sp>
        <p:nvSpPr>
          <p:cNvPr id="20" name="Text 18"/>
          <p:cNvSpPr/>
          <p:nvPr/>
        </p:nvSpPr>
        <p:spPr>
          <a:xfrm>
            <a:off x="6080760" y="3200400"/>
            <a:ext cx="2606040" cy="1005840"/>
          </a:xfrm>
          <a:prstGeom prst="rect">
            <a:avLst/>
          </a:prstGeom>
          <a:noFill/>
          <a:ln/>
        </p:spPr>
        <p:txBody>
          <a:bodyPr wrap="square" lIns="50800" tIns="50800" rIns="50800" bIns="50800" rtlCol="0" anchor="t"/>
          <a:lstStyle/>
          <a:p>
            <a:pPr marL="0" indent="0" algn="ctr">
              <a:buNone/>
            </a:pPr>
            <a:r>
              <a:rPr lang="en-US" sz="1200" dirty="0">
                <a:solidFill>
                  <a:srgbClr val="EAF4F8"/>
                </a:solidFill>
                <a:latin typeface="Calibri" pitchFamily="34" charset="0"/>
                <a:ea typeface="Calibri" pitchFamily="34" charset="-122"/>
                <a:cs typeface="Calibri" pitchFamily="34" charset="-120"/>
              </a:rPr>
              <a:t>Decomposes user-item matrix into latent factors</a:t>
            </a:r>
            <a:endParaRPr lang="en-US" sz="1200" dirty="0"/>
          </a:p>
        </p:txBody>
      </p:sp>
      <p:sp>
        <p:nvSpPr>
          <p:cNvPr id="21" name="Text 19"/>
          <p:cNvSpPr/>
          <p:nvPr/>
        </p:nvSpPr>
        <p:spPr>
          <a:xfrm>
            <a:off x="411480" y="4572000"/>
            <a:ext cx="8321040" cy="347472"/>
          </a:xfrm>
          <a:prstGeom prst="rect">
            <a:avLst/>
          </a:prstGeom>
          <a:noFill/>
          <a:ln/>
        </p:spPr>
        <p:txBody>
          <a:bodyPr wrap="square" lIns="0" tIns="0" rIns="0" bIns="0" rtlCol="0" anchor="ctr"/>
          <a:lstStyle/>
          <a:p>
            <a:pPr marL="0" indent="0" algn="ctr">
              <a:buNone/>
            </a:pPr>
            <a:r>
              <a:rPr lang="en-US" sz="1150" i="1" dirty="0">
                <a:solidFill>
                  <a:srgbClr val="607A8D"/>
                </a:solidFill>
                <a:latin typeface="Calibri" pitchFamily="34" charset="0"/>
                <a:ea typeface="Calibri" pitchFamily="34" charset="-122"/>
                <a:cs typeface="Calibri" pitchFamily="34" charset="-120"/>
              </a:rPr>
              <a:t>Goal: Compare three algorithms under identical experimental conditions (same dataset, split, K, metrics)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D3D"/>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2A8C82"/>
          </a:solidFill>
          <a:ln/>
        </p:spPr>
        <p:txBody>
          <a:bodyPr/>
          <a:lstStyle/>
          <a:p>
            <a:endParaRPr lang="en-IN"/>
          </a:p>
        </p:txBody>
      </p:sp>
      <p:sp>
        <p:nvSpPr>
          <p:cNvPr id="3" name="Text 1"/>
          <p:cNvSpPr/>
          <p:nvPr/>
        </p:nvSpPr>
        <p:spPr>
          <a:xfrm>
            <a:off x="457200" y="228600"/>
            <a:ext cx="8503920" cy="640080"/>
          </a:xfrm>
          <a:prstGeom prst="rect">
            <a:avLst/>
          </a:prstGeom>
          <a:noFill/>
          <a:ln/>
        </p:spPr>
        <p:txBody>
          <a:bodyPr wrap="square" lIns="0" tIns="0" rIns="0" bIns="0"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Dataset: MovieLens 100K</a:t>
            </a:r>
            <a:endParaRPr lang="en-US" sz="2800" dirty="0"/>
          </a:p>
        </p:txBody>
      </p:sp>
      <p:sp>
        <p:nvSpPr>
          <p:cNvPr id="4" name="Shape 2"/>
          <p:cNvSpPr/>
          <p:nvPr/>
        </p:nvSpPr>
        <p:spPr>
          <a:xfrm>
            <a:off x="457200" y="914400"/>
            <a:ext cx="8229600" cy="18288"/>
          </a:xfrm>
          <a:prstGeom prst="rect">
            <a:avLst/>
          </a:prstGeom>
          <a:solidFill>
            <a:srgbClr val="2A8C82"/>
          </a:solidFill>
          <a:ln/>
        </p:spPr>
        <p:txBody>
          <a:bodyPr/>
          <a:lstStyle/>
          <a:p>
            <a:endParaRPr lang="en-IN"/>
          </a:p>
        </p:txBody>
      </p:sp>
      <p:sp>
        <p:nvSpPr>
          <p:cNvPr id="5" name="Shape 3"/>
          <p:cNvSpPr/>
          <p:nvPr/>
        </p:nvSpPr>
        <p:spPr>
          <a:xfrm>
            <a:off x="411480" y="1097280"/>
            <a:ext cx="2697480" cy="1463040"/>
          </a:xfrm>
          <a:prstGeom prst="rect">
            <a:avLst/>
          </a:prstGeom>
          <a:solidFill>
            <a:srgbClr val="2C4A5A"/>
          </a:solidFill>
          <a:ln w="8890">
            <a:solidFill>
              <a:srgbClr val="2A8C82"/>
            </a:solidFill>
            <a:prstDash val="solid"/>
          </a:ln>
          <a:effectLst>
            <a:outerShdw blurRad="63500" dist="25400" dir="8100000" algn="bl" rotWithShape="0">
              <a:srgbClr val="000000">
                <a:alpha val="10000"/>
              </a:srgbClr>
            </a:outerShdw>
          </a:effectLst>
        </p:spPr>
        <p:txBody>
          <a:bodyPr/>
          <a:lstStyle/>
          <a:p>
            <a:endParaRPr lang="en-IN"/>
          </a:p>
        </p:txBody>
      </p:sp>
      <p:sp>
        <p:nvSpPr>
          <p:cNvPr id="6" name="Text 4"/>
          <p:cNvSpPr/>
          <p:nvPr/>
        </p:nvSpPr>
        <p:spPr>
          <a:xfrm>
            <a:off x="411480" y="1261872"/>
            <a:ext cx="2697480" cy="685800"/>
          </a:xfrm>
          <a:prstGeom prst="rect">
            <a:avLst/>
          </a:prstGeom>
          <a:noFill/>
          <a:ln/>
        </p:spPr>
        <p:txBody>
          <a:bodyPr wrap="square" lIns="0" tIns="0" rIns="0" bIns="0" rtlCol="0" anchor="ctr"/>
          <a:lstStyle/>
          <a:p>
            <a:pPr marL="0" indent="0" algn="ctr">
              <a:buNone/>
            </a:pPr>
            <a:r>
              <a:rPr lang="en-US" sz="2400" b="1" dirty="0">
                <a:solidFill>
                  <a:srgbClr val="4BB8AE"/>
                </a:solidFill>
                <a:latin typeface="Cambria" pitchFamily="34" charset="0"/>
                <a:ea typeface="Cambria" pitchFamily="34" charset="-122"/>
                <a:cs typeface="Cambria" pitchFamily="34" charset="-120"/>
              </a:rPr>
              <a:t>~100,000</a:t>
            </a:r>
            <a:endParaRPr lang="en-US" sz="2400" dirty="0"/>
          </a:p>
        </p:txBody>
      </p:sp>
      <p:sp>
        <p:nvSpPr>
          <p:cNvPr id="7" name="Text 5"/>
          <p:cNvSpPr/>
          <p:nvPr/>
        </p:nvSpPr>
        <p:spPr>
          <a:xfrm>
            <a:off x="411480" y="1965960"/>
            <a:ext cx="2697480" cy="411480"/>
          </a:xfrm>
          <a:prstGeom prst="rect">
            <a:avLst/>
          </a:prstGeom>
          <a:noFill/>
          <a:ln/>
        </p:spPr>
        <p:txBody>
          <a:bodyPr wrap="square" lIns="0" tIns="0" rIns="0" bIns="0" rtlCol="0" anchor="t"/>
          <a:lstStyle/>
          <a:p>
            <a:pPr marL="0" indent="0" algn="ctr">
              <a:buNone/>
            </a:pPr>
            <a:r>
              <a:rPr lang="en-US" sz="1200" dirty="0">
                <a:solidFill>
                  <a:srgbClr val="AAC8D4"/>
                </a:solidFill>
                <a:latin typeface="Calibri" pitchFamily="34" charset="0"/>
                <a:ea typeface="Calibri" pitchFamily="34" charset="-122"/>
                <a:cs typeface="Calibri" pitchFamily="34" charset="-120"/>
              </a:rPr>
              <a:t>Total Ratings</a:t>
            </a:r>
            <a:endParaRPr lang="en-US" sz="1200" dirty="0"/>
          </a:p>
        </p:txBody>
      </p:sp>
      <p:sp>
        <p:nvSpPr>
          <p:cNvPr id="8" name="Shape 6"/>
          <p:cNvSpPr/>
          <p:nvPr/>
        </p:nvSpPr>
        <p:spPr>
          <a:xfrm>
            <a:off x="3337560" y="1097280"/>
            <a:ext cx="2697480" cy="1463040"/>
          </a:xfrm>
          <a:prstGeom prst="rect">
            <a:avLst/>
          </a:prstGeom>
          <a:solidFill>
            <a:srgbClr val="2C4A5A"/>
          </a:solidFill>
          <a:ln w="8890">
            <a:solidFill>
              <a:srgbClr val="2A8C82"/>
            </a:solidFill>
            <a:prstDash val="solid"/>
          </a:ln>
          <a:effectLst>
            <a:outerShdw blurRad="63500" dist="25400" dir="8100000" algn="bl" rotWithShape="0">
              <a:srgbClr val="000000">
                <a:alpha val="10000"/>
              </a:srgbClr>
            </a:outerShdw>
          </a:effectLst>
        </p:spPr>
        <p:txBody>
          <a:bodyPr/>
          <a:lstStyle/>
          <a:p>
            <a:endParaRPr lang="en-IN"/>
          </a:p>
        </p:txBody>
      </p:sp>
      <p:sp>
        <p:nvSpPr>
          <p:cNvPr id="9" name="Text 7"/>
          <p:cNvSpPr/>
          <p:nvPr/>
        </p:nvSpPr>
        <p:spPr>
          <a:xfrm>
            <a:off x="3337560" y="1261872"/>
            <a:ext cx="2697480" cy="685800"/>
          </a:xfrm>
          <a:prstGeom prst="rect">
            <a:avLst/>
          </a:prstGeom>
          <a:noFill/>
          <a:ln/>
        </p:spPr>
        <p:txBody>
          <a:bodyPr wrap="square" lIns="0" tIns="0" rIns="0" bIns="0" rtlCol="0" anchor="ctr"/>
          <a:lstStyle/>
          <a:p>
            <a:pPr marL="0" indent="0" algn="ctr">
              <a:buNone/>
            </a:pPr>
            <a:r>
              <a:rPr lang="en-US" sz="2400" b="1" dirty="0">
                <a:solidFill>
                  <a:srgbClr val="4BB8AE"/>
                </a:solidFill>
                <a:latin typeface="Cambria" pitchFamily="34" charset="0"/>
                <a:ea typeface="Cambria" pitchFamily="34" charset="-122"/>
                <a:cs typeface="Cambria" pitchFamily="34" charset="-120"/>
              </a:rPr>
              <a:t>~610</a:t>
            </a:r>
            <a:endParaRPr lang="en-US" sz="2400" dirty="0"/>
          </a:p>
        </p:txBody>
      </p:sp>
      <p:sp>
        <p:nvSpPr>
          <p:cNvPr id="10" name="Text 8"/>
          <p:cNvSpPr/>
          <p:nvPr/>
        </p:nvSpPr>
        <p:spPr>
          <a:xfrm>
            <a:off x="3337560" y="1965960"/>
            <a:ext cx="2697480" cy="411480"/>
          </a:xfrm>
          <a:prstGeom prst="rect">
            <a:avLst/>
          </a:prstGeom>
          <a:noFill/>
          <a:ln/>
        </p:spPr>
        <p:txBody>
          <a:bodyPr wrap="square" lIns="0" tIns="0" rIns="0" bIns="0" rtlCol="0" anchor="t"/>
          <a:lstStyle/>
          <a:p>
            <a:pPr marL="0" indent="0" algn="ctr">
              <a:buNone/>
            </a:pPr>
            <a:r>
              <a:rPr lang="en-US" sz="1200" dirty="0">
                <a:solidFill>
                  <a:srgbClr val="AAC8D4"/>
                </a:solidFill>
                <a:latin typeface="Calibri" pitchFamily="34" charset="0"/>
                <a:ea typeface="Calibri" pitchFamily="34" charset="-122"/>
                <a:cs typeface="Calibri" pitchFamily="34" charset="-120"/>
              </a:rPr>
              <a:t>Unique Users</a:t>
            </a:r>
            <a:endParaRPr lang="en-US" sz="1200" dirty="0"/>
          </a:p>
        </p:txBody>
      </p:sp>
      <p:sp>
        <p:nvSpPr>
          <p:cNvPr id="11" name="Shape 9"/>
          <p:cNvSpPr/>
          <p:nvPr/>
        </p:nvSpPr>
        <p:spPr>
          <a:xfrm>
            <a:off x="6263640" y="1097280"/>
            <a:ext cx="2697480" cy="1463040"/>
          </a:xfrm>
          <a:prstGeom prst="rect">
            <a:avLst/>
          </a:prstGeom>
          <a:solidFill>
            <a:srgbClr val="2C4A5A"/>
          </a:solidFill>
          <a:ln w="8890">
            <a:solidFill>
              <a:srgbClr val="2A8C82"/>
            </a:solidFill>
            <a:prstDash val="solid"/>
          </a:ln>
          <a:effectLst>
            <a:outerShdw blurRad="63500" dist="25400" dir="8100000" algn="bl" rotWithShape="0">
              <a:srgbClr val="000000">
                <a:alpha val="10000"/>
              </a:srgbClr>
            </a:outerShdw>
          </a:effectLst>
        </p:spPr>
        <p:txBody>
          <a:bodyPr/>
          <a:lstStyle/>
          <a:p>
            <a:endParaRPr lang="en-IN"/>
          </a:p>
        </p:txBody>
      </p:sp>
      <p:sp>
        <p:nvSpPr>
          <p:cNvPr id="12" name="Text 10"/>
          <p:cNvSpPr/>
          <p:nvPr/>
        </p:nvSpPr>
        <p:spPr>
          <a:xfrm>
            <a:off x="6263640" y="1261872"/>
            <a:ext cx="2697480" cy="685800"/>
          </a:xfrm>
          <a:prstGeom prst="rect">
            <a:avLst/>
          </a:prstGeom>
          <a:noFill/>
          <a:ln/>
        </p:spPr>
        <p:txBody>
          <a:bodyPr wrap="square" lIns="0" tIns="0" rIns="0" bIns="0" rtlCol="0" anchor="ctr"/>
          <a:lstStyle/>
          <a:p>
            <a:pPr marL="0" indent="0" algn="ctr">
              <a:buNone/>
            </a:pPr>
            <a:r>
              <a:rPr lang="en-US" sz="2400" b="1" dirty="0">
                <a:solidFill>
                  <a:srgbClr val="4BB8AE"/>
                </a:solidFill>
                <a:latin typeface="Cambria" pitchFamily="34" charset="0"/>
                <a:ea typeface="Cambria" pitchFamily="34" charset="-122"/>
                <a:cs typeface="Cambria" pitchFamily="34" charset="-120"/>
              </a:rPr>
              <a:t>~9,742</a:t>
            </a:r>
            <a:endParaRPr lang="en-US" sz="2400" dirty="0"/>
          </a:p>
        </p:txBody>
      </p:sp>
      <p:sp>
        <p:nvSpPr>
          <p:cNvPr id="13" name="Text 11"/>
          <p:cNvSpPr/>
          <p:nvPr/>
        </p:nvSpPr>
        <p:spPr>
          <a:xfrm>
            <a:off x="6263640" y="1965960"/>
            <a:ext cx="2697480" cy="411480"/>
          </a:xfrm>
          <a:prstGeom prst="rect">
            <a:avLst/>
          </a:prstGeom>
          <a:noFill/>
          <a:ln/>
        </p:spPr>
        <p:txBody>
          <a:bodyPr wrap="square" lIns="0" tIns="0" rIns="0" bIns="0" rtlCol="0" anchor="t"/>
          <a:lstStyle/>
          <a:p>
            <a:pPr marL="0" indent="0" algn="ctr">
              <a:buNone/>
            </a:pPr>
            <a:r>
              <a:rPr lang="en-US" sz="1200" dirty="0">
                <a:solidFill>
                  <a:srgbClr val="AAC8D4"/>
                </a:solidFill>
                <a:latin typeface="Calibri" pitchFamily="34" charset="0"/>
                <a:ea typeface="Calibri" pitchFamily="34" charset="-122"/>
                <a:cs typeface="Calibri" pitchFamily="34" charset="-120"/>
              </a:rPr>
              <a:t>Movies</a:t>
            </a:r>
            <a:endParaRPr lang="en-US" sz="1200" dirty="0"/>
          </a:p>
        </p:txBody>
      </p:sp>
      <p:sp>
        <p:nvSpPr>
          <p:cNvPr id="14" name="Shape 12"/>
          <p:cNvSpPr/>
          <p:nvPr/>
        </p:nvSpPr>
        <p:spPr>
          <a:xfrm>
            <a:off x="411480" y="2788920"/>
            <a:ext cx="2697480" cy="1463040"/>
          </a:xfrm>
          <a:prstGeom prst="rect">
            <a:avLst/>
          </a:prstGeom>
          <a:solidFill>
            <a:srgbClr val="2C4A5A"/>
          </a:solidFill>
          <a:ln w="8890">
            <a:solidFill>
              <a:srgbClr val="2A8C82"/>
            </a:solidFill>
            <a:prstDash val="solid"/>
          </a:ln>
          <a:effectLst>
            <a:outerShdw blurRad="63500" dist="25400" dir="8100000" algn="bl" rotWithShape="0">
              <a:srgbClr val="000000">
                <a:alpha val="10000"/>
              </a:srgbClr>
            </a:outerShdw>
          </a:effectLst>
        </p:spPr>
        <p:txBody>
          <a:bodyPr/>
          <a:lstStyle/>
          <a:p>
            <a:endParaRPr lang="en-IN"/>
          </a:p>
        </p:txBody>
      </p:sp>
      <p:sp>
        <p:nvSpPr>
          <p:cNvPr id="15" name="Text 13"/>
          <p:cNvSpPr/>
          <p:nvPr/>
        </p:nvSpPr>
        <p:spPr>
          <a:xfrm>
            <a:off x="411480" y="2953512"/>
            <a:ext cx="2697480" cy="685800"/>
          </a:xfrm>
          <a:prstGeom prst="rect">
            <a:avLst/>
          </a:prstGeom>
          <a:noFill/>
          <a:ln/>
        </p:spPr>
        <p:txBody>
          <a:bodyPr wrap="square" lIns="0" tIns="0" rIns="0" bIns="0" rtlCol="0" anchor="ctr"/>
          <a:lstStyle/>
          <a:p>
            <a:pPr marL="0" indent="0" algn="ctr">
              <a:buNone/>
            </a:pPr>
            <a:r>
              <a:rPr lang="en-US" sz="2400" b="1" dirty="0">
                <a:solidFill>
                  <a:srgbClr val="4BB8AE"/>
                </a:solidFill>
                <a:latin typeface="Cambria" pitchFamily="34" charset="0"/>
                <a:ea typeface="Cambria" pitchFamily="34" charset="-122"/>
                <a:cs typeface="Cambria" pitchFamily="34" charset="-120"/>
              </a:rPr>
              <a:t>0.5 – 5.0</a:t>
            </a:r>
            <a:endParaRPr lang="en-US" sz="2400" dirty="0"/>
          </a:p>
        </p:txBody>
      </p:sp>
      <p:sp>
        <p:nvSpPr>
          <p:cNvPr id="16" name="Text 14"/>
          <p:cNvSpPr/>
          <p:nvPr/>
        </p:nvSpPr>
        <p:spPr>
          <a:xfrm>
            <a:off x="411480" y="3657600"/>
            <a:ext cx="2697480" cy="411480"/>
          </a:xfrm>
          <a:prstGeom prst="rect">
            <a:avLst/>
          </a:prstGeom>
          <a:noFill/>
          <a:ln/>
        </p:spPr>
        <p:txBody>
          <a:bodyPr wrap="square" lIns="0" tIns="0" rIns="0" bIns="0" rtlCol="0" anchor="t"/>
          <a:lstStyle/>
          <a:p>
            <a:pPr marL="0" indent="0" algn="ctr">
              <a:buNone/>
            </a:pPr>
            <a:r>
              <a:rPr lang="en-US" sz="1200" dirty="0">
                <a:solidFill>
                  <a:srgbClr val="AAC8D4"/>
                </a:solidFill>
                <a:latin typeface="Calibri" pitchFamily="34" charset="0"/>
                <a:ea typeface="Calibri" pitchFamily="34" charset="-122"/>
                <a:cs typeface="Calibri" pitchFamily="34" charset="-120"/>
              </a:rPr>
              <a:t>Rating Scale</a:t>
            </a:r>
            <a:endParaRPr lang="en-US" sz="1200" dirty="0"/>
          </a:p>
        </p:txBody>
      </p:sp>
      <p:sp>
        <p:nvSpPr>
          <p:cNvPr id="17" name="Shape 15"/>
          <p:cNvSpPr/>
          <p:nvPr/>
        </p:nvSpPr>
        <p:spPr>
          <a:xfrm>
            <a:off x="3337560" y="2788920"/>
            <a:ext cx="2697480" cy="1463040"/>
          </a:xfrm>
          <a:prstGeom prst="rect">
            <a:avLst/>
          </a:prstGeom>
          <a:solidFill>
            <a:srgbClr val="2C4A5A"/>
          </a:solidFill>
          <a:ln w="8890">
            <a:solidFill>
              <a:srgbClr val="2A8C82"/>
            </a:solidFill>
            <a:prstDash val="solid"/>
          </a:ln>
          <a:effectLst>
            <a:outerShdw blurRad="63500" dist="25400" dir="8100000" algn="bl" rotWithShape="0">
              <a:srgbClr val="000000">
                <a:alpha val="10000"/>
              </a:srgbClr>
            </a:outerShdw>
          </a:effectLst>
        </p:spPr>
        <p:txBody>
          <a:bodyPr/>
          <a:lstStyle/>
          <a:p>
            <a:endParaRPr lang="en-IN"/>
          </a:p>
        </p:txBody>
      </p:sp>
      <p:sp>
        <p:nvSpPr>
          <p:cNvPr id="18" name="Text 16"/>
          <p:cNvSpPr/>
          <p:nvPr/>
        </p:nvSpPr>
        <p:spPr>
          <a:xfrm>
            <a:off x="3337560" y="2953512"/>
            <a:ext cx="2697480" cy="685800"/>
          </a:xfrm>
          <a:prstGeom prst="rect">
            <a:avLst/>
          </a:prstGeom>
          <a:noFill/>
          <a:ln/>
        </p:spPr>
        <p:txBody>
          <a:bodyPr wrap="square" lIns="0" tIns="0" rIns="0" bIns="0" rtlCol="0" anchor="ctr"/>
          <a:lstStyle/>
          <a:p>
            <a:pPr marL="0" indent="0" algn="ctr">
              <a:buNone/>
            </a:pPr>
            <a:r>
              <a:rPr lang="en-US" sz="2400" b="1" dirty="0">
                <a:solidFill>
                  <a:srgbClr val="4BB8AE"/>
                </a:solidFill>
                <a:latin typeface="Cambria" pitchFamily="34" charset="0"/>
                <a:ea typeface="Cambria" pitchFamily="34" charset="-122"/>
                <a:cs typeface="Cambria" pitchFamily="34" charset="-120"/>
              </a:rPr>
              <a:t>90% / 10%</a:t>
            </a:r>
            <a:endParaRPr lang="en-US" sz="2400" dirty="0"/>
          </a:p>
        </p:txBody>
      </p:sp>
      <p:sp>
        <p:nvSpPr>
          <p:cNvPr id="19" name="Text 17"/>
          <p:cNvSpPr/>
          <p:nvPr/>
        </p:nvSpPr>
        <p:spPr>
          <a:xfrm>
            <a:off x="3337560" y="3657600"/>
            <a:ext cx="2697480" cy="411480"/>
          </a:xfrm>
          <a:prstGeom prst="rect">
            <a:avLst/>
          </a:prstGeom>
          <a:noFill/>
          <a:ln/>
        </p:spPr>
        <p:txBody>
          <a:bodyPr wrap="square" lIns="0" tIns="0" rIns="0" bIns="0" rtlCol="0" anchor="t"/>
          <a:lstStyle/>
          <a:p>
            <a:pPr marL="0" indent="0" algn="ctr">
              <a:buNone/>
            </a:pPr>
            <a:r>
              <a:rPr lang="en-US" sz="1200" dirty="0">
                <a:solidFill>
                  <a:srgbClr val="AAC8D4"/>
                </a:solidFill>
                <a:latin typeface="Calibri" pitchFamily="34" charset="0"/>
                <a:ea typeface="Calibri" pitchFamily="34" charset="-122"/>
                <a:cs typeface="Calibri" pitchFamily="34" charset="-120"/>
              </a:rPr>
              <a:t>Train / Test Split</a:t>
            </a:r>
            <a:endParaRPr lang="en-US" sz="1200" dirty="0"/>
          </a:p>
        </p:txBody>
      </p:sp>
      <p:sp>
        <p:nvSpPr>
          <p:cNvPr id="21" name="Text 19"/>
          <p:cNvSpPr/>
          <p:nvPr/>
        </p:nvSpPr>
        <p:spPr>
          <a:xfrm>
            <a:off x="6263640" y="2953512"/>
            <a:ext cx="2697480" cy="685800"/>
          </a:xfrm>
          <a:prstGeom prst="rect">
            <a:avLst/>
          </a:prstGeom>
          <a:noFill/>
          <a:ln/>
        </p:spPr>
        <p:txBody>
          <a:bodyPr wrap="square" lIns="0" tIns="0" rIns="0" bIns="0" rtlCol="0" anchor="ctr"/>
          <a:lstStyle/>
          <a:p>
            <a:pPr marL="0" indent="0" algn="ctr">
              <a:buNone/>
            </a:pPr>
            <a:endParaRPr lang="en-US" sz="2400" dirty="0"/>
          </a:p>
        </p:txBody>
      </p:sp>
      <p:sp>
        <p:nvSpPr>
          <p:cNvPr id="22" name="Text 20"/>
          <p:cNvSpPr/>
          <p:nvPr/>
        </p:nvSpPr>
        <p:spPr>
          <a:xfrm>
            <a:off x="6263640" y="3657600"/>
            <a:ext cx="2697480" cy="411480"/>
          </a:xfrm>
          <a:prstGeom prst="rect">
            <a:avLst/>
          </a:prstGeom>
          <a:noFill/>
          <a:ln/>
        </p:spPr>
        <p:txBody>
          <a:bodyPr wrap="square" lIns="0" tIns="0" rIns="0" bIns="0" rtlCol="0" anchor="t"/>
          <a:lstStyle/>
          <a:p>
            <a:pPr marL="0" indent="0" algn="ctr">
              <a:buNone/>
            </a:pPr>
            <a:endParaRPr lang="en-US" sz="1200" dirty="0"/>
          </a:p>
        </p:txBody>
      </p:sp>
      <p:sp>
        <p:nvSpPr>
          <p:cNvPr id="23" name="Text 21"/>
          <p:cNvSpPr/>
          <p:nvPr/>
        </p:nvSpPr>
        <p:spPr>
          <a:xfrm>
            <a:off x="411480" y="4416552"/>
            <a:ext cx="8321040" cy="475488"/>
          </a:xfrm>
          <a:prstGeom prst="rect">
            <a:avLst/>
          </a:prstGeom>
          <a:noFill/>
          <a:ln/>
        </p:spPr>
        <p:txBody>
          <a:bodyPr wrap="square" lIns="0" tIns="0" rIns="0" bIns="0" rtlCol="0" anchor="ctr"/>
          <a:lstStyle/>
          <a:p>
            <a:pPr marL="0" indent="0" algn="ctr">
              <a:buNone/>
            </a:pPr>
            <a:r>
              <a:rPr lang="en-US" sz="1400" i="1" dirty="0">
                <a:solidFill>
                  <a:srgbClr val="607A8D"/>
                </a:solidFill>
                <a:latin typeface="Calibri" pitchFamily="34" charset="0"/>
                <a:ea typeface="Calibri" pitchFamily="34" charset="-122"/>
                <a:cs typeface="Calibri" pitchFamily="34" charset="-120"/>
              </a:rPr>
              <a:t>Files used: ratings.csv (userId, movieId, rating, timestamp)  ·  movies.csv (movieId, title, genres)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9"/>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A8C82"/>
          </a:solidFill>
          <a:ln/>
        </p:spPr>
        <p:txBody>
          <a:bodyPr/>
          <a:lstStyle/>
          <a:p>
            <a:endParaRPr lang="en-IN"/>
          </a:p>
        </p:txBody>
      </p:sp>
      <p:sp>
        <p:nvSpPr>
          <p:cNvPr id="3" name="Text 1"/>
          <p:cNvSpPr/>
          <p:nvPr/>
        </p:nvSpPr>
        <p:spPr>
          <a:xfrm>
            <a:off x="411480" y="201168"/>
            <a:ext cx="8503920" cy="594360"/>
          </a:xfrm>
          <a:prstGeom prst="rect">
            <a:avLst/>
          </a:prstGeom>
          <a:noFill/>
          <a:ln/>
        </p:spPr>
        <p:txBody>
          <a:bodyPr wrap="square" lIns="0" tIns="0" rIns="0" bIns="0" rtlCol="0" anchor="ctr"/>
          <a:lstStyle/>
          <a:p>
            <a:pPr marL="0" indent="0" algn="l">
              <a:buNone/>
            </a:pPr>
            <a:r>
              <a:rPr lang="en-US" sz="2600" b="1" dirty="0">
                <a:solidFill>
                  <a:srgbClr val="1E2D3D"/>
                </a:solidFill>
                <a:latin typeface="Cambria" pitchFamily="34" charset="0"/>
                <a:ea typeface="Cambria" pitchFamily="34" charset="-122"/>
                <a:cs typeface="Cambria" pitchFamily="34" charset="-120"/>
              </a:rPr>
              <a:t>System Architecture &amp; Code Structure</a:t>
            </a:r>
            <a:endParaRPr lang="en-US" sz="2600" dirty="0"/>
          </a:p>
        </p:txBody>
      </p:sp>
      <p:sp>
        <p:nvSpPr>
          <p:cNvPr id="4" name="Shape 2"/>
          <p:cNvSpPr/>
          <p:nvPr/>
        </p:nvSpPr>
        <p:spPr>
          <a:xfrm>
            <a:off x="411480" y="868680"/>
            <a:ext cx="8321040" cy="22860"/>
          </a:xfrm>
          <a:prstGeom prst="rect">
            <a:avLst/>
          </a:prstGeom>
          <a:solidFill>
            <a:srgbClr val="4BB8AE"/>
          </a:solidFill>
          <a:ln/>
        </p:spPr>
        <p:txBody>
          <a:bodyPr/>
          <a:lstStyle/>
          <a:p>
            <a:endParaRPr lang="en-IN"/>
          </a:p>
        </p:txBody>
      </p:sp>
      <p:sp>
        <p:nvSpPr>
          <p:cNvPr id="5" name="Shape 3"/>
          <p:cNvSpPr/>
          <p:nvPr/>
        </p:nvSpPr>
        <p:spPr>
          <a:xfrm>
            <a:off x="411480" y="1005840"/>
            <a:ext cx="3931920" cy="3840480"/>
          </a:xfrm>
          <a:prstGeom prst="rect">
            <a:avLst/>
          </a:prstGeom>
          <a:solidFill>
            <a:srgbClr val="FFFFFF"/>
          </a:solidFill>
          <a:ln w="8890">
            <a:solidFill>
              <a:srgbClr val="D4E0EA"/>
            </a:solidFill>
            <a:prstDash val="solid"/>
          </a:ln>
          <a:effectLst>
            <a:outerShdw blurRad="63500" dist="25400" dir="8100000" algn="bl" rotWithShape="0">
              <a:srgbClr val="000000">
                <a:alpha val="10000"/>
              </a:srgbClr>
            </a:outerShdw>
          </a:effectLst>
        </p:spPr>
        <p:txBody>
          <a:bodyPr/>
          <a:lstStyle/>
          <a:p>
            <a:endParaRPr lang="en-IN"/>
          </a:p>
        </p:txBody>
      </p:sp>
      <p:sp>
        <p:nvSpPr>
          <p:cNvPr id="6" name="Text 4"/>
          <p:cNvSpPr/>
          <p:nvPr/>
        </p:nvSpPr>
        <p:spPr>
          <a:xfrm>
            <a:off x="502920" y="1051560"/>
            <a:ext cx="3749040" cy="365760"/>
          </a:xfrm>
          <a:prstGeom prst="rect">
            <a:avLst/>
          </a:prstGeom>
          <a:noFill/>
          <a:ln/>
        </p:spPr>
        <p:txBody>
          <a:bodyPr wrap="square" lIns="25400" tIns="25400" rIns="25400" bIns="25400" rtlCol="0" anchor="ctr"/>
          <a:lstStyle/>
          <a:p>
            <a:pPr marL="0" indent="0" algn="l">
              <a:buNone/>
            </a:pPr>
            <a:r>
              <a:rPr lang="en-US" sz="1400" b="1" dirty="0">
                <a:solidFill>
                  <a:srgbClr val="1E2D3D"/>
                </a:solidFill>
                <a:latin typeface="Cambria" pitchFamily="34" charset="0"/>
                <a:ea typeface="Cambria" pitchFamily="34" charset="-122"/>
                <a:cs typeface="Cambria" pitchFamily="34" charset="-120"/>
              </a:rPr>
              <a:t>Project Structure</a:t>
            </a:r>
            <a:endParaRPr lang="en-US" sz="1400" dirty="0"/>
          </a:p>
        </p:txBody>
      </p:sp>
      <p:sp>
        <p:nvSpPr>
          <p:cNvPr id="7" name="Text 5"/>
          <p:cNvSpPr/>
          <p:nvPr/>
        </p:nvSpPr>
        <p:spPr>
          <a:xfrm>
            <a:off x="502920" y="1463040"/>
            <a:ext cx="3749040" cy="3291840"/>
          </a:xfrm>
          <a:prstGeom prst="rect">
            <a:avLst/>
          </a:prstGeom>
          <a:noFill/>
          <a:ln/>
        </p:spPr>
        <p:txBody>
          <a:bodyPr wrap="square" lIns="50800" tIns="50800" rIns="50800" bIns="50800" rtlCol="0" anchor="t"/>
          <a:lstStyle/>
          <a:p>
            <a:pPr marL="0" indent="0" algn="l">
              <a:buNone/>
            </a:pPr>
            <a:r>
              <a:rPr lang="en-US" sz="1100" dirty="0">
                <a:solidFill>
                  <a:srgbClr val="3D5166"/>
                </a:solidFill>
                <a:latin typeface="Consolas" pitchFamily="34" charset="0"/>
                <a:ea typeface="Consolas" pitchFamily="34" charset="-122"/>
                <a:cs typeface="Consolas" pitchFamily="34" charset="-120"/>
              </a:rPr>
              <a:t>lightfm-recommender/</a:t>
            </a:r>
            <a:endParaRPr lang="en-US" sz="1100" dirty="0"/>
          </a:p>
          <a:p>
            <a:pPr marL="0" indent="0" algn="l">
              <a:buNone/>
            </a:pPr>
            <a:r>
              <a:rPr lang="en-US" sz="1100" dirty="0">
                <a:solidFill>
                  <a:srgbClr val="3D5166"/>
                </a:solidFill>
                <a:latin typeface="Consolas" pitchFamily="34" charset="0"/>
                <a:ea typeface="Consolas" pitchFamily="34" charset="-122"/>
                <a:cs typeface="Consolas" pitchFamily="34" charset="-120"/>
              </a:rPr>
              <a:t>  ├── main.py</a:t>
            </a:r>
            <a:endParaRPr lang="en-US" sz="1100" dirty="0"/>
          </a:p>
          <a:p>
            <a:pPr marL="0" indent="0" algn="l">
              <a:buNone/>
            </a:pPr>
            <a:r>
              <a:rPr lang="en-US" sz="1100" dirty="0">
                <a:solidFill>
                  <a:srgbClr val="3D5166"/>
                </a:solidFill>
                <a:latin typeface="Consolas" pitchFamily="34" charset="0"/>
                <a:ea typeface="Consolas" pitchFamily="34" charset="-122"/>
                <a:cs typeface="Consolas" pitchFamily="34" charset="-120"/>
              </a:rPr>
              <a:t>  ├── requirements.txt</a:t>
            </a:r>
            <a:endParaRPr lang="en-US" sz="1100" dirty="0"/>
          </a:p>
          <a:p>
            <a:pPr marL="0" indent="0" algn="l">
              <a:buNone/>
            </a:pPr>
            <a:r>
              <a:rPr lang="en-US" sz="1100" dirty="0">
                <a:solidFill>
                  <a:srgbClr val="3D5166"/>
                </a:solidFill>
                <a:latin typeface="Consolas" pitchFamily="34" charset="0"/>
                <a:ea typeface="Consolas" pitchFamily="34" charset="-122"/>
                <a:cs typeface="Consolas" pitchFamily="34" charset="-120"/>
              </a:rPr>
              <a:t>  ├── data/</a:t>
            </a:r>
            <a:endParaRPr lang="en-US" sz="1100" dirty="0"/>
          </a:p>
          <a:p>
            <a:pPr marL="0" indent="0" algn="l">
              <a:buNone/>
            </a:pPr>
            <a:r>
              <a:rPr lang="en-US" sz="1100" dirty="0">
                <a:solidFill>
                  <a:srgbClr val="3D5166"/>
                </a:solidFill>
                <a:latin typeface="Consolas" pitchFamily="34" charset="0"/>
                <a:ea typeface="Consolas" pitchFamily="34" charset="-122"/>
                <a:cs typeface="Consolas" pitchFamily="34" charset="-120"/>
              </a:rPr>
              <a:t>  │   ├── ratings.csv</a:t>
            </a:r>
            <a:endParaRPr lang="en-US" sz="1100" dirty="0"/>
          </a:p>
          <a:p>
            <a:pPr marL="0" indent="0" algn="l">
              <a:buNone/>
            </a:pPr>
            <a:r>
              <a:rPr lang="en-US" sz="1100" dirty="0">
                <a:solidFill>
                  <a:srgbClr val="3D5166"/>
                </a:solidFill>
                <a:latin typeface="Consolas" pitchFamily="34" charset="0"/>
                <a:ea typeface="Consolas" pitchFamily="34" charset="-122"/>
                <a:cs typeface="Consolas" pitchFamily="34" charset="-120"/>
              </a:rPr>
              <a:t>  │   └── movies.csv</a:t>
            </a:r>
            <a:endParaRPr lang="en-US" sz="1100" dirty="0"/>
          </a:p>
          <a:p>
            <a:pPr marL="0" indent="0" algn="l">
              <a:buNone/>
            </a:pPr>
            <a:r>
              <a:rPr lang="en-US" sz="1100" dirty="0">
                <a:solidFill>
                  <a:srgbClr val="3D5166"/>
                </a:solidFill>
                <a:latin typeface="Consolas" pitchFamily="34" charset="0"/>
                <a:ea typeface="Consolas" pitchFamily="34" charset="-122"/>
                <a:cs typeface="Consolas" pitchFamily="34" charset="-120"/>
              </a:rPr>
              <a:t>  ├── models/</a:t>
            </a:r>
            <a:endParaRPr lang="en-US" sz="1100" dirty="0"/>
          </a:p>
          <a:p>
            <a:pPr marL="0" indent="0" algn="l">
              <a:buNone/>
            </a:pPr>
            <a:r>
              <a:rPr lang="en-US" sz="1100" dirty="0">
                <a:solidFill>
                  <a:srgbClr val="3D5166"/>
                </a:solidFill>
                <a:latin typeface="Consolas" pitchFamily="34" charset="0"/>
                <a:ea typeface="Consolas" pitchFamily="34" charset="-122"/>
                <a:cs typeface="Consolas" pitchFamily="34" charset="-120"/>
              </a:rPr>
              <a:t>  │   ├── user_based.py</a:t>
            </a:r>
            <a:endParaRPr lang="en-US" sz="1100" dirty="0"/>
          </a:p>
          <a:p>
            <a:pPr marL="0" indent="0" algn="l">
              <a:buNone/>
            </a:pPr>
            <a:r>
              <a:rPr lang="en-US" sz="1100" dirty="0">
                <a:solidFill>
                  <a:srgbClr val="3D5166"/>
                </a:solidFill>
                <a:latin typeface="Consolas" pitchFamily="34" charset="0"/>
                <a:ea typeface="Consolas" pitchFamily="34" charset="-122"/>
                <a:cs typeface="Consolas" pitchFamily="34" charset="-120"/>
              </a:rPr>
              <a:t>  │   ├── item_based.py</a:t>
            </a:r>
            <a:endParaRPr lang="en-US" sz="1100" dirty="0"/>
          </a:p>
          <a:p>
            <a:pPr marL="0" indent="0" algn="l">
              <a:buNone/>
            </a:pPr>
            <a:r>
              <a:rPr lang="en-US" sz="1100" dirty="0">
                <a:solidFill>
                  <a:srgbClr val="3D5166"/>
                </a:solidFill>
                <a:latin typeface="Consolas" pitchFamily="34" charset="0"/>
                <a:ea typeface="Consolas" pitchFamily="34" charset="-122"/>
                <a:cs typeface="Consolas" pitchFamily="34" charset="-120"/>
              </a:rPr>
              <a:t>  │   └── matrix_factorization.py</a:t>
            </a:r>
            <a:endParaRPr lang="en-US" sz="1100" dirty="0"/>
          </a:p>
          <a:p>
            <a:pPr marL="0" indent="0" algn="l">
              <a:buNone/>
            </a:pPr>
            <a:r>
              <a:rPr lang="en-US" sz="1100" dirty="0">
                <a:solidFill>
                  <a:srgbClr val="3D5166"/>
                </a:solidFill>
                <a:latin typeface="Consolas" pitchFamily="34" charset="0"/>
                <a:ea typeface="Consolas" pitchFamily="34" charset="-122"/>
                <a:cs typeface="Consolas" pitchFamily="34" charset="-120"/>
              </a:rPr>
              <a:t>  └── utils/</a:t>
            </a:r>
            <a:endParaRPr lang="en-US" sz="1100" dirty="0"/>
          </a:p>
          <a:p>
            <a:pPr marL="0" indent="0" algn="l">
              <a:buNone/>
            </a:pPr>
            <a:r>
              <a:rPr lang="en-US" sz="1100" dirty="0">
                <a:solidFill>
                  <a:srgbClr val="3D5166"/>
                </a:solidFill>
                <a:latin typeface="Consolas" pitchFamily="34" charset="0"/>
                <a:ea typeface="Consolas" pitchFamily="34" charset="-122"/>
                <a:cs typeface="Consolas" pitchFamily="34" charset="-120"/>
              </a:rPr>
              <a:t>      └── data_loader.py</a:t>
            </a:r>
            <a:endParaRPr lang="en-US" sz="1100" dirty="0"/>
          </a:p>
        </p:txBody>
      </p:sp>
      <p:sp>
        <p:nvSpPr>
          <p:cNvPr id="8" name="Shape 6"/>
          <p:cNvSpPr/>
          <p:nvPr/>
        </p:nvSpPr>
        <p:spPr>
          <a:xfrm>
            <a:off x="4526280" y="1005840"/>
            <a:ext cx="4251960" cy="777240"/>
          </a:xfrm>
          <a:prstGeom prst="rect">
            <a:avLst/>
          </a:prstGeom>
          <a:solidFill>
            <a:srgbClr val="FFFFFF"/>
          </a:solidFill>
          <a:ln w="8890">
            <a:solidFill>
              <a:srgbClr val="D4E0EA"/>
            </a:solidFill>
            <a:prstDash val="solid"/>
          </a:ln>
          <a:effectLst>
            <a:outerShdw blurRad="63500" dist="25400" dir="8100000" algn="bl" rotWithShape="0">
              <a:srgbClr val="000000">
                <a:alpha val="10000"/>
              </a:srgbClr>
            </a:outerShdw>
          </a:effectLst>
        </p:spPr>
        <p:txBody>
          <a:bodyPr/>
          <a:lstStyle/>
          <a:p>
            <a:endParaRPr lang="en-IN"/>
          </a:p>
        </p:txBody>
      </p:sp>
      <p:sp>
        <p:nvSpPr>
          <p:cNvPr id="9" name="Shape 7"/>
          <p:cNvSpPr/>
          <p:nvPr/>
        </p:nvSpPr>
        <p:spPr>
          <a:xfrm>
            <a:off x="4526280" y="1005840"/>
            <a:ext cx="64008" cy="777240"/>
          </a:xfrm>
          <a:prstGeom prst="rect">
            <a:avLst/>
          </a:prstGeom>
          <a:solidFill>
            <a:srgbClr val="2A8C82"/>
          </a:solidFill>
          <a:ln/>
        </p:spPr>
        <p:txBody>
          <a:bodyPr/>
          <a:lstStyle/>
          <a:p>
            <a:endParaRPr lang="en-IN"/>
          </a:p>
        </p:txBody>
      </p:sp>
      <p:sp>
        <p:nvSpPr>
          <p:cNvPr id="10" name="Text 8"/>
          <p:cNvSpPr/>
          <p:nvPr/>
        </p:nvSpPr>
        <p:spPr>
          <a:xfrm>
            <a:off x="4709160" y="1005840"/>
            <a:ext cx="502920" cy="777240"/>
          </a:xfrm>
          <a:prstGeom prst="rect">
            <a:avLst/>
          </a:prstGeom>
          <a:noFill/>
          <a:ln/>
        </p:spPr>
        <p:txBody>
          <a:bodyPr wrap="square" lIns="0" tIns="0" rIns="0" bIns="0" rtlCol="0" anchor="ctr"/>
          <a:lstStyle/>
          <a:p>
            <a:pPr marL="0" indent="0" algn="ctr">
              <a:buNone/>
            </a:pPr>
            <a:r>
              <a:rPr lang="en-US" sz="2000" b="1" dirty="0">
                <a:solidFill>
                  <a:srgbClr val="2A8C82"/>
                </a:solidFill>
                <a:latin typeface="Cambria" pitchFamily="34" charset="0"/>
                <a:ea typeface="Cambria" pitchFamily="34" charset="-122"/>
                <a:cs typeface="Cambria" pitchFamily="34" charset="-120"/>
              </a:rPr>
              <a:t>1</a:t>
            </a:r>
            <a:endParaRPr lang="en-US" sz="2000" dirty="0"/>
          </a:p>
        </p:txBody>
      </p:sp>
      <p:sp>
        <p:nvSpPr>
          <p:cNvPr id="11" name="Text 9"/>
          <p:cNvSpPr/>
          <p:nvPr/>
        </p:nvSpPr>
        <p:spPr>
          <a:xfrm>
            <a:off x="5257800" y="1069848"/>
            <a:ext cx="3429000" cy="320040"/>
          </a:xfrm>
          <a:prstGeom prst="rect">
            <a:avLst/>
          </a:prstGeom>
          <a:noFill/>
          <a:ln/>
        </p:spPr>
        <p:txBody>
          <a:bodyPr wrap="square" lIns="0" tIns="0" rIns="0" bIns="0" rtlCol="0" anchor="ctr"/>
          <a:lstStyle/>
          <a:p>
            <a:pPr marL="0" indent="0" algn="l">
              <a:buNone/>
            </a:pPr>
            <a:r>
              <a:rPr lang="en-US" sz="1300" b="1" dirty="0">
                <a:solidFill>
                  <a:srgbClr val="1E2D3D"/>
                </a:solidFill>
                <a:latin typeface="Cambria" pitchFamily="34" charset="0"/>
                <a:ea typeface="Cambria" pitchFamily="34" charset="-122"/>
                <a:cs typeface="Cambria" pitchFamily="34" charset="-120"/>
              </a:rPr>
              <a:t>Load &amp; Preprocess Data</a:t>
            </a:r>
            <a:endParaRPr lang="en-US" sz="1300" dirty="0"/>
          </a:p>
        </p:txBody>
      </p:sp>
      <p:sp>
        <p:nvSpPr>
          <p:cNvPr id="12" name="Text 10"/>
          <p:cNvSpPr/>
          <p:nvPr/>
        </p:nvSpPr>
        <p:spPr>
          <a:xfrm>
            <a:off x="5257800" y="1399032"/>
            <a:ext cx="3429000" cy="292608"/>
          </a:xfrm>
          <a:prstGeom prst="rect">
            <a:avLst/>
          </a:prstGeom>
          <a:noFill/>
          <a:ln/>
        </p:spPr>
        <p:txBody>
          <a:bodyPr wrap="square" lIns="0" tIns="0" rIns="0" bIns="0" rtlCol="0" anchor="ctr"/>
          <a:lstStyle/>
          <a:p>
            <a:pPr marL="0" indent="0" algn="l">
              <a:buNone/>
            </a:pPr>
            <a:r>
              <a:rPr lang="en-US" sz="1100" dirty="0">
                <a:solidFill>
                  <a:srgbClr val="607A8D"/>
                </a:solidFill>
                <a:latin typeface="Calibri" pitchFamily="34" charset="0"/>
                <a:ea typeface="Calibri" pitchFamily="34" charset="-122"/>
                <a:cs typeface="Calibri" pitchFamily="34" charset="-120"/>
              </a:rPr>
              <a:t>data_loader.py: COO sparse matrices, 90/10 split</a:t>
            </a:r>
            <a:endParaRPr lang="en-US" sz="1100" dirty="0"/>
          </a:p>
        </p:txBody>
      </p:sp>
      <p:sp>
        <p:nvSpPr>
          <p:cNvPr id="13" name="Shape 11"/>
          <p:cNvSpPr/>
          <p:nvPr/>
        </p:nvSpPr>
        <p:spPr>
          <a:xfrm>
            <a:off x="6492240" y="1828800"/>
            <a:ext cx="36576" cy="109728"/>
          </a:xfrm>
          <a:prstGeom prst="rect">
            <a:avLst/>
          </a:prstGeom>
          <a:solidFill>
            <a:srgbClr val="2A8C82"/>
          </a:solidFill>
          <a:ln/>
        </p:spPr>
        <p:txBody>
          <a:bodyPr/>
          <a:lstStyle/>
          <a:p>
            <a:endParaRPr lang="en-IN"/>
          </a:p>
        </p:txBody>
      </p:sp>
      <p:sp>
        <p:nvSpPr>
          <p:cNvPr id="14" name="Shape 12"/>
          <p:cNvSpPr/>
          <p:nvPr/>
        </p:nvSpPr>
        <p:spPr>
          <a:xfrm>
            <a:off x="4526280" y="1920240"/>
            <a:ext cx="4251960" cy="777240"/>
          </a:xfrm>
          <a:prstGeom prst="rect">
            <a:avLst/>
          </a:prstGeom>
          <a:solidFill>
            <a:srgbClr val="FFFFFF"/>
          </a:solidFill>
          <a:ln w="8890">
            <a:solidFill>
              <a:srgbClr val="D4E0EA"/>
            </a:solidFill>
            <a:prstDash val="solid"/>
          </a:ln>
          <a:effectLst>
            <a:outerShdw blurRad="63500" dist="25400" dir="8100000" algn="bl" rotWithShape="0">
              <a:srgbClr val="000000">
                <a:alpha val="10000"/>
              </a:srgbClr>
            </a:outerShdw>
          </a:effectLst>
        </p:spPr>
        <p:txBody>
          <a:bodyPr/>
          <a:lstStyle/>
          <a:p>
            <a:endParaRPr lang="en-IN"/>
          </a:p>
        </p:txBody>
      </p:sp>
      <p:sp>
        <p:nvSpPr>
          <p:cNvPr id="15" name="Shape 13"/>
          <p:cNvSpPr/>
          <p:nvPr/>
        </p:nvSpPr>
        <p:spPr>
          <a:xfrm>
            <a:off x="4526280" y="1920240"/>
            <a:ext cx="64008" cy="777240"/>
          </a:xfrm>
          <a:prstGeom prst="rect">
            <a:avLst/>
          </a:prstGeom>
          <a:solidFill>
            <a:srgbClr val="2A8C82"/>
          </a:solidFill>
          <a:ln/>
        </p:spPr>
        <p:txBody>
          <a:bodyPr/>
          <a:lstStyle/>
          <a:p>
            <a:endParaRPr lang="en-IN"/>
          </a:p>
        </p:txBody>
      </p:sp>
      <p:sp>
        <p:nvSpPr>
          <p:cNvPr id="16" name="Text 14"/>
          <p:cNvSpPr/>
          <p:nvPr/>
        </p:nvSpPr>
        <p:spPr>
          <a:xfrm>
            <a:off x="4709160" y="1920240"/>
            <a:ext cx="502920" cy="777240"/>
          </a:xfrm>
          <a:prstGeom prst="rect">
            <a:avLst/>
          </a:prstGeom>
          <a:noFill/>
          <a:ln/>
        </p:spPr>
        <p:txBody>
          <a:bodyPr wrap="square" lIns="0" tIns="0" rIns="0" bIns="0" rtlCol="0" anchor="ctr"/>
          <a:lstStyle/>
          <a:p>
            <a:pPr marL="0" indent="0" algn="ctr">
              <a:buNone/>
            </a:pPr>
            <a:r>
              <a:rPr lang="en-US" sz="2000" b="1" dirty="0">
                <a:solidFill>
                  <a:srgbClr val="2A8C82"/>
                </a:solidFill>
                <a:latin typeface="Cambria" pitchFamily="34" charset="0"/>
                <a:ea typeface="Cambria" pitchFamily="34" charset="-122"/>
                <a:cs typeface="Cambria" pitchFamily="34" charset="-120"/>
              </a:rPr>
              <a:t>2</a:t>
            </a:r>
            <a:endParaRPr lang="en-US" sz="2000" dirty="0"/>
          </a:p>
        </p:txBody>
      </p:sp>
      <p:sp>
        <p:nvSpPr>
          <p:cNvPr id="17" name="Text 15"/>
          <p:cNvSpPr/>
          <p:nvPr/>
        </p:nvSpPr>
        <p:spPr>
          <a:xfrm>
            <a:off x="5257800" y="1984248"/>
            <a:ext cx="3429000" cy="320040"/>
          </a:xfrm>
          <a:prstGeom prst="rect">
            <a:avLst/>
          </a:prstGeom>
          <a:noFill/>
          <a:ln/>
        </p:spPr>
        <p:txBody>
          <a:bodyPr wrap="square" lIns="0" tIns="0" rIns="0" bIns="0" rtlCol="0" anchor="ctr"/>
          <a:lstStyle/>
          <a:p>
            <a:pPr marL="0" indent="0" algn="l">
              <a:buNone/>
            </a:pPr>
            <a:r>
              <a:rPr lang="en-US" sz="1300" b="1" dirty="0">
                <a:solidFill>
                  <a:srgbClr val="1E2D3D"/>
                </a:solidFill>
                <a:latin typeface="Cambria" pitchFamily="34" charset="0"/>
                <a:ea typeface="Cambria" pitchFamily="34" charset="-122"/>
                <a:cs typeface="Cambria" pitchFamily="34" charset="-120"/>
              </a:rPr>
              <a:t>Train LightFM Model</a:t>
            </a:r>
            <a:endParaRPr lang="en-US" sz="1300" dirty="0"/>
          </a:p>
        </p:txBody>
      </p:sp>
      <p:sp>
        <p:nvSpPr>
          <p:cNvPr id="18" name="Text 16"/>
          <p:cNvSpPr/>
          <p:nvPr/>
        </p:nvSpPr>
        <p:spPr>
          <a:xfrm>
            <a:off x="5257800" y="2313432"/>
            <a:ext cx="3429000" cy="292608"/>
          </a:xfrm>
          <a:prstGeom prst="rect">
            <a:avLst/>
          </a:prstGeom>
          <a:noFill/>
          <a:ln/>
        </p:spPr>
        <p:txBody>
          <a:bodyPr wrap="square" lIns="0" tIns="0" rIns="0" bIns="0" rtlCol="0" anchor="ctr"/>
          <a:lstStyle/>
          <a:p>
            <a:pPr marL="0" indent="0" algn="l">
              <a:buNone/>
            </a:pPr>
            <a:r>
              <a:rPr lang="en-US" sz="1100" dirty="0">
                <a:solidFill>
                  <a:srgbClr val="607A8D"/>
                </a:solidFill>
                <a:latin typeface="Calibri" pitchFamily="34" charset="0"/>
                <a:ea typeface="Calibri" pitchFamily="34" charset="-122"/>
                <a:cs typeface="Calibri" pitchFamily="34" charset="-120"/>
              </a:rPr>
              <a:t>logistic loss, 10 epochs, 10 latent dimensions</a:t>
            </a:r>
            <a:endParaRPr lang="en-US" sz="1100" dirty="0"/>
          </a:p>
        </p:txBody>
      </p:sp>
      <p:sp>
        <p:nvSpPr>
          <p:cNvPr id="19" name="Shape 17"/>
          <p:cNvSpPr/>
          <p:nvPr/>
        </p:nvSpPr>
        <p:spPr>
          <a:xfrm>
            <a:off x="6492240" y="2743200"/>
            <a:ext cx="36576" cy="109728"/>
          </a:xfrm>
          <a:prstGeom prst="rect">
            <a:avLst/>
          </a:prstGeom>
          <a:solidFill>
            <a:srgbClr val="2A8C82"/>
          </a:solidFill>
          <a:ln/>
        </p:spPr>
        <p:txBody>
          <a:bodyPr/>
          <a:lstStyle/>
          <a:p>
            <a:endParaRPr lang="en-IN"/>
          </a:p>
        </p:txBody>
      </p:sp>
      <p:sp>
        <p:nvSpPr>
          <p:cNvPr id="20" name="Shape 18"/>
          <p:cNvSpPr/>
          <p:nvPr/>
        </p:nvSpPr>
        <p:spPr>
          <a:xfrm>
            <a:off x="4526280" y="2834640"/>
            <a:ext cx="4251960" cy="777240"/>
          </a:xfrm>
          <a:prstGeom prst="rect">
            <a:avLst/>
          </a:prstGeom>
          <a:solidFill>
            <a:srgbClr val="FFFFFF"/>
          </a:solidFill>
          <a:ln w="8890">
            <a:solidFill>
              <a:srgbClr val="D4E0EA"/>
            </a:solidFill>
            <a:prstDash val="solid"/>
          </a:ln>
          <a:effectLst>
            <a:outerShdw blurRad="63500" dist="25400" dir="8100000" algn="bl" rotWithShape="0">
              <a:srgbClr val="000000">
                <a:alpha val="10000"/>
              </a:srgbClr>
            </a:outerShdw>
          </a:effectLst>
        </p:spPr>
        <p:txBody>
          <a:bodyPr/>
          <a:lstStyle/>
          <a:p>
            <a:endParaRPr lang="en-IN"/>
          </a:p>
        </p:txBody>
      </p:sp>
      <p:sp>
        <p:nvSpPr>
          <p:cNvPr id="21" name="Shape 19"/>
          <p:cNvSpPr/>
          <p:nvPr/>
        </p:nvSpPr>
        <p:spPr>
          <a:xfrm>
            <a:off x="4526280" y="2834640"/>
            <a:ext cx="64008" cy="777240"/>
          </a:xfrm>
          <a:prstGeom prst="rect">
            <a:avLst/>
          </a:prstGeom>
          <a:solidFill>
            <a:srgbClr val="2A8C82"/>
          </a:solidFill>
          <a:ln/>
        </p:spPr>
        <p:txBody>
          <a:bodyPr/>
          <a:lstStyle/>
          <a:p>
            <a:endParaRPr lang="en-IN"/>
          </a:p>
        </p:txBody>
      </p:sp>
      <p:sp>
        <p:nvSpPr>
          <p:cNvPr id="22" name="Text 20"/>
          <p:cNvSpPr/>
          <p:nvPr/>
        </p:nvSpPr>
        <p:spPr>
          <a:xfrm>
            <a:off x="4709160" y="2834640"/>
            <a:ext cx="502920" cy="777240"/>
          </a:xfrm>
          <a:prstGeom prst="rect">
            <a:avLst/>
          </a:prstGeom>
          <a:noFill/>
          <a:ln/>
        </p:spPr>
        <p:txBody>
          <a:bodyPr wrap="square" lIns="0" tIns="0" rIns="0" bIns="0" rtlCol="0" anchor="ctr"/>
          <a:lstStyle/>
          <a:p>
            <a:pPr marL="0" indent="0" algn="ctr">
              <a:buNone/>
            </a:pPr>
            <a:r>
              <a:rPr lang="en-US" sz="2000" b="1" dirty="0">
                <a:solidFill>
                  <a:srgbClr val="2A8C82"/>
                </a:solidFill>
                <a:latin typeface="Cambria" pitchFamily="34" charset="0"/>
                <a:ea typeface="Cambria" pitchFamily="34" charset="-122"/>
                <a:cs typeface="Cambria" pitchFamily="34" charset="-120"/>
              </a:rPr>
              <a:t>3</a:t>
            </a:r>
            <a:endParaRPr lang="en-US" sz="2000" dirty="0"/>
          </a:p>
        </p:txBody>
      </p:sp>
      <p:sp>
        <p:nvSpPr>
          <p:cNvPr id="23" name="Text 21"/>
          <p:cNvSpPr/>
          <p:nvPr/>
        </p:nvSpPr>
        <p:spPr>
          <a:xfrm>
            <a:off x="5257800" y="2898648"/>
            <a:ext cx="3429000" cy="320040"/>
          </a:xfrm>
          <a:prstGeom prst="rect">
            <a:avLst/>
          </a:prstGeom>
          <a:noFill/>
          <a:ln/>
        </p:spPr>
        <p:txBody>
          <a:bodyPr wrap="square" lIns="0" tIns="0" rIns="0" bIns="0" rtlCol="0" anchor="ctr"/>
          <a:lstStyle/>
          <a:p>
            <a:pPr marL="0" indent="0" algn="l">
              <a:buNone/>
            </a:pPr>
            <a:r>
              <a:rPr lang="en-US" sz="1300" b="1" dirty="0">
                <a:solidFill>
                  <a:srgbClr val="1E2D3D"/>
                </a:solidFill>
                <a:latin typeface="Cambria" pitchFamily="34" charset="0"/>
                <a:ea typeface="Cambria" pitchFamily="34" charset="-122"/>
                <a:cs typeface="Cambria" pitchFamily="34" charset="-120"/>
              </a:rPr>
              <a:t>Generate Recommendations</a:t>
            </a:r>
            <a:endParaRPr lang="en-US" sz="1300" dirty="0"/>
          </a:p>
        </p:txBody>
      </p:sp>
      <p:sp>
        <p:nvSpPr>
          <p:cNvPr id="24" name="Text 22"/>
          <p:cNvSpPr/>
          <p:nvPr/>
        </p:nvSpPr>
        <p:spPr>
          <a:xfrm>
            <a:off x="5257800" y="3227832"/>
            <a:ext cx="3429000" cy="292608"/>
          </a:xfrm>
          <a:prstGeom prst="rect">
            <a:avLst/>
          </a:prstGeom>
          <a:noFill/>
          <a:ln/>
        </p:spPr>
        <p:txBody>
          <a:bodyPr wrap="square" lIns="0" tIns="0" rIns="0" bIns="0" rtlCol="0" anchor="ctr"/>
          <a:lstStyle/>
          <a:p>
            <a:pPr marL="0" indent="0" algn="l">
              <a:buNone/>
            </a:pPr>
            <a:r>
              <a:rPr lang="en-US" sz="1100" dirty="0">
                <a:solidFill>
                  <a:srgbClr val="607A8D"/>
                </a:solidFill>
                <a:latin typeface="Calibri" pitchFamily="34" charset="0"/>
                <a:ea typeface="Calibri" pitchFamily="34" charset="-122"/>
                <a:cs typeface="Calibri" pitchFamily="34" charset="-120"/>
              </a:rPr>
              <a:t>top-5 unseen items per user</a:t>
            </a:r>
            <a:endParaRPr lang="en-US" sz="1100" dirty="0"/>
          </a:p>
        </p:txBody>
      </p:sp>
      <p:sp>
        <p:nvSpPr>
          <p:cNvPr id="25" name="Shape 23"/>
          <p:cNvSpPr/>
          <p:nvPr/>
        </p:nvSpPr>
        <p:spPr>
          <a:xfrm>
            <a:off x="6492240" y="3657600"/>
            <a:ext cx="36576" cy="109728"/>
          </a:xfrm>
          <a:prstGeom prst="rect">
            <a:avLst/>
          </a:prstGeom>
          <a:solidFill>
            <a:srgbClr val="2A8C82"/>
          </a:solidFill>
          <a:ln/>
        </p:spPr>
        <p:txBody>
          <a:bodyPr/>
          <a:lstStyle/>
          <a:p>
            <a:endParaRPr lang="en-IN"/>
          </a:p>
        </p:txBody>
      </p:sp>
      <p:sp>
        <p:nvSpPr>
          <p:cNvPr id="26" name="Shape 24"/>
          <p:cNvSpPr/>
          <p:nvPr/>
        </p:nvSpPr>
        <p:spPr>
          <a:xfrm>
            <a:off x="4526280" y="3749040"/>
            <a:ext cx="4251960" cy="777240"/>
          </a:xfrm>
          <a:prstGeom prst="rect">
            <a:avLst/>
          </a:prstGeom>
          <a:solidFill>
            <a:srgbClr val="FFFFFF"/>
          </a:solidFill>
          <a:ln w="8890">
            <a:solidFill>
              <a:srgbClr val="D4E0EA"/>
            </a:solidFill>
            <a:prstDash val="solid"/>
          </a:ln>
          <a:effectLst>
            <a:outerShdw blurRad="63500" dist="25400" dir="8100000" algn="bl" rotWithShape="0">
              <a:srgbClr val="000000">
                <a:alpha val="10000"/>
              </a:srgbClr>
            </a:outerShdw>
          </a:effectLst>
        </p:spPr>
        <p:txBody>
          <a:bodyPr/>
          <a:lstStyle/>
          <a:p>
            <a:endParaRPr lang="en-IN"/>
          </a:p>
        </p:txBody>
      </p:sp>
      <p:sp>
        <p:nvSpPr>
          <p:cNvPr id="27" name="Shape 25"/>
          <p:cNvSpPr/>
          <p:nvPr/>
        </p:nvSpPr>
        <p:spPr>
          <a:xfrm>
            <a:off x="4526280" y="3749040"/>
            <a:ext cx="64008" cy="777240"/>
          </a:xfrm>
          <a:prstGeom prst="rect">
            <a:avLst/>
          </a:prstGeom>
          <a:solidFill>
            <a:srgbClr val="2A8C82"/>
          </a:solidFill>
          <a:ln/>
        </p:spPr>
        <p:txBody>
          <a:bodyPr/>
          <a:lstStyle/>
          <a:p>
            <a:endParaRPr lang="en-IN"/>
          </a:p>
        </p:txBody>
      </p:sp>
      <p:sp>
        <p:nvSpPr>
          <p:cNvPr id="28" name="Text 26"/>
          <p:cNvSpPr/>
          <p:nvPr/>
        </p:nvSpPr>
        <p:spPr>
          <a:xfrm>
            <a:off x="4709160" y="3749040"/>
            <a:ext cx="502920" cy="777240"/>
          </a:xfrm>
          <a:prstGeom prst="rect">
            <a:avLst/>
          </a:prstGeom>
          <a:noFill/>
          <a:ln/>
        </p:spPr>
        <p:txBody>
          <a:bodyPr wrap="square" lIns="0" tIns="0" rIns="0" bIns="0" rtlCol="0" anchor="ctr"/>
          <a:lstStyle/>
          <a:p>
            <a:pPr marL="0" indent="0" algn="ctr">
              <a:buNone/>
            </a:pPr>
            <a:r>
              <a:rPr lang="en-US" sz="2000" b="1" dirty="0">
                <a:solidFill>
                  <a:srgbClr val="2A8C82"/>
                </a:solidFill>
                <a:latin typeface="Cambria" pitchFamily="34" charset="0"/>
                <a:ea typeface="Cambria" pitchFamily="34" charset="-122"/>
                <a:cs typeface="Cambria" pitchFamily="34" charset="-120"/>
              </a:rPr>
              <a:t>4</a:t>
            </a:r>
            <a:endParaRPr lang="en-US" sz="2000" dirty="0"/>
          </a:p>
        </p:txBody>
      </p:sp>
      <p:sp>
        <p:nvSpPr>
          <p:cNvPr id="29" name="Text 27"/>
          <p:cNvSpPr/>
          <p:nvPr/>
        </p:nvSpPr>
        <p:spPr>
          <a:xfrm>
            <a:off x="5257800" y="3813048"/>
            <a:ext cx="3429000" cy="320040"/>
          </a:xfrm>
          <a:prstGeom prst="rect">
            <a:avLst/>
          </a:prstGeom>
          <a:noFill/>
          <a:ln/>
        </p:spPr>
        <p:txBody>
          <a:bodyPr wrap="square" lIns="0" tIns="0" rIns="0" bIns="0" rtlCol="0" anchor="ctr"/>
          <a:lstStyle/>
          <a:p>
            <a:pPr marL="0" indent="0" algn="l">
              <a:buNone/>
            </a:pPr>
            <a:r>
              <a:rPr lang="en-US" sz="1300" b="1" dirty="0">
                <a:solidFill>
                  <a:srgbClr val="1E2D3D"/>
                </a:solidFill>
                <a:latin typeface="Cambria" pitchFamily="34" charset="0"/>
                <a:ea typeface="Cambria" pitchFamily="34" charset="-122"/>
                <a:cs typeface="Cambria" pitchFamily="34" charset="-120"/>
              </a:rPr>
              <a:t>Evaluate Performance</a:t>
            </a:r>
            <a:endParaRPr lang="en-US" sz="1300" dirty="0"/>
          </a:p>
        </p:txBody>
      </p:sp>
      <p:sp>
        <p:nvSpPr>
          <p:cNvPr id="30" name="Text 28"/>
          <p:cNvSpPr/>
          <p:nvPr/>
        </p:nvSpPr>
        <p:spPr>
          <a:xfrm>
            <a:off x="5257800" y="4142232"/>
            <a:ext cx="3429000" cy="292608"/>
          </a:xfrm>
          <a:prstGeom prst="rect">
            <a:avLst/>
          </a:prstGeom>
          <a:noFill/>
          <a:ln/>
        </p:spPr>
        <p:txBody>
          <a:bodyPr wrap="square" lIns="0" tIns="0" rIns="0" bIns="0" rtlCol="0" anchor="ctr"/>
          <a:lstStyle/>
          <a:p>
            <a:pPr marL="0" indent="0" algn="l">
              <a:buNone/>
            </a:pPr>
            <a:r>
              <a:rPr lang="en-US" sz="1100" dirty="0">
                <a:solidFill>
                  <a:srgbClr val="607A8D"/>
                </a:solidFill>
                <a:latin typeface="Calibri" pitchFamily="34" charset="0"/>
                <a:ea typeface="Calibri" pitchFamily="34" charset="-122"/>
                <a:cs typeface="Calibri" pitchFamily="34" charset="-120"/>
              </a:rPr>
              <a:t>Precision@10 &amp; Recall@10 across all test users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D3D"/>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2A8C82"/>
          </a:solidFill>
          <a:ln/>
        </p:spPr>
        <p:txBody>
          <a:bodyPr/>
          <a:lstStyle/>
          <a:p>
            <a:endParaRPr lang="en-IN"/>
          </a:p>
        </p:txBody>
      </p:sp>
      <p:sp>
        <p:nvSpPr>
          <p:cNvPr id="3" name="Text 1"/>
          <p:cNvSpPr/>
          <p:nvPr/>
        </p:nvSpPr>
        <p:spPr>
          <a:xfrm>
            <a:off x="457200" y="228600"/>
            <a:ext cx="8503920" cy="640080"/>
          </a:xfrm>
          <a:prstGeom prst="rect">
            <a:avLst/>
          </a:prstGeom>
          <a:noFill/>
          <a:ln/>
        </p:spPr>
        <p:txBody>
          <a:bodyPr wrap="square" lIns="0" tIns="0" rIns="0" bIns="0"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What is LightFM?</a:t>
            </a:r>
            <a:endParaRPr lang="en-US" sz="2800" dirty="0"/>
          </a:p>
        </p:txBody>
      </p:sp>
      <p:sp>
        <p:nvSpPr>
          <p:cNvPr id="4" name="Shape 2"/>
          <p:cNvSpPr/>
          <p:nvPr/>
        </p:nvSpPr>
        <p:spPr>
          <a:xfrm>
            <a:off x="457200" y="914400"/>
            <a:ext cx="8229600" cy="18288"/>
          </a:xfrm>
          <a:prstGeom prst="rect">
            <a:avLst/>
          </a:prstGeom>
          <a:solidFill>
            <a:srgbClr val="2A8C82"/>
          </a:solidFill>
          <a:ln/>
        </p:spPr>
        <p:txBody>
          <a:bodyPr/>
          <a:lstStyle/>
          <a:p>
            <a:endParaRPr lang="en-IN"/>
          </a:p>
        </p:txBody>
      </p:sp>
      <p:sp>
        <p:nvSpPr>
          <p:cNvPr id="5" name="Shape 3"/>
          <p:cNvSpPr/>
          <p:nvPr/>
        </p:nvSpPr>
        <p:spPr>
          <a:xfrm>
            <a:off x="411480" y="1051560"/>
            <a:ext cx="8321040" cy="1051560"/>
          </a:xfrm>
          <a:prstGeom prst="rect">
            <a:avLst/>
          </a:prstGeom>
          <a:solidFill>
            <a:srgbClr val="2C4A5A"/>
          </a:solidFill>
          <a:ln w="8890">
            <a:solidFill>
              <a:srgbClr val="2A8C82"/>
            </a:solidFill>
            <a:prstDash val="solid"/>
          </a:ln>
          <a:effectLst>
            <a:outerShdw blurRad="63500" dist="25400" dir="8100000" algn="bl" rotWithShape="0">
              <a:srgbClr val="000000">
                <a:alpha val="10000"/>
              </a:srgbClr>
            </a:outerShdw>
          </a:effectLst>
        </p:spPr>
        <p:txBody>
          <a:bodyPr/>
          <a:lstStyle/>
          <a:p>
            <a:endParaRPr lang="en-IN"/>
          </a:p>
        </p:txBody>
      </p:sp>
      <p:sp>
        <p:nvSpPr>
          <p:cNvPr id="6" name="Text 4"/>
          <p:cNvSpPr/>
          <p:nvPr/>
        </p:nvSpPr>
        <p:spPr>
          <a:xfrm>
            <a:off x="548640" y="1115568"/>
            <a:ext cx="8046720" cy="914400"/>
          </a:xfrm>
          <a:prstGeom prst="rect">
            <a:avLst/>
          </a:prstGeom>
          <a:noFill/>
          <a:ln/>
        </p:spPr>
        <p:txBody>
          <a:bodyPr wrap="square" lIns="25400" tIns="25400" rIns="25400" bIns="25400" rtlCol="0" anchor="ctr"/>
          <a:lstStyle/>
          <a:p>
            <a:pPr marL="0" indent="0" algn="l">
              <a:buNone/>
            </a:pPr>
            <a:r>
              <a:rPr lang="en-US" sz="1300" dirty="0">
                <a:solidFill>
                  <a:srgbClr val="D0E4EC"/>
                </a:solidFill>
                <a:latin typeface="Calibri" pitchFamily="34" charset="0"/>
                <a:ea typeface="Calibri" pitchFamily="34" charset="-122"/>
                <a:cs typeface="Calibri" pitchFamily="34" charset="-120"/>
              </a:rPr>
              <a:t>LightFM is a Python library for hybrid matrix factorization-based recommender systems, developed at Lyst by Maciej Kula (2015). It represents users and items as linear combinations of feature embeddings, extending standard MF to support both collaborative signals and content-based metadata.</a:t>
            </a:r>
            <a:endParaRPr lang="en-US" sz="1300" dirty="0"/>
          </a:p>
        </p:txBody>
      </p:sp>
      <p:sp>
        <p:nvSpPr>
          <p:cNvPr id="7" name="Shape 5"/>
          <p:cNvSpPr/>
          <p:nvPr/>
        </p:nvSpPr>
        <p:spPr>
          <a:xfrm>
            <a:off x="411480" y="2240280"/>
            <a:ext cx="2606040" cy="1143000"/>
          </a:xfrm>
          <a:prstGeom prst="rect">
            <a:avLst/>
          </a:prstGeom>
          <a:solidFill>
            <a:srgbClr val="2C4A5A"/>
          </a:solidFill>
          <a:ln w="8890">
            <a:solidFill>
              <a:srgbClr val="2A8C82"/>
            </a:solidFill>
            <a:prstDash val="solid"/>
          </a:ln>
          <a:effectLst>
            <a:outerShdw blurRad="63500" dist="25400" dir="8100000" algn="bl" rotWithShape="0">
              <a:srgbClr val="000000">
                <a:alpha val="10000"/>
              </a:srgbClr>
            </a:outerShdw>
          </a:effectLst>
        </p:spPr>
        <p:txBody>
          <a:bodyPr/>
          <a:lstStyle/>
          <a:p>
            <a:endParaRPr lang="en-IN"/>
          </a:p>
        </p:txBody>
      </p:sp>
      <p:sp>
        <p:nvSpPr>
          <p:cNvPr id="8" name="Shape 6"/>
          <p:cNvSpPr/>
          <p:nvPr/>
        </p:nvSpPr>
        <p:spPr>
          <a:xfrm>
            <a:off x="411480" y="2240280"/>
            <a:ext cx="2606040" cy="347472"/>
          </a:xfrm>
          <a:prstGeom prst="rect">
            <a:avLst/>
          </a:prstGeom>
          <a:solidFill>
            <a:srgbClr val="2A8C82"/>
          </a:solidFill>
          <a:ln/>
        </p:spPr>
        <p:txBody>
          <a:bodyPr/>
          <a:lstStyle/>
          <a:p>
            <a:endParaRPr lang="en-IN"/>
          </a:p>
        </p:txBody>
      </p:sp>
      <p:sp>
        <p:nvSpPr>
          <p:cNvPr id="9" name="Text 7"/>
          <p:cNvSpPr/>
          <p:nvPr/>
        </p:nvSpPr>
        <p:spPr>
          <a:xfrm>
            <a:off x="411480" y="2240280"/>
            <a:ext cx="260604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Sparse Data</a:t>
            </a:r>
            <a:endParaRPr lang="en-US" sz="1300" dirty="0"/>
          </a:p>
        </p:txBody>
      </p:sp>
      <p:sp>
        <p:nvSpPr>
          <p:cNvPr id="10" name="Text 8"/>
          <p:cNvSpPr/>
          <p:nvPr/>
        </p:nvSpPr>
        <p:spPr>
          <a:xfrm>
            <a:off x="411480" y="2624328"/>
            <a:ext cx="2606040" cy="685800"/>
          </a:xfrm>
          <a:prstGeom prst="rect">
            <a:avLst/>
          </a:prstGeom>
          <a:noFill/>
          <a:ln/>
        </p:spPr>
        <p:txBody>
          <a:bodyPr wrap="square" lIns="50800" tIns="50800" rIns="50800" bIns="50800" rtlCol="0" anchor="t"/>
          <a:lstStyle/>
          <a:p>
            <a:pPr marL="0" indent="0" algn="ctr">
              <a:buNone/>
            </a:pPr>
            <a:r>
              <a:rPr lang="en-US" sz="1200" dirty="0">
                <a:solidFill>
                  <a:srgbClr val="AACAD8"/>
                </a:solidFill>
                <a:latin typeface="Calibri" pitchFamily="34" charset="0"/>
                <a:ea typeface="Calibri" pitchFamily="34" charset="-122"/>
                <a:cs typeface="Calibri" pitchFamily="34" charset="-120"/>
              </a:rPr>
              <a:t>Ignores zero entries — only processes observed interactions</a:t>
            </a:r>
            <a:endParaRPr lang="en-US" sz="1200" dirty="0"/>
          </a:p>
        </p:txBody>
      </p:sp>
      <p:sp>
        <p:nvSpPr>
          <p:cNvPr id="11" name="Shape 9"/>
          <p:cNvSpPr/>
          <p:nvPr/>
        </p:nvSpPr>
        <p:spPr>
          <a:xfrm>
            <a:off x="3227832" y="2240280"/>
            <a:ext cx="2606040" cy="1143000"/>
          </a:xfrm>
          <a:prstGeom prst="rect">
            <a:avLst/>
          </a:prstGeom>
          <a:solidFill>
            <a:srgbClr val="2C4A5A"/>
          </a:solidFill>
          <a:ln w="8890">
            <a:solidFill>
              <a:srgbClr val="2A8C82"/>
            </a:solidFill>
            <a:prstDash val="solid"/>
          </a:ln>
          <a:effectLst>
            <a:outerShdw blurRad="63500" dist="25400" dir="8100000" algn="bl" rotWithShape="0">
              <a:srgbClr val="000000">
                <a:alpha val="10000"/>
              </a:srgbClr>
            </a:outerShdw>
          </a:effectLst>
        </p:spPr>
        <p:txBody>
          <a:bodyPr/>
          <a:lstStyle/>
          <a:p>
            <a:endParaRPr lang="en-IN"/>
          </a:p>
        </p:txBody>
      </p:sp>
      <p:sp>
        <p:nvSpPr>
          <p:cNvPr id="12" name="Shape 10"/>
          <p:cNvSpPr/>
          <p:nvPr/>
        </p:nvSpPr>
        <p:spPr>
          <a:xfrm>
            <a:off x="3227832" y="2240280"/>
            <a:ext cx="2606040" cy="347472"/>
          </a:xfrm>
          <a:prstGeom prst="rect">
            <a:avLst/>
          </a:prstGeom>
          <a:solidFill>
            <a:srgbClr val="2A8C82"/>
          </a:solidFill>
          <a:ln/>
        </p:spPr>
        <p:txBody>
          <a:bodyPr/>
          <a:lstStyle/>
          <a:p>
            <a:endParaRPr lang="en-IN"/>
          </a:p>
        </p:txBody>
      </p:sp>
      <p:sp>
        <p:nvSpPr>
          <p:cNvPr id="13" name="Text 11"/>
          <p:cNvSpPr/>
          <p:nvPr/>
        </p:nvSpPr>
        <p:spPr>
          <a:xfrm>
            <a:off x="3227832" y="2240280"/>
            <a:ext cx="260604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Memory Efficient</a:t>
            </a:r>
            <a:endParaRPr lang="en-US" sz="1300" dirty="0"/>
          </a:p>
        </p:txBody>
      </p:sp>
      <p:sp>
        <p:nvSpPr>
          <p:cNvPr id="14" name="Text 12"/>
          <p:cNvSpPr/>
          <p:nvPr/>
        </p:nvSpPr>
        <p:spPr>
          <a:xfrm>
            <a:off x="3227832" y="2624328"/>
            <a:ext cx="2606040" cy="685800"/>
          </a:xfrm>
          <a:prstGeom prst="rect">
            <a:avLst/>
          </a:prstGeom>
          <a:noFill/>
          <a:ln/>
        </p:spPr>
        <p:txBody>
          <a:bodyPr wrap="square" lIns="50800" tIns="50800" rIns="50800" bIns="50800" rtlCol="0" anchor="t"/>
          <a:lstStyle/>
          <a:p>
            <a:pPr marL="0" indent="0" algn="ctr">
              <a:buNone/>
            </a:pPr>
            <a:r>
              <a:rPr lang="en-US" sz="1200" dirty="0">
                <a:solidFill>
                  <a:srgbClr val="AACAD8"/>
                </a:solidFill>
                <a:latin typeface="Calibri" pitchFamily="34" charset="0"/>
                <a:ea typeface="Calibri" pitchFamily="34" charset="-122"/>
                <a:cs typeface="Calibri" pitchFamily="34" charset="-120"/>
              </a:rPr>
              <a:t>Works natively with scipy COO sparse matrices</a:t>
            </a:r>
            <a:endParaRPr lang="en-US" sz="1200" dirty="0"/>
          </a:p>
        </p:txBody>
      </p:sp>
      <p:sp>
        <p:nvSpPr>
          <p:cNvPr id="15" name="Shape 13"/>
          <p:cNvSpPr/>
          <p:nvPr/>
        </p:nvSpPr>
        <p:spPr>
          <a:xfrm>
            <a:off x="6044184" y="2240280"/>
            <a:ext cx="2606040" cy="1143000"/>
          </a:xfrm>
          <a:prstGeom prst="rect">
            <a:avLst/>
          </a:prstGeom>
          <a:solidFill>
            <a:srgbClr val="2C4A5A"/>
          </a:solidFill>
          <a:ln w="8890">
            <a:solidFill>
              <a:srgbClr val="2A8C82"/>
            </a:solidFill>
            <a:prstDash val="solid"/>
          </a:ln>
          <a:effectLst>
            <a:outerShdw blurRad="63500" dist="25400" dir="8100000" algn="bl" rotWithShape="0">
              <a:srgbClr val="000000">
                <a:alpha val="10000"/>
              </a:srgbClr>
            </a:outerShdw>
          </a:effectLst>
        </p:spPr>
        <p:txBody>
          <a:bodyPr/>
          <a:lstStyle/>
          <a:p>
            <a:endParaRPr lang="en-IN"/>
          </a:p>
        </p:txBody>
      </p:sp>
      <p:sp>
        <p:nvSpPr>
          <p:cNvPr id="16" name="Shape 14"/>
          <p:cNvSpPr/>
          <p:nvPr/>
        </p:nvSpPr>
        <p:spPr>
          <a:xfrm>
            <a:off x="6044184" y="2240280"/>
            <a:ext cx="2606040" cy="347472"/>
          </a:xfrm>
          <a:prstGeom prst="rect">
            <a:avLst/>
          </a:prstGeom>
          <a:solidFill>
            <a:srgbClr val="2A8C82"/>
          </a:solidFill>
          <a:ln/>
        </p:spPr>
        <p:txBody>
          <a:bodyPr/>
          <a:lstStyle/>
          <a:p>
            <a:endParaRPr lang="en-IN"/>
          </a:p>
        </p:txBody>
      </p:sp>
      <p:sp>
        <p:nvSpPr>
          <p:cNvPr id="17" name="Text 15"/>
          <p:cNvSpPr/>
          <p:nvPr/>
        </p:nvSpPr>
        <p:spPr>
          <a:xfrm>
            <a:off x="6044184" y="2240280"/>
            <a:ext cx="260604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Dense Embeddings</a:t>
            </a:r>
            <a:endParaRPr lang="en-US" sz="1300" dirty="0"/>
          </a:p>
        </p:txBody>
      </p:sp>
      <p:sp>
        <p:nvSpPr>
          <p:cNvPr id="18" name="Text 16"/>
          <p:cNvSpPr/>
          <p:nvPr/>
        </p:nvSpPr>
        <p:spPr>
          <a:xfrm>
            <a:off x="6044184" y="2624328"/>
            <a:ext cx="2606040" cy="685800"/>
          </a:xfrm>
          <a:prstGeom prst="rect">
            <a:avLst/>
          </a:prstGeom>
          <a:noFill/>
          <a:ln/>
        </p:spPr>
        <p:txBody>
          <a:bodyPr wrap="square" lIns="50800" tIns="50800" rIns="50800" bIns="50800" rtlCol="0" anchor="t"/>
          <a:lstStyle/>
          <a:p>
            <a:pPr marL="0" indent="0" algn="ctr">
              <a:buNone/>
            </a:pPr>
            <a:r>
              <a:rPr lang="en-US" sz="1200" dirty="0">
                <a:solidFill>
                  <a:srgbClr val="AACAD8"/>
                </a:solidFill>
                <a:latin typeface="Calibri" pitchFamily="34" charset="0"/>
                <a:ea typeface="Calibri" pitchFamily="34" charset="-122"/>
                <a:cs typeface="Calibri" pitchFamily="34" charset="-120"/>
              </a:rPr>
              <a:t>Produces user &amp; item vectors usable for similarity</a:t>
            </a:r>
            <a:endParaRPr lang="en-US" sz="1200" dirty="0"/>
          </a:p>
        </p:txBody>
      </p:sp>
      <p:sp>
        <p:nvSpPr>
          <p:cNvPr id="19" name="Shape 17"/>
          <p:cNvSpPr/>
          <p:nvPr/>
        </p:nvSpPr>
        <p:spPr>
          <a:xfrm>
            <a:off x="411480" y="3566160"/>
            <a:ext cx="2606040" cy="1143000"/>
          </a:xfrm>
          <a:prstGeom prst="rect">
            <a:avLst/>
          </a:prstGeom>
          <a:solidFill>
            <a:srgbClr val="2C4A5A"/>
          </a:solidFill>
          <a:ln w="8890">
            <a:solidFill>
              <a:srgbClr val="2A8C82"/>
            </a:solidFill>
            <a:prstDash val="solid"/>
          </a:ln>
          <a:effectLst>
            <a:outerShdw blurRad="63500" dist="25400" dir="8100000" algn="bl" rotWithShape="0">
              <a:srgbClr val="000000">
                <a:alpha val="10000"/>
              </a:srgbClr>
            </a:outerShdw>
          </a:effectLst>
        </p:spPr>
        <p:txBody>
          <a:bodyPr/>
          <a:lstStyle/>
          <a:p>
            <a:endParaRPr lang="en-IN"/>
          </a:p>
        </p:txBody>
      </p:sp>
      <p:sp>
        <p:nvSpPr>
          <p:cNvPr id="20" name="Shape 18"/>
          <p:cNvSpPr/>
          <p:nvPr/>
        </p:nvSpPr>
        <p:spPr>
          <a:xfrm>
            <a:off x="411480" y="3566160"/>
            <a:ext cx="2606040" cy="347472"/>
          </a:xfrm>
          <a:prstGeom prst="rect">
            <a:avLst/>
          </a:prstGeom>
          <a:solidFill>
            <a:srgbClr val="2A8C82"/>
          </a:solidFill>
          <a:ln/>
        </p:spPr>
        <p:txBody>
          <a:bodyPr/>
          <a:lstStyle/>
          <a:p>
            <a:endParaRPr lang="en-IN"/>
          </a:p>
        </p:txBody>
      </p:sp>
      <p:sp>
        <p:nvSpPr>
          <p:cNvPr id="21" name="Text 19"/>
          <p:cNvSpPr/>
          <p:nvPr/>
        </p:nvSpPr>
        <p:spPr>
          <a:xfrm>
            <a:off x="411480" y="3566160"/>
            <a:ext cx="260604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Built-in Metrics</a:t>
            </a:r>
            <a:endParaRPr lang="en-US" sz="1300" dirty="0"/>
          </a:p>
        </p:txBody>
      </p:sp>
      <p:sp>
        <p:nvSpPr>
          <p:cNvPr id="22" name="Text 20"/>
          <p:cNvSpPr/>
          <p:nvPr/>
        </p:nvSpPr>
        <p:spPr>
          <a:xfrm>
            <a:off x="411480" y="3950208"/>
            <a:ext cx="2606040" cy="685800"/>
          </a:xfrm>
          <a:prstGeom prst="rect">
            <a:avLst/>
          </a:prstGeom>
          <a:noFill/>
          <a:ln/>
        </p:spPr>
        <p:txBody>
          <a:bodyPr wrap="square" lIns="50800" tIns="50800" rIns="50800" bIns="50800" rtlCol="0" anchor="t"/>
          <a:lstStyle/>
          <a:p>
            <a:pPr marL="0" indent="0" algn="ctr">
              <a:buNone/>
            </a:pPr>
            <a:r>
              <a:rPr lang="en-US" sz="1200" dirty="0">
                <a:solidFill>
                  <a:srgbClr val="AACAD8"/>
                </a:solidFill>
                <a:latin typeface="Calibri" pitchFamily="34" charset="0"/>
                <a:ea typeface="Calibri" pitchFamily="34" charset="-122"/>
                <a:cs typeface="Calibri" pitchFamily="34" charset="-120"/>
              </a:rPr>
              <a:t>precision_at_k and recall_at_k functions included</a:t>
            </a:r>
            <a:endParaRPr lang="en-US" sz="1200" dirty="0"/>
          </a:p>
        </p:txBody>
      </p:sp>
      <p:sp>
        <p:nvSpPr>
          <p:cNvPr id="23" name="Shape 21"/>
          <p:cNvSpPr/>
          <p:nvPr/>
        </p:nvSpPr>
        <p:spPr>
          <a:xfrm>
            <a:off x="3227832" y="3566160"/>
            <a:ext cx="2606040" cy="1143000"/>
          </a:xfrm>
          <a:prstGeom prst="rect">
            <a:avLst/>
          </a:prstGeom>
          <a:solidFill>
            <a:srgbClr val="2C4A5A"/>
          </a:solidFill>
          <a:ln w="8890">
            <a:solidFill>
              <a:srgbClr val="2A8C82"/>
            </a:solidFill>
            <a:prstDash val="solid"/>
          </a:ln>
          <a:effectLst>
            <a:outerShdw blurRad="63500" dist="25400" dir="8100000" algn="bl" rotWithShape="0">
              <a:srgbClr val="000000">
                <a:alpha val="10000"/>
              </a:srgbClr>
            </a:outerShdw>
          </a:effectLst>
        </p:spPr>
        <p:txBody>
          <a:bodyPr/>
          <a:lstStyle/>
          <a:p>
            <a:endParaRPr lang="en-IN"/>
          </a:p>
        </p:txBody>
      </p:sp>
      <p:sp>
        <p:nvSpPr>
          <p:cNvPr id="24" name="Shape 22"/>
          <p:cNvSpPr/>
          <p:nvPr/>
        </p:nvSpPr>
        <p:spPr>
          <a:xfrm>
            <a:off x="3227832" y="3566160"/>
            <a:ext cx="2606040" cy="347472"/>
          </a:xfrm>
          <a:prstGeom prst="rect">
            <a:avLst/>
          </a:prstGeom>
          <a:solidFill>
            <a:srgbClr val="2A8C82"/>
          </a:solidFill>
          <a:ln/>
        </p:spPr>
        <p:txBody>
          <a:bodyPr/>
          <a:lstStyle/>
          <a:p>
            <a:endParaRPr lang="en-IN"/>
          </a:p>
        </p:txBody>
      </p:sp>
      <p:sp>
        <p:nvSpPr>
          <p:cNvPr id="25" name="Text 23"/>
          <p:cNvSpPr/>
          <p:nvPr/>
        </p:nvSpPr>
        <p:spPr>
          <a:xfrm>
            <a:off x="3227832" y="3566160"/>
            <a:ext cx="260604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Logistic Loss</a:t>
            </a:r>
            <a:endParaRPr lang="en-US" sz="1300" dirty="0"/>
          </a:p>
        </p:txBody>
      </p:sp>
      <p:sp>
        <p:nvSpPr>
          <p:cNvPr id="26" name="Text 24"/>
          <p:cNvSpPr/>
          <p:nvPr/>
        </p:nvSpPr>
        <p:spPr>
          <a:xfrm>
            <a:off x="3227832" y="3950208"/>
            <a:ext cx="2606040" cy="685800"/>
          </a:xfrm>
          <a:prstGeom prst="rect">
            <a:avLst/>
          </a:prstGeom>
          <a:noFill/>
          <a:ln/>
        </p:spPr>
        <p:txBody>
          <a:bodyPr wrap="square" lIns="50800" tIns="50800" rIns="50800" bIns="50800" rtlCol="0" anchor="t"/>
          <a:lstStyle/>
          <a:p>
            <a:pPr marL="0" indent="0" algn="ctr">
              <a:buNone/>
            </a:pPr>
            <a:r>
              <a:rPr lang="en-US" sz="1200" dirty="0">
                <a:solidFill>
                  <a:srgbClr val="AACAD8"/>
                </a:solidFill>
                <a:latin typeface="Calibri" pitchFamily="34" charset="0"/>
                <a:ea typeface="Calibri" pitchFamily="34" charset="-122"/>
                <a:cs typeface="Calibri" pitchFamily="34" charset="-120"/>
              </a:rPr>
              <a:t>Treats recommendation as binary classification</a:t>
            </a:r>
            <a:endParaRPr lang="en-US" sz="1200" dirty="0"/>
          </a:p>
        </p:txBody>
      </p:sp>
      <p:sp>
        <p:nvSpPr>
          <p:cNvPr id="29" name="Text 27"/>
          <p:cNvSpPr/>
          <p:nvPr/>
        </p:nvSpPr>
        <p:spPr>
          <a:xfrm>
            <a:off x="6044184" y="3566160"/>
            <a:ext cx="2606040" cy="347472"/>
          </a:xfrm>
          <a:prstGeom prst="rect">
            <a:avLst/>
          </a:prstGeom>
          <a:noFill/>
          <a:ln/>
        </p:spPr>
        <p:txBody>
          <a:bodyPr wrap="square" lIns="0" tIns="0" rIns="0" bIns="0" rtlCol="0" anchor="ctr"/>
          <a:lstStyle/>
          <a:p>
            <a:pPr marL="0" indent="0" algn="ctr">
              <a:buNone/>
            </a:pPr>
            <a:endParaRPr lang="en-US" sz="1300" dirty="0"/>
          </a:p>
        </p:txBody>
      </p:sp>
      <p:sp>
        <p:nvSpPr>
          <p:cNvPr id="30" name="Text 28"/>
          <p:cNvSpPr/>
          <p:nvPr/>
        </p:nvSpPr>
        <p:spPr>
          <a:xfrm>
            <a:off x="6044184" y="3950208"/>
            <a:ext cx="2606040" cy="685800"/>
          </a:xfrm>
          <a:prstGeom prst="rect">
            <a:avLst/>
          </a:prstGeom>
          <a:noFill/>
          <a:ln/>
        </p:spPr>
        <p:txBody>
          <a:bodyPr wrap="square" lIns="50800" tIns="50800" rIns="50800" bIns="50800" rtlCol="0" anchor="t"/>
          <a:lstStyle/>
          <a:p>
            <a:pPr marL="0" indent="0" algn="ctr">
              <a:buNone/>
            </a:pP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9"/>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A8C82"/>
          </a:solidFill>
          <a:ln/>
        </p:spPr>
        <p:txBody>
          <a:bodyPr/>
          <a:lstStyle/>
          <a:p>
            <a:endParaRPr lang="en-IN"/>
          </a:p>
        </p:txBody>
      </p:sp>
      <p:sp>
        <p:nvSpPr>
          <p:cNvPr id="3" name="Text 1"/>
          <p:cNvSpPr/>
          <p:nvPr/>
        </p:nvSpPr>
        <p:spPr>
          <a:xfrm>
            <a:off x="411480" y="201168"/>
            <a:ext cx="8503920" cy="594360"/>
          </a:xfrm>
          <a:prstGeom prst="rect">
            <a:avLst/>
          </a:prstGeom>
          <a:noFill/>
          <a:ln/>
        </p:spPr>
        <p:txBody>
          <a:bodyPr wrap="square" lIns="0" tIns="0" rIns="0" bIns="0" rtlCol="0" anchor="ctr"/>
          <a:lstStyle/>
          <a:p>
            <a:pPr marL="0" indent="0" algn="l">
              <a:buNone/>
            </a:pPr>
            <a:r>
              <a:rPr lang="en-US" sz="2600" b="1" dirty="0">
                <a:solidFill>
                  <a:srgbClr val="1E2D3D"/>
                </a:solidFill>
                <a:latin typeface="Cambria" pitchFamily="34" charset="0"/>
                <a:ea typeface="Cambria" pitchFamily="34" charset="-122"/>
                <a:cs typeface="Cambria" pitchFamily="34" charset="-120"/>
              </a:rPr>
              <a:t>LightFM: Core Math &amp; Loss Function</a:t>
            </a:r>
            <a:endParaRPr lang="en-US" sz="2600" dirty="0"/>
          </a:p>
        </p:txBody>
      </p:sp>
      <p:sp>
        <p:nvSpPr>
          <p:cNvPr id="4" name="Shape 2"/>
          <p:cNvSpPr/>
          <p:nvPr/>
        </p:nvSpPr>
        <p:spPr>
          <a:xfrm>
            <a:off x="411480" y="868680"/>
            <a:ext cx="8321040" cy="22860"/>
          </a:xfrm>
          <a:prstGeom prst="rect">
            <a:avLst/>
          </a:prstGeom>
          <a:solidFill>
            <a:srgbClr val="4BB8AE"/>
          </a:solidFill>
          <a:ln/>
        </p:spPr>
        <p:txBody>
          <a:bodyPr/>
          <a:lstStyle/>
          <a:p>
            <a:endParaRPr lang="en-IN"/>
          </a:p>
        </p:txBody>
      </p:sp>
      <p:sp>
        <p:nvSpPr>
          <p:cNvPr id="5" name="Shape 3"/>
          <p:cNvSpPr/>
          <p:nvPr/>
        </p:nvSpPr>
        <p:spPr>
          <a:xfrm>
            <a:off x="411480" y="1005840"/>
            <a:ext cx="8321040" cy="1280160"/>
          </a:xfrm>
          <a:prstGeom prst="rect">
            <a:avLst/>
          </a:prstGeom>
          <a:solidFill>
            <a:srgbClr val="FFFFFF"/>
          </a:solidFill>
          <a:ln w="8890">
            <a:solidFill>
              <a:srgbClr val="D4E0EA"/>
            </a:solidFill>
            <a:prstDash val="solid"/>
          </a:ln>
          <a:effectLst>
            <a:outerShdw blurRad="63500" dist="25400" dir="8100000" algn="bl" rotWithShape="0">
              <a:srgbClr val="000000">
                <a:alpha val="10000"/>
              </a:srgbClr>
            </a:outerShdw>
          </a:effectLst>
        </p:spPr>
        <p:txBody>
          <a:bodyPr/>
          <a:lstStyle/>
          <a:p>
            <a:endParaRPr lang="en-IN"/>
          </a:p>
        </p:txBody>
      </p:sp>
      <p:sp>
        <p:nvSpPr>
          <p:cNvPr id="6" name="Text 4"/>
          <p:cNvSpPr/>
          <p:nvPr/>
        </p:nvSpPr>
        <p:spPr>
          <a:xfrm>
            <a:off x="548640" y="1051560"/>
            <a:ext cx="3200400" cy="347472"/>
          </a:xfrm>
          <a:prstGeom prst="rect">
            <a:avLst/>
          </a:prstGeom>
          <a:noFill/>
          <a:ln/>
        </p:spPr>
        <p:txBody>
          <a:bodyPr wrap="square" lIns="0" tIns="0" rIns="0" bIns="0" rtlCol="0" anchor="ctr"/>
          <a:lstStyle/>
          <a:p>
            <a:pPr marL="0" indent="0" algn="l">
              <a:buNone/>
            </a:pPr>
            <a:r>
              <a:rPr lang="en-US" sz="1400" b="1" dirty="0">
                <a:solidFill>
                  <a:srgbClr val="1E2D3D"/>
                </a:solidFill>
                <a:latin typeface="Cambria" pitchFamily="34" charset="0"/>
                <a:ea typeface="Cambria" pitchFamily="34" charset="-122"/>
                <a:cs typeface="Cambria" pitchFamily="34" charset="-120"/>
              </a:rPr>
              <a:t>Prediction Formula</a:t>
            </a:r>
            <a:endParaRPr lang="en-US" sz="1400" dirty="0"/>
          </a:p>
        </p:txBody>
      </p:sp>
      <p:sp>
        <p:nvSpPr>
          <p:cNvPr id="7" name="Text 5"/>
          <p:cNvSpPr/>
          <p:nvPr/>
        </p:nvSpPr>
        <p:spPr>
          <a:xfrm>
            <a:off x="548640" y="1417320"/>
            <a:ext cx="7955280" cy="502920"/>
          </a:xfrm>
          <a:prstGeom prst="rect">
            <a:avLst/>
          </a:prstGeom>
          <a:noFill/>
          <a:ln/>
        </p:spPr>
        <p:txBody>
          <a:bodyPr wrap="square" lIns="0" tIns="0" rIns="0" bIns="0" rtlCol="0" anchor="ctr"/>
          <a:lstStyle/>
          <a:p>
            <a:pPr marL="0" indent="0" algn="ctr">
              <a:buNone/>
            </a:pPr>
            <a:r>
              <a:rPr lang="en-US" sz="1600" b="1" dirty="0">
                <a:solidFill>
                  <a:srgbClr val="2A8C82"/>
                </a:solidFill>
                <a:latin typeface="Consolas" pitchFamily="34" charset="0"/>
                <a:ea typeface="Consolas" pitchFamily="34" charset="-122"/>
                <a:cs typeface="Consolas" pitchFamily="34" charset="-120"/>
              </a:rPr>
              <a:t>r̂(u,i)  =  sigmoid( q_u · p_i  +  bias_u  +  bias_i )</a:t>
            </a:r>
            <a:endParaRPr lang="en-US" sz="1600" dirty="0"/>
          </a:p>
        </p:txBody>
      </p:sp>
      <p:sp>
        <p:nvSpPr>
          <p:cNvPr id="8" name="Shape 6"/>
          <p:cNvSpPr/>
          <p:nvPr/>
        </p:nvSpPr>
        <p:spPr>
          <a:xfrm>
            <a:off x="411480" y="2423160"/>
            <a:ext cx="4023360" cy="2423160"/>
          </a:xfrm>
          <a:prstGeom prst="rect">
            <a:avLst/>
          </a:prstGeom>
          <a:solidFill>
            <a:srgbClr val="FFFFFF"/>
          </a:solidFill>
          <a:ln w="8890">
            <a:solidFill>
              <a:srgbClr val="D4E0EA"/>
            </a:solidFill>
            <a:prstDash val="solid"/>
          </a:ln>
          <a:effectLst>
            <a:outerShdw blurRad="63500" dist="25400" dir="8100000" algn="bl" rotWithShape="0">
              <a:srgbClr val="000000">
                <a:alpha val="10000"/>
              </a:srgbClr>
            </a:outerShdw>
          </a:effectLst>
        </p:spPr>
        <p:txBody>
          <a:bodyPr/>
          <a:lstStyle/>
          <a:p>
            <a:endParaRPr lang="en-IN"/>
          </a:p>
        </p:txBody>
      </p:sp>
      <p:sp>
        <p:nvSpPr>
          <p:cNvPr id="9" name="Shape 7"/>
          <p:cNvSpPr/>
          <p:nvPr/>
        </p:nvSpPr>
        <p:spPr>
          <a:xfrm>
            <a:off x="411480" y="2423160"/>
            <a:ext cx="4023360" cy="365760"/>
          </a:xfrm>
          <a:prstGeom prst="rect">
            <a:avLst/>
          </a:prstGeom>
          <a:solidFill>
            <a:srgbClr val="2A8C82"/>
          </a:solidFill>
          <a:ln/>
        </p:spPr>
        <p:txBody>
          <a:bodyPr/>
          <a:lstStyle/>
          <a:p>
            <a:endParaRPr lang="en-IN"/>
          </a:p>
        </p:txBody>
      </p:sp>
      <p:sp>
        <p:nvSpPr>
          <p:cNvPr id="10" name="Text 8"/>
          <p:cNvSpPr/>
          <p:nvPr/>
        </p:nvSpPr>
        <p:spPr>
          <a:xfrm>
            <a:off x="411480" y="2423160"/>
            <a:ext cx="40233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Logistic Loss</a:t>
            </a:r>
            <a:endParaRPr lang="en-US" sz="1400" dirty="0"/>
          </a:p>
        </p:txBody>
      </p:sp>
      <p:sp>
        <p:nvSpPr>
          <p:cNvPr id="11" name="Text 9"/>
          <p:cNvSpPr/>
          <p:nvPr/>
        </p:nvSpPr>
        <p:spPr>
          <a:xfrm>
            <a:off x="502920" y="2880360"/>
            <a:ext cx="3840480" cy="1874520"/>
          </a:xfrm>
          <a:prstGeom prst="rect">
            <a:avLst/>
          </a:prstGeom>
          <a:noFill/>
          <a:ln/>
        </p:spPr>
        <p:txBody>
          <a:bodyPr wrap="square" lIns="25400" tIns="25400" rIns="25400" bIns="25400" rtlCol="0" anchor="t"/>
          <a:lstStyle/>
          <a:p>
            <a:pPr marL="0" indent="0" algn="l">
              <a:buNone/>
            </a:pPr>
            <a:r>
              <a:rPr lang="en-US" sz="1250" dirty="0">
                <a:solidFill>
                  <a:srgbClr val="3D5166"/>
                </a:solidFill>
                <a:latin typeface="Calibri" pitchFamily="34" charset="0"/>
                <a:ea typeface="Calibri" pitchFamily="34" charset="-122"/>
                <a:cs typeface="Calibri" pitchFamily="34" charset="-120"/>
              </a:rPr>
              <a:t>•  Maps raw score → probability via sigmoid: σ(x) = 1/(1+e⁻ˣ)
•  Treats each interaction as binary (like / dislike)
•  Minimizes binary cross-entropy loss:
</a:t>
            </a:r>
            <a:r>
              <a:rPr lang="en-US" sz="1250" b="1" dirty="0">
                <a:solidFill>
                  <a:srgbClr val="3D5166"/>
                </a:solidFill>
                <a:latin typeface="Calibri" pitchFamily="34" charset="0"/>
                <a:ea typeface="Calibri" pitchFamily="34" charset="-122"/>
                <a:cs typeface="Calibri" pitchFamily="34" charset="-120"/>
              </a:rPr>
              <a:t>   L = −[y·log σ(r̂) + (1−y)·log(1−σ(r̂))]
</a:t>
            </a:r>
            <a:endParaRPr lang="en-US" sz="1250" dirty="0"/>
          </a:p>
        </p:txBody>
      </p:sp>
      <p:sp>
        <p:nvSpPr>
          <p:cNvPr id="12" name="Shape 10"/>
          <p:cNvSpPr/>
          <p:nvPr/>
        </p:nvSpPr>
        <p:spPr>
          <a:xfrm>
            <a:off x="4663440" y="2423160"/>
            <a:ext cx="4023360" cy="2423160"/>
          </a:xfrm>
          <a:prstGeom prst="rect">
            <a:avLst/>
          </a:prstGeom>
          <a:solidFill>
            <a:srgbClr val="FFFFFF"/>
          </a:solidFill>
          <a:ln w="8890">
            <a:solidFill>
              <a:srgbClr val="D4E0EA"/>
            </a:solidFill>
            <a:prstDash val="solid"/>
          </a:ln>
          <a:effectLst>
            <a:outerShdw blurRad="63500" dist="25400" dir="8100000" algn="bl" rotWithShape="0">
              <a:srgbClr val="000000">
                <a:alpha val="10000"/>
              </a:srgbClr>
            </a:outerShdw>
          </a:effectLst>
        </p:spPr>
        <p:txBody>
          <a:bodyPr/>
          <a:lstStyle/>
          <a:p>
            <a:endParaRPr lang="en-IN"/>
          </a:p>
        </p:txBody>
      </p:sp>
      <p:sp>
        <p:nvSpPr>
          <p:cNvPr id="13" name="Shape 11"/>
          <p:cNvSpPr/>
          <p:nvPr/>
        </p:nvSpPr>
        <p:spPr>
          <a:xfrm>
            <a:off x="4663440" y="2423160"/>
            <a:ext cx="4023360" cy="365760"/>
          </a:xfrm>
          <a:prstGeom prst="rect">
            <a:avLst/>
          </a:prstGeom>
          <a:solidFill>
            <a:srgbClr val="2C4A5A"/>
          </a:solidFill>
          <a:ln/>
        </p:spPr>
        <p:txBody>
          <a:bodyPr/>
          <a:lstStyle/>
          <a:p>
            <a:endParaRPr lang="en-IN"/>
          </a:p>
        </p:txBody>
      </p:sp>
      <p:sp>
        <p:nvSpPr>
          <p:cNvPr id="14" name="Text 12"/>
          <p:cNvSpPr/>
          <p:nvPr/>
        </p:nvSpPr>
        <p:spPr>
          <a:xfrm>
            <a:off x="4663440" y="2423160"/>
            <a:ext cx="40233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Training Process</a:t>
            </a:r>
            <a:endParaRPr lang="en-US" sz="1400" dirty="0"/>
          </a:p>
        </p:txBody>
      </p:sp>
      <p:sp>
        <p:nvSpPr>
          <p:cNvPr id="15" name="Text 13"/>
          <p:cNvSpPr/>
          <p:nvPr/>
        </p:nvSpPr>
        <p:spPr>
          <a:xfrm>
            <a:off x="4754880" y="2880360"/>
            <a:ext cx="3840480" cy="1874520"/>
          </a:xfrm>
          <a:prstGeom prst="rect">
            <a:avLst/>
          </a:prstGeom>
          <a:noFill/>
          <a:ln/>
        </p:spPr>
        <p:txBody>
          <a:bodyPr wrap="square" lIns="25400" tIns="25400" rIns="25400" bIns="25400" rtlCol="0" anchor="t"/>
          <a:lstStyle/>
          <a:p>
            <a:pPr marL="0" indent="0" algn="l">
              <a:buNone/>
            </a:pPr>
            <a:r>
              <a:rPr lang="en-US" sz="1250" b="1" dirty="0">
                <a:solidFill>
                  <a:srgbClr val="3D5166"/>
                </a:solidFill>
                <a:latin typeface="Calibri" pitchFamily="34" charset="0"/>
                <a:ea typeface="Calibri" pitchFamily="34" charset="-122"/>
                <a:cs typeface="Calibri" pitchFamily="34" charset="-120"/>
              </a:rPr>
              <a:t>model.fit(matrix_train, epochs=10)
</a:t>
            </a:r>
            <a:r>
              <a:rPr lang="en-US" sz="1250" dirty="0">
                <a:solidFill>
                  <a:srgbClr val="3D5166"/>
                </a:solidFill>
                <a:latin typeface="Calibri" pitchFamily="34" charset="0"/>
                <a:ea typeface="Calibri" pitchFamily="34" charset="-122"/>
                <a:cs typeface="Calibri" pitchFamily="34" charset="-120"/>
              </a:rPr>
              <a:t>•  10 passes over all training interactions
•  Adagrad: adaptive per-parameter learning rate
•  After training:
     user_embeddings  →  shape: (n_users × 10)
     item_embeddings  →  shape: (n_items × 10)
•  n_components = 10 latent dimensions (default)</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D3D"/>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2A8C82"/>
          </a:solidFill>
          <a:ln/>
        </p:spPr>
        <p:txBody>
          <a:bodyPr/>
          <a:lstStyle/>
          <a:p>
            <a:endParaRPr lang="en-IN"/>
          </a:p>
        </p:txBody>
      </p:sp>
      <p:sp>
        <p:nvSpPr>
          <p:cNvPr id="3" name="Text 1"/>
          <p:cNvSpPr/>
          <p:nvPr/>
        </p:nvSpPr>
        <p:spPr>
          <a:xfrm>
            <a:off x="457200" y="228600"/>
            <a:ext cx="8503920" cy="640080"/>
          </a:xfrm>
          <a:prstGeom prst="rect">
            <a:avLst/>
          </a:prstGeom>
          <a:noFill/>
          <a:ln/>
        </p:spPr>
        <p:txBody>
          <a:bodyPr wrap="square" lIns="0" tIns="0" rIns="0" bIns="0"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Model 1: User-Based Collaborative Filtering</a:t>
            </a:r>
            <a:endParaRPr lang="en-US" sz="2800" dirty="0"/>
          </a:p>
        </p:txBody>
      </p:sp>
      <p:sp>
        <p:nvSpPr>
          <p:cNvPr id="4" name="Shape 2"/>
          <p:cNvSpPr/>
          <p:nvPr/>
        </p:nvSpPr>
        <p:spPr>
          <a:xfrm>
            <a:off x="457200" y="914400"/>
            <a:ext cx="8229600" cy="18288"/>
          </a:xfrm>
          <a:prstGeom prst="rect">
            <a:avLst/>
          </a:prstGeom>
          <a:solidFill>
            <a:srgbClr val="2A8C82"/>
          </a:solidFill>
          <a:ln/>
        </p:spPr>
        <p:txBody>
          <a:bodyPr/>
          <a:lstStyle/>
          <a:p>
            <a:endParaRPr lang="en-IN"/>
          </a:p>
        </p:txBody>
      </p:sp>
      <p:sp>
        <p:nvSpPr>
          <p:cNvPr id="5" name="Shape 3"/>
          <p:cNvSpPr/>
          <p:nvPr/>
        </p:nvSpPr>
        <p:spPr>
          <a:xfrm>
            <a:off x="411480" y="1051560"/>
            <a:ext cx="8321040" cy="777240"/>
          </a:xfrm>
          <a:prstGeom prst="rect">
            <a:avLst/>
          </a:prstGeom>
          <a:solidFill>
            <a:srgbClr val="2C4A5A"/>
          </a:solidFill>
          <a:ln w="8890">
            <a:solidFill>
              <a:srgbClr val="2A8C82"/>
            </a:solidFill>
            <a:prstDash val="solid"/>
          </a:ln>
          <a:effectLst>
            <a:outerShdw blurRad="63500" dist="25400" dir="8100000" algn="bl" rotWithShape="0">
              <a:srgbClr val="000000">
                <a:alpha val="10000"/>
              </a:srgbClr>
            </a:outerShdw>
          </a:effectLst>
        </p:spPr>
        <p:txBody>
          <a:bodyPr/>
          <a:lstStyle/>
          <a:p>
            <a:endParaRPr lang="en-IN"/>
          </a:p>
        </p:txBody>
      </p:sp>
      <p:sp>
        <p:nvSpPr>
          <p:cNvPr id="6" name="Text 4"/>
          <p:cNvSpPr/>
          <p:nvPr/>
        </p:nvSpPr>
        <p:spPr>
          <a:xfrm>
            <a:off x="548640" y="1115568"/>
            <a:ext cx="1280160" cy="594360"/>
          </a:xfrm>
          <a:prstGeom prst="rect">
            <a:avLst/>
          </a:prstGeom>
          <a:noFill/>
          <a:ln/>
        </p:spPr>
        <p:txBody>
          <a:bodyPr wrap="square" lIns="0" tIns="0" rIns="0" bIns="0" rtlCol="0" anchor="ctr"/>
          <a:lstStyle/>
          <a:p>
            <a:pPr marL="0" indent="0" algn="l">
              <a:buNone/>
            </a:pPr>
            <a:r>
              <a:rPr lang="en-US" sz="1300" b="1" dirty="0">
                <a:solidFill>
                  <a:srgbClr val="4BB8AE"/>
                </a:solidFill>
                <a:latin typeface="Cambria" pitchFamily="34" charset="0"/>
                <a:ea typeface="Cambria" pitchFamily="34" charset="-122"/>
                <a:cs typeface="Cambria" pitchFamily="34" charset="-120"/>
              </a:rPr>
              <a:t>Core Idea:</a:t>
            </a:r>
            <a:endParaRPr lang="en-US" sz="1300" dirty="0"/>
          </a:p>
        </p:txBody>
      </p:sp>
      <p:sp>
        <p:nvSpPr>
          <p:cNvPr id="7" name="Text 5"/>
          <p:cNvSpPr/>
          <p:nvPr/>
        </p:nvSpPr>
        <p:spPr>
          <a:xfrm>
            <a:off x="1828800" y="1115568"/>
            <a:ext cx="6766560" cy="594360"/>
          </a:xfrm>
          <a:prstGeom prst="rect">
            <a:avLst/>
          </a:prstGeom>
          <a:noFill/>
          <a:ln/>
        </p:spPr>
        <p:txBody>
          <a:bodyPr wrap="square" lIns="0" tIns="0" rIns="0" bIns="0" rtlCol="0" anchor="ctr"/>
          <a:lstStyle/>
          <a:p>
            <a:pPr marL="0" indent="0" algn="l">
              <a:buNone/>
            </a:pPr>
            <a:r>
              <a:rPr lang="en-US" sz="1300" dirty="0">
                <a:solidFill>
                  <a:srgbClr val="D0E4EC"/>
                </a:solidFill>
                <a:latin typeface="Calibri" pitchFamily="34" charset="0"/>
                <a:ea typeface="Calibri" pitchFamily="34" charset="-122"/>
                <a:cs typeface="Calibri" pitchFamily="34" charset="-120"/>
              </a:rPr>
              <a:t>"Users who have agreed in the past tend to agree in the future." Recommend movies liked by the most similar users.</a:t>
            </a:r>
            <a:endParaRPr lang="en-US" sz="1300" dirty="0"/>
          </a:p>
        </p:txBody>
      </p:sp>
      <p:sp>
        <p:nvSpPr>
          <p:cNvPr id="8" name="Shape 6"/>
          <p:cNvSpPr/>
          <p:nvPr/>
        </p:nvSpPr>
        <p:spPr>
          <a:xfrm>
            <a:off x="411480" y="1965960"/>
            <a:ext cx="4754880" cy="1417320"/>
          </a:xfrm>
          <a:prstGeom prst="rect">
            <a:avLst/>
          </a:prstGeom>
          <a:solidFill>
            <a:srgbClr val="2C4A5A"/>
          </a:solidFill>
          <a:ln w="8890">
            <a:solidFill>
              <a:srgbClr val="2A8C82"/>
            </a:solidFill>
            <a:prstDash val="solid"/>
          </a:ln>
          <a:effectLst>
            <a:outerShdw blurRad="63500" dist="25400" dir="8100000" algn="bl" rotWithShape="0">
              <a:srgbClr val="000000">
                <a:alpha val="10000"/>
              </a:srgbClr>
            </a:outerShdw>
          </a:effectLst>
        </p:spPr>
        <p:txBody>
          <a:bodyPr/>
          <a:lstStyle/>
          <a:p>
            <a:endParaRPr lang="en-IN"/>
          </a:p>
        </p:txBody>
      </p:sp>
      <p:sp>
        <p:nvSpPr>
          <p:cNvPr id="9" name="Text 7"/>
          <p:cNvSpPr/>
          <p:nvPr/>
        </p:nvSpPr>
        <p:spPr>
          <a:xfrm>
            <a:off x="548640" y="2011680"/>
            <a:ext cx="4480560" cy="347472"/>
          </a:xfrm>
          <a:prstGeom prst="rect">
            <a:avLst/>
          </a:prstGeom>
          <a:noFill/>
          <a:ln/>
        </p:spPr>
        <p:txBody>
          <a:bodyPr wrap="square" lIns="0" tIns="0" rIns="0" bIns="0" rtlCol="0" anchor="ctr"/>
          <a:lstStyle/>
          <a:p>
            <a:pPr marL="0" indent="0" algn="l">
              <a:buNone/>
            </a:pPr>
            <a:r>
              <a:rPr lang="en-US" sz="1300" b="1" dirty="0">
                <a:solidFill>
                  <a:srgbClr val="4BB8AE"/>
                </a:solidFill>
                <a:latin typeface="Cambria" pitchFamily="34" charset="0"/>
                <a:ea typeface="Cambria" pitchFamily="34" charset="-122"/>
                <a:cs typeface="Cambria" pitchFamily="34" charset="-120"/>
              </a:rPr>
              <a:t>Adjusted Weighted Aggregation Formula</a:t>
            </a:r>
            <a:endParaRPr lang="en-US" sz="1300" dirty="0"/>
          </a:p>
        </p:txBody>
      </p:sp>
      <p:sp>
        <p:nvSpPr>
          <p:cNvPr id="10" name="Text 8"/>
          <p:cNvSpPr/>
          <p:nvPr/>
        </p:nvSpPr>
        <p:spPr>
          <a:xfrm>
            <a:off x="548640" y="2377440"/>
            <a:ext cx="448056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r̂(u,i) = r̄_u + Σ[sim(u,v)·(r_vi − r̄_v)] / Σ|sim(u,v)|</a:t>
            </a:r>
            <a:endParaRPr lang="en-US" sz="1300" dirty="0"/>
          </a:p>
        </p:txBody>
      </p:sp>
      <p:sp>
        <p:nvSpPr>
          <p:cNvPr id="11" name="Text 9"/>
          <p:cNvSpPr/>
          <p:nvPr/>
        </p:nvSpPr>
        <p:spPr>
          <a:xfrm>
            <a:off x="548640" y="2944368"/>
            <a:ext cx="4480560" cy="320040"/>
          </a:xfrm>
          <a:prstGeom prst="rect">
            <a:avLst/>
          </a:prstGeom>
          <a:noFill/>
          <a:ln/>
        </p:spPr>
        <p:txBody>
          <a:bodyPr wrap="square" lIns="0" tIns="0" rIns="0" bIns="0" rtlCol="0" anchor="ctr"/>
          <a:lstStyle/>
          <a:p>
            <a:pPr marL="0" indent="0" algn="ctr">
              <a:buNone/>
            </a:pPr>
            <a:r>
              <a:rPr lang="en-US" sz="1150" i="1" dirty="0">
                <a:solidFill>
                  <a:srgbClr val="AAC8D4"/>
                </a:solidFill>
                <a:latin typeface="Calibri" pitchFamily="34" charset="0"/>
                <a:ea typeface="Calibri" pitchFamily="34" charset="-122"/>
                <a:cs typeface="Calibri" pitchFamily="34" charset="-120"/>
              </a:rPr>
              <a:t>Subtracts neighbor mean to correct for rating bias</a:t>
            </a:r>
            <a:endParaRPr lang="en-US" sz="1150" dirty="0"/>
          </a:p>
        </p:txBody>
      </p:sp>
      <p:sp>
        <p:nvSpPr>
          <p:cNvPr id="12" name="Shape 10"/>
          <p:cNvSpPr/>
          <p:nvPr/>
        </p:nvSpPr>
        <p:spPr>
          <a:xfrm>
            <a:off x="5303520" y="1965960"/>
            <a:ext cx="3474720" cy="1417320"/>
          </a:xfrm>
          <a:prstGeom prst="rect">
            <a:avLst/>
          </a:prstGeom>
          <a:solidFill>
            <a:srgbClr val="2C4A5A"/>
          </a:solidFill>
          <a:ln w="8890">
            <a:solidFill>
              <a:srgbClr val="2A8C82"/>
            </a:solidFill>
            <a:prstDash val="solid"/>
          </a:ln>
          <a:effectLst>
            <a:outerShdw blurRad="63500" dist="25400" dir="8100000" algn="bl" rotWithShape="0">
              <a:srgbClr val="000000">
                <a:alpha val="10000"/>
              </a:srgbClr>
            </a:outerShdw>
          </a:effectLst>
        </p:spPr>
        <p:txBody>
          <a:bodyPr/>
          <a:lstStyle/>
          <a:p>
            <a:endParaRPr lang="en-IN"/>
          </a:p>
        </p:txBody>
      </p:sp>
      <p:sp>
        <p:nvSpPr>
          <p:cNvPr id="13" name="Text 11"/>
          <p:cNvSpPr/>
          <p:nvPr/>
        </p:nvSpPr>
        <p:spPr>
          <a:xfrm>
            <a:off x="5440680" y="2011680"/>
            <a:ext cx="3200400" cy="347472"/>
          </a:xfrm>
          <a:prstGeom prst="rect">
            <a:avLst/>
          </a:prstGeom>
          <a:noFill/>
          <a:ln/>
        </p:spPr>
        <p:txBody>
          <a:bodyPr wrap="square" lIns="0" tIns="0" rIns="0" bIns="0" rtlCol="0" anchor="ctr"/>
          <a:lstStyle/>
          <a:p>
            <a:pPr marL="0" indent="0" algn="l">
              <a:buNone/>
            </a:pPr>
            <a:r>
              <a:rPr lang="en-US" sz="1300" b="1" dirty="0">
                <a:solidFill>
                  <a:srgbClr val="4BB8AE"/>
                </a:solidFill>
                <a:latin typeface="Cambria" pitchFamily="34" charset="0"/>
                <a:ea typeface="Cambria" pitchFamily="34" charset="-122"/>
                <a:cs typeface="Cambria" pitchFamily="34" charset="-120"/>
              </a:rPr>
              <a:t>Why LightFM Embeddings?</a:t>
            </a:r>
            <a:endParaRPr lang="en-US" sz="1300" dirty="0"/>
          </a:p>
        </p:txBody>
      </p:sp>
      <p:sp>
        <p:nvSpPr>
          <p:cNvPr id="14" name="Text 12"/>
          <p:cNvSpPr/>
          <p:nvPr/>
        </p:nvSpPr>
        <p:spPr>
          <a:xfrm>
            <a:off x="5440680" y="2395728"/>
            <a:ext cx="3200400" cy="914400"/>
          </a:xfrm>
          <a:prstGeom prst="rect">
            <a:avLst/>
          </a:prstGeom>
          <a:noFill/>
          <a:ln/>
        </p:spPr>
        <p:txBody>
          <a:bodyPr wrap="square" lIns="25400" tIns="25400" rIns="25400" bIns="25400" rtlCol="0" anchor="t"/>
          <a:lstStyle/>
          <a:p>
            <a:pPr marL="0" indent="0" algn="l">
              <a:buNone/>
            </a:pPr>
            <a:r>
              <a:rPr lang="en-US" sz="1200" dirty="0">
                <a:solidFill>
                  <a:srgbClr val="D0E4EC"/>
                </a:solidFill>
                <a:latin typeface="Calibri" pitchFamily="34" charset="0"/>
                <a:ea typeface="Calibri" pitchFamily="34" charset="-122"/>
                <a:cs typeface="Calibri" pitchFamily="34" charset="-120"/>
              </a:rPr>
              <a:t>Raw rating vectors are sparse — two users with no common ratings get similarity = 0
</a:t>
            </a:r>
            <a:r>
              <a:rPr lang="en-US" sz="1200" b="1" dirty="0">
                <a:solidFill>
                  <a:srgbClr val="D0E4EC"/>
                </a:solidFill>
                <a:latin typeface="Calibri" pitchFamily="34" charset="0"/>
                <a:ea typeface="Calibri" pitchFamily="34" charset="-122"/>
                <a:cs typeface="Calibri" pitchFamily="34" charset="-120"/>
              </a:rPr>
              <a:t>LightFM embeddings are dense → similarity always computable</a:t>
            </a:r>
            <a:endParaRPr lang="en-US" sz="1200" dirty="0"/>
          </a:p>
        </p:txBody>
      </p:sp>
      <p:sp>
        <p:nvSpPr>
          <p:cNvPr id="15" name="Text 13"/>
          <p:cNvSpPr/>
          <p:nvPr/>
        </p:nvSpPr>
        <p:spPr>
          <a:xfrm>
            <a:off x="411480" y="3520440"/>
            <a:ext cx="8321040" cy="347472"/>
          </a:xfrm>
          <a:prstGeom prst="rect">
            <a:avLst/>
          </a:prstGeom>
          <a:noFill/>
          <a:ln/>
        </p:spPr>
        <p:txBody>
          <a:bodyPr wrap="square" lIns="0" tIns="0" rIns="0" bIns="0" rtlCol="0" anchor="ctr"/>
          <a:lstStyle/>
          <a:p>
            <a:pPr marL="0" indent="0" algn="l">
              <a:buNone/>
            </a:pPr>
            <a:r>
              <a:rPr lang="en-US" sz="1300" b="1" dirty="0">
                <a:solidFill>
                  <a:srgbClr val="4BB8AE"/>
                </a:solidFill>
                <a:latin typeface="Cambria" pitchFamily="34" charset="0"/>
                <a:ea typeface="Cambria" pitchFamily="34" charset="-122"/>
                <a:cs typeface="Cambria" pitchFamily="34" charset="-120"/>
              </a:rPr>
              <a:t>Implementation Steps</a:t>
            </a:r>
            <a:endParaRPr lang="en-US" sz="1300" dirty="0"/>
          </a:p>
        </p:txBody>
      </p:sp>
      <p:sp>
        <p:nvSpPr>
          <p:cNvPr id="16" name="Shape 14"/>
          <p:cNvSpPr/>
          <p:nvPr/>
        </p:nvSpPr>
        <p:spPr>
          <a:xfrm>
            <a:off x="411480" y="3913632"/>
            <a:ext cx="292608" cy="384048"/>
          </a:xfrm>
          <a:prstGeom prst="rect">
            <a:avLst/>
          </a:prstGeom>
          <a:solidFill>
            <a:srgbClr val="2A8C82"/>
          </a:solidFill>
          <a:ln/>
        </p:spPr>
        <p:txBody>
          <a:bodyPr/>
          <a:lstStyle/>
          <a:p>
            <a:endParaRPr lang="en-IN"/>
          </a:p>
        </p:txBody>
      </p:sp>
      <p:sp>
        <p:nvSpPr>
          <p:cNvPr id="17" name="Text 15"/>
          <p:cNvSpPr/>
          <p:nvPr/>
        </p:nvSpPr>
        <p:spPr>
          <a:xfrm>
            <a:off x="411480" y="3913632"/>
            <a:ext cx="29260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8" name="Text 16"/>
          <p:cNvSpPr/>
          <p:nvPr/>
        </p:nvSpPr>
        <p:spPr>
          <a:xfrm>
            <a:off x="777240" y="3941064"/>
            <a:ext cx="2377440" cy="347472"/>
          </a:xfrm>
          <a:prstGeom prst="rect">
            <a:avLst/>
          </a:prstGeom>
          <a:noFill/>
          <a:ln/>
        </p:spPr>
        <p:txBody>
          <a:bodyPr wrap="square" lIns="0" tIns="0" rIns="0" bIns="0" rtlCol="0" anchor="ctr"/>
          <a:lstStyle/>
          <a:p>
            <a:pPr marL="0" indent="0" algn="l">
              <a:buNone/>
            </a:pPr>
            <a:r>
              <a:rPr lang="en-US" sz="1150" dirty="0">
                <a:solidFill>
                  <a:srgbClr val="D0E4EC"/>
                </a:solidFill>
                <a:latin typeface="Calibri" pitchFamily="34" charset="0"/>
                <a:ea typeface="Calibri" pitchFamily="34" charset="-122"/>
                <a:cs typeface="Calibri" pitchFamily="34" charset="-120"/>
              </a:rPr>
              <a:t>Train LightFM (logistic, 10 epochs) → user_embeddings</a:t>
            </a:r>
            <a:endParaRPr lang="en-US" sz="1150" dirty="0"/>
          </a:p>
        </p:txBody>
      </p:sp>
      <p:sp>
        <p:nvSpPr>
          <p:cNvPr id="19" name="Shape 17"/>
          <p:cNvSpPr/>
          <p:nvPr/>
        </p:nvSpPr>
        <p:spPr>
          <a:xfrm>
            <a:off x="3246120" y="3913632"/>
            <a:ext cx="292608" cy="384048"/>
          </a:xfrm>
          <a:prstGeom prst="rect">
            <a:avLst/>
          </a:prstGeom>
          <a:solidFill>
            <a:srgbClr val="2A8C82"/>
          </a:solidFill>
          <a:ln/>
        </p:spPr>
        <p:txBody>
          <a:bodyPr/>
          <a:lstStyle/>
          <a:p>
            <a:endParaRPr lang="en-IN"/>
          </a:p>
        </p:txBody>
      </p:sp>
      <p:sp>
        <p:nvSpPr>
          <p:cNvPr id="20" name="Text 18"/>
          <p:cNvSpPr/>
          <p:nvPr/>
        </p:nvSpPr>
        <p:spPr>
          <a:xfrm>
            <a:off x="3246120" y="3913632"/>
            <a:ext cx="29260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21" name="Text 19"/>
          <p:cNvSpPr/>
          <p:nvPr/>
        </p:nvSpPr>
        <p:spPr>
          <a:xfrm>
            <a:off x="3611880" y="3941064"/>
            <a:ext cx="2377440" cy="347472"/>
          </a:xfrm>
          <a:prstGeom prst="rect">
            <a:avLst/>
          </a:prstGeom>
          <a:noFill/>
          <a:ln/>
        </p:spPr>
        <p:txBody>
          <a:bodyPr wrap="square" lIns="0" tIns="0" rIns="0" bIns="0" rtlCol="0" anchor="ctr"/>
          <a:lstStyle/>
          <a:p>
            <a:pPr marL="0" indent="0" algn="l">
              <a:buNone/>
            </a:pPr>
            <a:r>
              <a:rPr lang="en-US" sz="1150" dirty="0">
                <a:solidFill>
                  <a:srgbClr val="D0E4EC"/>
                </a:solidFill>
                <a:latin typeface="Calibri" pitchFamily="34" charset="0"/>
                <a:ea typeface="Calibri" pitchFamily="34" charset="-122"/>
                <a:cs typeface="Calibri" pitchFamily="34" charset="-120"/>
              </a:rPr>
              <a:t>Compute pairwise cosine similarity (all users)</a:t>
            </a:r>
            <a:endParaRPr lang="en-US" sz="1150" dirty="0"/>
          </a:p>
        </p:txBody>
      </p:sp>
      <p:sp>
        <p:nvSpPr>
          <p:cNvPr id="22" name="Shape 20"/>
          <p:cNvSpPr/>
          <p:nvPr/>
        </p:nvSpPr>
        <p:spPr>
          <a:xfrm>
            <a:off x="6080760" y="3913632"/>
            <a:ext cx="292608" cy="384048"/>
          </a:xfrm>
          <a:prstGeom prst="rect">
            <a:avLst/>
          </a:prstGeom>
          <a:solidFill>
            <a:srgbClr val="2A8C82"/>
          </a:solidFill>
          <a:ln/>
        </p:spPr>
        <p:txBody>
          <a:bodyPr/>
          <a:lstStyle/>
          <a:p>
            <a:endParaRPr lang="en-IN"/>
          </a:p>
        </p:txBody>
      </p:sp>
      <p:sp>
        <p:nvSpPr>
          <p:cNvPr id="23" name="Text 21"/>
          <p:cNvSpPr/>
          <p:nvPr/>
        </p:nvSpPr>
        <p:spPr>
          <a:xfrm>
            <a:off x="6080760" y="3913632"/>
            <a:ext cx="29260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4" name="Text 22"/>
          <p:cNvSpPr/>
          <p:nvPr/>
        </p:nvSpPr>
        <p:spPr>
          <a:xfrm>
            <a:off x="6446520" y="3941064"/>
            <a:ext cx="2377440" cy="347472"/>
          </a:xfrm>
          <a:prstGeom prst="rect">
            <a:avLst/>
          </a:prstGeom>
          <a:noFill/>
          <a:ln/>
        </p:spPr>
        <p:txBody>
          <a:bodyPr wrap="square" lIns="0" tIns="0" rIns="0" bIns="0" rtlCol="0" anchor="ctr"/>
          <a:lstStyle/>
          <a:p>
            <a:pPr marL="0" indent="0" algn="l">
              <a:buNone/>
            </a:pPr>
            <a:r>
              <a:rPr lang="en-US" sz="1150" dirty="0">
                <a:solidFill>
                  <a:srgbClr val="D0E4EC"/>
                </a:solidFill>
                <a:latin typeface="Calibri" pitchFamily="34" charset="0"/>
                <a:ea typeface="Calibri" pitchFamily="34" charset="-122"/>
                <a:cs typeface="Calibri" pitchFamily="34" charset="-120"/>
              </a:rPr>
              <a:t>Find top-10 most similar users for active user</a:t>
            </a:r>
            <a:endParaRPr lang="en-US" sz="1150" dirty="0"/>
          </a:p>
        </p:txBody>
      </p:sp>
      <p:sp>
        <p:nvSpPr>
          <p:cNvPr id="25" name="Shape 23"/>
          <p:cNvSpPr/>
          <p:nvPr/>
        </p:nvSpPr>
        <p:spPr>
          <a:xfrm>
            <a:off x="411480" y="4462272"/>
            <a:ext cx="292608" cy="384048"/>
          </a:xfrm>
          <a:prstGeom prst="rect">
            <a:avLst/>
          </a:prstGeom>
          <a:solidFill>
            <a:srgbClr val="2A8C82"/>
          </a:solidFill>
          <a:ln/>
        </p:spPr>
        <p:txBody>
          <a:bodyPr/>
          <a:lstStyle/>
          <a:p>
            <a:endParaRPr lang="en-IN"/>
          </a:p>
        </p:txBody>
      </p:sp>
      <p:sp>
        <p:nvSpPr>
          <p:cNvPr id="26" name="Text 24"/>
          <p:cNvSpPr/>
          <p:nvPr/>
        </p:nvSpPr>
        <p:spPr>
          <a:xfrm>
            <a:off x="411480" y="4462272"/>
            <a:ext cx="29260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7" name="Text 25"/>
          <p:cNvSpPr/>
          <p:nvPr/>
        </p:nvSpPr>
        <p:spPr>
          <a:xfrm>
            <a:off x="777240" y="4489704"/>
            <a:ext cx="2377440" cy="347472"/>
          </a:xfrm>
          <a:prstGeom prst="rect">
            <a:avLst/>
          </a:prstGeom>
          <a:noFill/>
          <a:ln/>
        </p:spPr>
        <p:txBody>
          <a:bodyPr wrap="square" lIns="0" tIns="0" rIns="0" bIns="0" rtlCol="0" anchor="ctr"/>
          <a:lstStyle/>
          <a:p>
            <a:pPr marL="0" indent="0" algn="l">
              <a:buNone/>
            </a:pPr>
            <a:r>
              <a:rPr lang="en-US" sz="1150" dirty="0">
                <a:solidFill>
                  <a:srgbClr val="D0E4EC"/>
                </a:solidFill>
                <a:latin typeface="Calibri" pitchFamily="34" charset="0"/>
                <a:ea typeface="Calibri" pitchFamily="34" charset="-122"/>
                <a:cs typeface="Calibri" pitchFamily="34" charset="-120"/>
              </a:rPr>
              <a:t>Apply Adjusted Weighted Aggregation formula</a:t>
            </a:r>
            <a:endParaRPr lang="en-US" sz="1150" dirty="0"/>
          </a:p>
        </p:txBody>
      </p:sp>
      <p:sp>
        <p:nvSpPr>
          <p:cNvPr id="28" name="Shape 26"/>
          <p:cNvSpPr/>
          <p:nvPr/>
        </p:nvSpPr>
        <p:spPr>
          <a:xfrm>
            <a:off x="3246120" y="4462272"/>
            <a:ext cx="292608" cy="384048"/>
          </a:xfrm>
          <a:prstGeom prst="rect">
            <a:avLst/>
          </a:prstGeom>
          <a:solidFill>
            <a:srgbClr val="2A8C82"/>
          </a:solidFill>
          <a:ln/>
        </p:spPr>
        <p:txBody>
          <a:bodyPr/>
          <a:lstStyle/>
          <a:p>
            <a:endParaRPr lang="en-IN"/>
          </a:p>
        </p:txBody>
      </p:sp>
      <p:sp>
        <p:nvSpPr>
          <p:cNvPr id="29" name="Text 27"/>
          <p:cNvSpPr/>
          <p:nvPr/>
        </p:nvSpPr>
        <p:spPr>
          <a:xfrm>
            <a:off x="3246120" y="4462272"/>
            <a:ext cx="29260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30" name="Text 28"/>
          <p:cNvSpPr/>
          <p:nvPr/>
        </p:nvSpPr>
        <p:spPr>
          <a:xfrm>
            <a:off x="3611880" y="4489704"/>
            <a:ext cx="2377440" cy="347472"/>
          </a:xfrm>
          <a:prstGeom prst="rect">
            <a:avLst/>
          </a:prstGeom>
          <a:noFill/>
          <a:ln/>
        </p:spPr>
        <p:txBody>
          <a:bodyPr wrap="square" lIns="0" tIns="0" rIns="0" bIns="0" rtlCol="0" anchor="ctr"/>
          <a:lstStyle/>
          <a:p>
            <a:pPr marL="0" indent="0" algn="l">
              <a:buNone/>
            </a:pPr>
            <a:r>
              <a:rPr lang="en-US" sz="1150" dirty="0">
                <a:solidFill>
                  <a:srgbClr val="D0E4EC"/>
                </a:solidFill>
                <a:latin typeface="Calibri" pitchFamily="34" charset="0"/>
                <a:ea typeface="Calibri" pitchFamily="34" charset="-122"/>
                <a:cs typeface="Calibri" pitchFamily="34" charset="-120"/>
              </a:rPr>
              <a:t>Filter seen items → return top-5 recommendations</a:t>
            </a:r>
            <a:endParaRPr lang="en-US" sz="1150" dirty="0"/>
          </a:p>
        </p:txBody>
      </p:sp>
      <p:sp>
        <p:nvSpPr>
          <p:cNvPr id="31" name="Shape 29"/>
          <p:cNvSpPr/>
          <p:nvPr/>
        </p:nvSpPr>
        <p:spPr>
          <a:xfrm>
            <a:off x="6080760" y="4462272"/>
            <a:ext cx="292608" cy="384048"/>
          </a:xfrm>
          <a:prstGeom prst="rect">
            <a:avLst/>
          </a:prstGeom>
          <a:solidFill>
            <a:srgbClr val="2A8C82"/>
          </a:solidFill>
          <a:ln/>
        </p:spPr>
        <p:txBody>
          <a:bodyPr/>
          <a:lstStyle/>
          <a:p>
            <a:endParaRPr lang="en-IN"/>
          </a:p>
        </p:txBody>
      </p:sp>
      <p:sp>
        <p:nvSpPr>
          <p:cNvPr id="32" name="Text 30"/>
          <p:cNvSpPr/>
          <p:nvPr/>
        </p:nvSpPr>
        <p:spPr>
          <a:xfrm>
            <a:off x="6080760" y="4462272"/>
            <a:ext cx="29260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33" name="Text 31"/>
          <p:cNvSpPr/>
          <p:nvPr/>
        </p:nvSpPr>
        <p:spPr>
          <a:xfrm>
            <a:off x="6446520" y="4489704"/>
            <a:ext cx="2377440" cy="347472"/>
          </a:xfrm>
          <a:prstGeom prst="rect">
            <a:avLst/>
          </a:prstGeom>
          <a:noFill/>
          <a:ln/>
        </p:spPr>
        <p:txBody>
          <a:bodyPr wrap="square" lIns="0" tIns="0" rIns="0" bIns="0" rtlCol="0" anchor="ctr"/>
          <a:lstStyle/>
          <a:p>
            <a:pPr marL="0" indent="0" algn="l">
              <a:buNone/>
            </a:pPr>
            <a:r>
              <a:rPr lang="en-US" sz="1150" dirty="0">
                <a:solidFill>
                  <a:srgbClr val="D0E4EC"/>
                </a:solidFill>
                <a:latin typeface="Calibri" pitchFamily="34" charset="0"/>
                <a:ea typeface="Calibri" pitchFamily="34" charset="-122"/>
                <a:cs typeface="Calibri" pitchFamily="34" charset="-120"/>
              </a:rPr>
              <a:t>Evaluate: Precision@10 &amp; Recall@10 on test set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9"/>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A8C82"/>
          </a:solidFill>
          <a:ln/>
        </p:spPr>
        <p:txBody>
          <a:bodyPr/>
          <a:lstStyle/>
          <a:p>
            <a:endParaRPr lang="en-IN"/>
          </a:p>
        </p:txBody>
      </p:sp>
      <p:sp>
        <p:nvSpPr>
          <p:cNvPr id="3" name="Text 1"/>
          <p:cNvSpPr/>
          <p:nvPr/>
        </p:nvSpPr>
        <p:spPr>
          <a:xfrm>
            <a:off x="411480" y="201168"/>
            <a:ext cx="8503920" cy="594360"/>
          </a:xfrm>
          <a:prstGeom prst="rect">
            <a:avLst/>
          </a:prstGeom>
          <a:noFill/>
          <a:ln/>
        </p:spPr>
        <p:txBody>
          <a:bodyPr wrap="square" lIns="0" tIns="0" rIns="0" bIns="0" rtlCol="0" anchor="ctr"/>
          <a:lstStyle/>
          <a:p>
            <a:pPr marL="0" indent="0" algn="l">
              <a:buNone/>
            </a:pPr>
            <a:r>
              <a:rPr lang="en-US" sz="2600" b="1" dirty="0">
                <a:solidFill>
                  <a:srgbClr val="1E2D3D"/>
                </a:solidFill>
                <a:latin typeface="Cambria" pitchFamily="34" charset="0"/>
                <a:ea typeface="Cambria" pitchFamily="34" charset="-122"/>
                <a:cs typeface="Cambria" pitchFamily="34" charset="-120"/>
              </a:rPr>
              <a:t>Model 2: Item-Based Collaborative Filtering</a:t>
            </a:r>
            <a:endParaRPr lang="en-US" sz="2600" dirty="0"/>
          </a:p>
        </p:txBody>
      </p:sp>
      <p:sp>
        <p:nvSpPr>
          <p:cNvPr id="4" name="Shape 2"/>
          <p:cNvSpPr/>
          <p:nvPr/>
        </p:nvSpPr>
        <p:spPr>
          <a:xfrm>
            <a:off x="411480" y="868680"/>
            <a:ext cx="8321040" cy="22860"/>
          </a:xfrm>
          <a:prstGeom prst="rect">
            <a:avLst/>
          </a:prstGeom>
          <a:solidFill>
            <a:srgbClr val="4BB8AE"/>
          </a:solidFill>
          <a:ln/>
        </p:spPr>
        <p:txBody>
          <a:bodyPr/>
          <a:lstStyle/>
          <a:p>
            <a:endParaRPr lang="en-IN"/>
          </a:p>
        </p:txBody>
      </p:sp>
      <p:sp>
        <p:nvSpPr>
          <p:cNvPr id="5" name="Shape 3"/>
          <p:cNvSpPr/>
          <p:nvPr/>
        </p:nvSpPr>
        <p:spPr>
          <a:xfrm>
            <a:off x="411480" y="1005840"/>
            <a:ext cx="8321040" cy="685800"/>
          </a:xfrm>
          <a:prstGeom prst="rect">
            <a:avLst/>
          </a:prstGeom>
          <a:solidFill>
            <a:srgbClr val="FFFFFF"/>
          </a:solidFill>
          <a:ln w="8890">
            <a:solidFill>
              <a:srgbClr val="D4E0EA"/>
            </a:solidFill>
            <a:prstDash val="solid"/>
          </a:ln>
          <a:effectLst>
            <a:outerShdw blurRad="63500" dist="25400" dir="8100000" algn="bl" rotWithShape="0">
              <a:srgbClr val="000000">
                <a:alpha val="10000"/>
              </a:srgbClr>
            </a:outerShdw>
          </a:effectLst>
        </p:spPr>
        <p:txBody>
          <a:bodyPr/>
          <a:lstStyle/>
          <a:p>
            <a:endParaRPr lang="en-IN"/>
          </a:p>
        </p:txBody>
      </p:sp>
      <p:sp>
        <p:nvSpPr>
          <p:cNvPr id="6" name="Text 4"/>
          <p:cNvSpPr/>
          <p:nvPr/>
        </p:nvSpPr>
        <p:spPr>
          <a:xfrm>
            <a:off x="548640" y="1051560"/>
            <a:ext cx="1188720" cy="548640"/>
          </a:xfrm>
          <a:prstGeom prst="rect">
            <a:avLst/>
          </a:prstGeom>
          <a:noFill/>
          <a:ln/>
        </p:spPr>
        <p:txBody>
          <a:bodyPr wrap="square" lIns="0" tIns="0" rIns="0" bIns="0" rtlCol="0" anchor="ctr"/>
          <a:lstStyle/>
          <a:p>
            <a:pPr marL="0" indent="0" algn="l">
              <a:buNone/>
            </a:pPr>
            <a:r>
              <a:rPr lang="en-US" sz="1300" b="1" dirty="0">
                <a:solidFill>
                  <a:srgbClr val="2A8C82"/>
                </a:solidFill>
                <a:latin typeface="Cambria" pitchFamily="34" charset="0"/>
                <a:ea typeface="Cambria" pitchFamily="34" charset="-122"/>
                <a:cs typeface="Cambria" pitchFamily="34" charset="-120"/>
              </a:rPr>
              <a:t>Core Idea:</a:t>
            </a:r>
            <a:endParaRPr lang="en-US" sz="1300" dirty="0"/>
          </a:p>
        </p:txBody>
      </p:sp>
      <p:sp>
        <p:nvSpPr>
          <p:cNvPr id="7" name="Text 5"/>
          <p:cNvSpPr/>
          <p:nvPr/>
        </p:nvSpPr>
        <p:spPr>
          <a:xfrm>
            <a:off x="1691640" y="1078992"/>
            <a:ext cx="6858000" cy="548640"/>
          </a:xfrm>
          <a:prstGeom prst="rect">
            <a:avLst/>
          </a:prstGeom>
          <a:noFill/>
          <a:ln/>
        </p:spPr>
        <p:txBody>
          <a:bodyPr wrap="square" lIns="0" tIns="0" rIns="0" bIns="0" rtlCol="0" anchor="ctr"/>
          <a:lstStyle/>
          <a:p>
            <a:pPr marL="0" indent="0" algn="l">
              <a:buNone/>
            </a:pPr>
            <a:r>
              <a:rPr lang="en-US" sz="1300" dirty="0">
                <a:solidFill>
                  <a:srgbClr val="3D5166"/>
                </a:solidFill>
                <a:latin typeface="Calibri" pitchFamily="34" charset="0"/>
                <a:ea typeface="Calibri" pitchFamily="34" charset="-122"/>
                <a:cs typeface="Calibri" pitchFamily="34" charset="-120"/>
              </a:rPr>
              <a:t>"Items co-rated by the same users are similar." Find movies similar to what the user has already watched and liked.</a:t>
            </a:r>
            <a:endParaRPr lang="en-US" sz="1300" dirty="0"/>
          </a:p>
        </p:txBody>
      </p:sp>
      <p:sp>
        <p:nvSpPr>
          <p:cNvPr id="8" name="Shape 6"/>
          <p:cNvSpPr/>
          <p:nvPr/>
        </p:nvSpPr>
        <p:spPr>
          <a:xfrm>
            <a:off x="411480" y="1828800"/>
            <a:ext cx="4572000" cy="1280160"/>
          </a:xfrm>
          <a:prstGeom prst="rect">
            <a:avLst/>
          </a:prstGeom>
          <a:solidFill>
            <a:srgbClr val="FFFFFF"/>
          </a:solidFill>
          <a:ln w="8890">
            <a:solidFill>
              <a:srgbClr val="D4E0EA"/>
            </a:solidFill>
            <a:prstDash val="solid"/>
          </a:ln>
          <a:effectLst>
            <a:outerShdw blurRad="63500" dist="25400" dir="8100000" algn="bl" rotWithShape="0">
              <a:srgbClr val="000000">
                <a:alpha val="10000"/>
              </a:srgbClr>
            </a:outerShdw>
          </a:effectLst>
        </p:spPr>
        <p:txBody>
          <a:bodyPr/>
          <a:lstStyle/>
          <a:p>
            <a:endParaRPr lang="en-IN"/>
          </a:p>
        </p:txBody>
      </p:sp>
      <p:sp>
        <p:nvSpPr>
          <p:cNvPr id="9" name="Shape 7"/>
          <p:cNvSpPr/>
          <p:nvPr/>
        </p:nvSpPr>
        <p:spPr>
          <a:xfrm>
            <a:off x="411480" y="1828800"/>
            <a:ext cx="4572000" cy="347472"/>
          </a:xfrm>
          <a:prstGeom prst="rect">
            <a:avLst/>
          </a:prstGeom>
          <a:solidFill>
            <a:srgbClr val="2A8C82"/>
          </a:solidFill>
          <a:ln/>
        </p:spPr>
        <p:txBody>
          <a:bodyPr/>
          <a:lstStyle/>
          <a:p>
            <a:endParaRPr lang="en-IN"/>
          </a:p>
        </p:txBody>
      </p:sp>
      <p:sp>
        <p:nvSpPr>
          <p:cNvPr id="10" name="Text 8"/>
          <p:cNvSpPr/>
          <p:nvPr/>
        </p:nvSpPr>
        <p:spPr>
          <a:xfrm>
            <a:off x="411480" y="1828800"/>
            <a:ext cx="457200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Weighted Sum Formula</a:t>
            </a:r>
            <a:endParaRPr lang="en-US" sz="1300" dirty="0"/>
          </a:p>
        </p:txBody>
      </p:sp>
      <p:sp>
        <p:nvSpPr>
          <p:cNvPr id="11" name="Text 9"/>
          <p:cNvSpPr/>
          <p:nvPr/>
        </p:nvSpPr>
        <p:spPr>
          <a:xfrm>
            <a:off x="448056" y="1577341"/>
            <a:ext cx="4389120" cy="1874520"/>
          </a:xfrm>
          <a:prstGeom prst="rect">
            <a:avLst/>
          </a:prstGeom>
          <a:noFill/>
          <a:ln/>
        </p:spPr>
        <p:txBody>
          <a:bodyPr wrap="square" lIns="0" tIns="0" rIns="0" bIns="0" rtlCol="0" anchor="ctr"/>
          <a:lstStyle/>
          <a:p>
            <a:pPr algn="ctr"/>
            <a:r>
              <a:rPr lang="en-US" sz="1600" b="1" dirty="0">
                <a:latin typeface="Consolas" pitchFamily="34" charset="0"/>
                <a:ea typeface="Consolas" pitchFamily="34" charset="-122"/>
                <a:cs typeface="Consolas" pitchFamily="34" charset="-120"/>
              </a:rPr>
              <a:t>r̂(</a:t>
            </a:r>
            <a:r>
              <a:rPr lang="en-US" sz="1600" b="1" dirty="0" err="1">
                <a:latin typeface="Consolas" pitchFamily="34" charset="0"/>
                <a:ea typeface="Consolas" pitchFamily="34" charset="-122"/>
                <a:cs typeface="Consolas" pitchFamily="34" charset="-120"/>
              </a:rPr>
              <a:t>u,i</a:t>
            </a:r>
            <a:r>
              <a:rPr lang="en-US" sz="1600" b="1" dirty="0">
                <a:latin typeface="Consolas" pitchFamily="34" charset="0"/>
                <a:ea typeface="Consolas" pitchFamily="34" charset="-122"/>
                <a:cs typeface="Consolas" pitchFamily="34" charset="-120"/>
              </a:rPr>
              <a:t>) = r̄_</a:t>
            </a:r>
            <a:r>
              <a:rPr lang="en-US" sz="1600" b="1" dirty="0" err="1">
                <a:latin typeface="Consolas" pitchFamily="34" charset="0"/>
                <a:ea typeface="Consolas" pitchFamily="34" charset="-122"/>
                <a:cs typeface="Consolas" pitchFamily="34" charset="-120"/>
              </a:rPr>
              <a:t>i</a:t>
            </a:r>
            <a:r>
              <a:rPr lang="en-US" sz="1600" b="1" dirty="0">
                <a:latin typeface="Consolas" pitchFamily="34" charset="0"/>
                <a:ea typeface="Consolas" pitchFamily="34" charset="-122"/>
                <a:cs typeface="Consolas" pitchFamily="34" charset="-120"/>
              </a:rPr>
              <a:t> + Σ[sim(i,j)·(</a:t>
            </a:r>
            <a:r>
              <a:rPr lang="en-US" sz="1600" b="1" dirty="0" err="1">
                <a:latin typeface="Consolas" pitchFamily="34" charset="0"/>
                <a:ea typeface="Consolas" pitchFamily="34" charset="-122"/>
                <a:cs typeface="Consolas" pitchFamily="34" charset="-120"/>
              </a:rPr>
              <a:t>r_uj</a:t>
            </a:r>
            <a:r>
              <a:rPr lang="en-US" sz="1600" b="1" dirty="0">
                <a:latin typeface="Consolas" pitchFamily="34" charset="0"/>
                <a:ea typeface="Consolas" pitchFamily="34" charset="-122"/>
                <a:cs typeface="Consolas" pitchFamily="34" charset="-120"/>
              </a:rPr>
              <a:t> − </a:t>
            </a:r>
            <a:r>
              <a:rPr lang="en-US" sz="1600" b="1" dirty="0" err="1">
                <a:latin typeface="Consolas" pitchFamily="34" charset="0"/>
                <a:ea typeface="Consolas" pitchFamily="34" charset="-122"/>
                <a:cs typeface="Consolas" pitchFamily="34" charset="-120"/>
              </a:rPr>
              <a:t>r̄_u</a:t>
            </a:r>
            <a:r>
              <a:rPr lang="en-US" sz="1600" b="1" dirty="0">
                <a:latin typeface="Consolas" pitchFamily="34" charset="0"/>
                <a:ea typeface="Consolas" pitchFamily="34" charset="-122"/>
                <a:cs typeface="Consolas" pitchFamily="34" charset="-120"/>
              </a:rPr>
              <a:t>)] / </a:t>
            </a:r>
            <a:r>
              <a:rPr lang="en-US" sz="1600" b="1" dirty="0" err="1">
                <a:latin typeface="Consolas" pitchFamily="34" charset="0"/>
                <a:ea typeface="Consolas" pitchFamily="34" charset="-122"/>
                <a:cs typeface="Consolas" pitchFamily="34" charset="-120"/>
              </a:rPr>
              <a:t>Σ|sim</a:t>
            </a:r>
            <a:r>
              <a:rPr lang="en-US" sz="1600" b="1" dirty="0">
                <a:latin typeface="Consolas" pitchFamily="34" charset="0"/>
                <a:ea typeface="Consolas" pitchFamily="34" charset="-122"/>
                <a:cs typeface="Consolas" pitchFamily="34" charset="-120"/>
              </a:rPr>
              <a:t>(i,j)|</a:t>
            </a:r>
            <a:endParaRPr lang="en-US" sz="1600" dirty="0"/>
          </a:p>
        </p:txBody>
      </p:sp>
      <p:sp>
        <p:nvSpPr>
          <p:cNvPr id="12" name="Text 10"/>
          <p:cNvSpPr/>
          <p:nvPr/>
        </p:nvSpPr>
        <p:spPr>
          <a:xfrm>
            <a:off x="502920" y="2816352"/>
            <a:ext cx="4389120" cy="246888"/>
          </a:xfrm>
          <a:prstGeom prst="rect">
            <a:avLst/>
          </a:prstGeom>
          <a:noFill/>
          <a:ln/>
        </p:spPr>
        <p:txBody>
          <a:bodyPr wrap="square" lIns="0" tIns="0" rIns="0" bIns="0" rtlCol="0" anchor="ctr"/>
          <a:lstStyle/>
          <a:p>
            <a:pPr marL="0" indent="0" algn="ctr">
              <a:buNone/>
            </a:pPr>
            <a:endParaRPr lang="en-US" sz="1100" dirty="0"/>
          </a:p>
        </p:txBody>
      </p:sp>
      <p:sp>
        <p:nvSpPr>
          <p:cNvPr id="13" name="Shape 11"/>
          <p:cNvSpPr/>
          <p:nvPr/>
        </p:nvSpPr>
        <p:spPr>
          <a:xfrm>
            <a:off x="5120640" y="1828800"/>
            <a:ext cx="3657600" cy="1444752"/>
          </a:xfrm>
          <a:prstGeom prst="rect">
            <a:avLst/>
          </a:prstGeom>
          <a:solidFill>
            <a:srgbClr val="FFFFFF"/>
          </a:solidFill>
          <a:ln w="8890">
            <a:solidFill>
              <a:srgbClr val="D4E0EA"/>
            </a:solidFill>
            <a:prstDash val="solid"/>
          </a:ln>
          <a:effectLst>
            <a:outerShdw blurRad="63500" dist="25400" dir="8100000" algn="bl" rotWithShape="0">
              <a:srgbClr val="000000">
                <a:alpha val="10000"/>
              </a:srgbClr>
            </a:outerShdw>
          </a:effectLst>
        </p:spPr>
        <p:txBody>
          <a:bodyPr/>
          <a:lstStyle/>
          <a:p>
            <a:endParaRPr lang="en-IN"/>
          </a:p>
        </p:txBody>
      </p:sp>
      <p:sp>
        <p:nvSpPr>
          <p:cNvPr id="14" name="Shape 12"/>
          <p:cNvSpPr/>
          <p:nvPr/>
        </p:nvSpPr>
        <p:spPr>
          <a:xfrm>
            <a:off x="5120640" y="1828800"/>
            <a:ext cx="3657600" cy="347472"/>
          </a:xfrm>
          <a:prstGeom prst="rect">
            <a:avLst/>
          </a:prstGeom>
          <a:solidFill>
            <a:srgbClr val="2C4A5A"/>
          </a:solidFill>
          <a:ln/>
        </p:spPr>
        <p:txBody>
          <a:bodyPr/>
          <a:lstStyle/>
          <a:p>
            <a:endParaRPr lang="en-IN"/>
          </a:p>
        </p:txBody>
      </p:sp>
      <p:sp>
        <p:nvSpPr>
          <p:cNvPr id="15" name="Text 13"/>
          <p:cNvSpPr/>
          <p:nvPr/>
        </p:nvSpPr>
        <p:spPr>
          <a:xfrm>
            <a:off x="5120640" y="1828800"/>
            <a:ext cx="365760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Key Advantage over UBCF</a:t>
            </a:r>
            <a:endParaRPr lang="en-US" sz="1300" dirty="0"/>
          </a:p>
        </p:txBody>
      </p:sp>
      <p:sp>
        <p:nvSpPr>
          <p:cNvPr id="16" name="Text 14"/>
          <p:cNvSpPr/>
          <p:nvPr/>
        </p:nvSpPr>
        <p:spPr>
          <a:xfrm>
            <a:off x="5212080" y="2240280"/>
            <a:ext cx="3474720" cy="822960"/>
          </a:xfrm>
          <a:prstGeom prst="rect">
            <a:avLst/>
          </a:prstGeom>
          <a:noFill/>
          <a:ln/>
        </p:spPr>
        <p:txBody>
          <a:bodyPr wrap="square" lIns="25400" tIns="25400" rIns="25400" bIns="25400" rtlCol="0" anchor="t"/>
          <a:lstStyle/>
          <a:p>
            <a:pPr marL="0" indent="0" algn="l">
              <a:buNone/>
            </a:pPr>
            <a:r>
              <a:rPr lang="en-US" sz="1200" dirty="0">
                <a:solidFill>
                  <a:srgbClr val="3D5166"/>
                </a:solidFill>
                <a:latin typeface="Calibri" pitchFamily="34" charset="0"/>
                <a:ea typeface="Calibri" pitchFamily="34" charset="-122"/>
                <a:cs typeface="Calibri" pitchFamily="34" charset="-120"/>
              </a:rPr>
              <a:t>•  Item preferences are more stable than user preferences
•  Items tend to have more ratings on average
•  Amazon uses IBCF for 'customers also bought'
•  Better scalability for large item catalogs</a:t>
            </a:r>
            <a:endParaRPr lang="en-US" sz="1200" dirty="0"/>
          </a:p>
        </p:txBody>
      </p:sp>
      <p:sp>
        <p:nvSpPr>
          <p:cNvPr id="17" name="Text 15"/>
          <p:cNvSpPr/>
          <p:nvPr/>
        </p:nvSpPr>
        <p:spPr>
          <a:xfrm>
            <a:off x="411480" y="3267067"/>
            <a:ext cx="8321040" cy="347472"/>
          </a:xfrm>
          <a:prstGeom prst="rect">
            <a:avLst/>
          </a:prstGeom>
          <a:noFill/>
          <a:ln/>
        </p:spPr>
        <p:txBody>
          <a:bodyPr wrap="square" lIns="0" tIns="0" rIns="0" bIns="0" rtlCol="0" anchor="ctr"/>
          <a:lstStyle/>
          <a:p>
            <a:pPr marL="0" indent="0" algn="l">
              <a:buNone/>
            </a:pPr>
            <a:r>
              <a:rPr lang="en-US" sz="1300" b="1" dirty="0">
                <a:solidFill>
                  <a:srgbClr val="1E2D3D"/>
                </a:solidFill>
                <a:latin typeface="Cambria" pitchFamily="34" charset="0"/>
                <a:ea typeface="Cambria" pitchFamily="34" charset="-122"/>
                <a:cs typeface="Cambria" pitchFamily="34" charset="-120"/>
              </a:rPr>
              <a:t>Implementation Steps</a:t>
            </a:r>
            <a:endParaRPr lang="en-US" sz="1300" dirty="0"/>
          </a:p>
        </p:txBody>
      </p:sp>
      <p:sp>
        <p:nvSpPr>
          <p:cNvPr id="18" name="Shape 16"/>
          <p:cNvSpPr/>
          <p:nvPr/>
        </p:nvSpPr>
        <p:spPr>
          <a:xfrm>
            <a:off x="411480" y="3703320"/>
            <a:ext cx="292608" cy="384048"/>
          </a:xfrm>
          <a:prstGeom prst="rect">
            <a:avLst/>
          </a:prstGeom>
          <a:solidFill>
            <a:srgbClr val="2A8C82"/>
          </a:solidFill>
          <a:ln/>
        </p:spPr>
        <p:txBody>
          <a:bodyPr/>
          <a:lstStyle/>
          <a:p>
            <a:endParaRPr lang="en-IN"/>
          </a:p>
        </p:txBody>
      </p:sp>
      <p:sp>
        <p:nvSpPr>
          <p:cNvPr id="19" name="Text 17"/>
          <p:cNvSpPr/>
          <p:nvPr/>
        </p:nvSpPr>
        <p:spPr>
          <a:xfrm>
            <a:off x="411480" y="3703320"/>
            <a:ext cx="29260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20" name="Text 18"/>
          <p:cNvSpPr/>
          <p:nvPr/>
        </p:nvSpPr>
        <p:spPr>
          <a:xfrm>
            <a:off x="777240" y="3730752"/>
            <a:ext cx="2377440" cy="347472"/>
          </a:xfrm>
          <a:prstGeom prst="rect">
            <a:avLst/>
          </a:prstGeom>
          <a:noFill/>
          <a:ln/>
        </p:spPr>
        <p:txBody>
          <a:bodyPr wrap="square" lIns="0" tIns="0" rIns="0" bIns="0" rtlCol="0" anchor="ctr"/>
          <a:lstStyle/>
          <a:p>
            <a:pPr marL="0" indent="0" algn="l">
              <a:buNone/>
            </a:pPr>
            <a:r>
              <a:rPr lang="en-US" sz="1150" dirty="0">
                <a:solidFill>
                  <a:srgbClr val="3D5166"/>
                </a:solidFill>
                <a:latin typeface="Calibri" pitchFamily="34" charset="0"/>
                <a:ea typeface="Calibri" pitchFamily="34" charset="-122"/>
                <a:cs typeface="Calibri" pitchFamily="34" charset="-120"/>
              </a:rPr>
              <a:t>Train LightFM → item_embeddings matrix</a:t>
            </a:r>
            <a:endParaRPr lang="en-US" sz="1150" dirty="0"/>
          </a:p>
        </p:txBody>
      </p:sp>
      <p:sp>
        <p:nvSpPr>
          <p:cNvPr id="21" name="Shape 19"/>
          <p:cNvSpPr/>
          <p:nvPr/>
        </p:nvSpPr>
        <p:spPr>
          <a:xfrm>
            <a:off x="3246120" y="3703320"/>
            <a:ext cx="292608" cy="384048"/>
          </a:xfrm>
          <a:prstGeom prst="rect">
            <a:avLst/>
          </a:prstGeom>
          <a:solidFill>
            <a:srgbClr val="2A8C82"/>
          </a:solidFill>
          <a:ln/>
        </p:spPr>
        <p:txBody>
          <a:bodyPr/>
          <a:lstStyle/>
          <a:p>
            <a:endParaRPr lang="en-IN"/>
          </a:p>
        </p:txBody>
      </p:sp>
      <p:sp>
        <p:nvSpPr>
          <p:cNvPr id="22" name="Text 20"/>
          <p:cNvSpPr/>
          <p:nvPr/>
        </p:nvSpPr>
        <p:spPr>
          <a:xfrm>
            <a:off x="3246120" y="3703320"/>
            <a:ext cx="29260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23" name="Text 21"/>
          <p:cNvSpPr/>
          <p:nvPr/>
        </p:nvSpPr>
        <p:spPr>
          <a:xfrm>
            <a:off x="3611880" y="3730752"/>
            <a:ext cx="2377440" cy="347472"/>
          </a:xfrm>
          <a:prstGeom prst="rect">
            <a:avLst/>
          </a:prstGeom>
          <a:noFill/>
          <a:ln/>
        </p:spPr>
        <p:txBody>
          <a:bodyPr wrap="square" lIns="0" tIns="0" rIns="0" bIns="0" rtlCol="0" anchor="ctr"/>
          <a:lstStyle/>
          <a:p>
            <a:pPr marL="0" indent="0" algn="l">
              <a:buNone/>
            </a:pPr>
            <a:r>
              <a:rPr lang="en-US" sz="1150" dirty="0">
                <a:solidFill>
                  <a:srgbClr val="3D5166"/>
                </a:solidFill>
                <a:latin typeface="Calibri" pitchFamily="34" charset="0"/>
                <a:ea typeface="Calibri" pitchFamily="34" charset="-122"/>
                <a:cs typeface="Calibri" pitchFamily="34" charset="-120"/>
              </a:rPr>
              <a:t>Cosine similarity between all item vectors</a:t>
            </a:r>
            <a:endParaRPr lang="en-US" sz="1150" dirty="0"/>
          </a:p>
        </p:txBody>
      </p:sp>
      <p:sp>
        <p:nvSpPr>
          <p:cNvPr id="24" name="Shape 22"/>
          <p:cNvSpPr/>
          <p:nvPr/>
        </p:nvSpPr>
        <p:spPr>
          <a:xfrm>
            <a:off x="6080760" y="3703320"/>
            <a:ext cx="292608" cy="384048"/>
          </a:xfrm>
          <a:prstGeom prst="rect">
            <a:avLst/>
          </a:prstGeom>
          <a:solidFill>
            <a:srgbClr val="2A8C82"/>
          </a:solidFill>
          <a:ln/>
        </p:spPr>
        <p:txBody>
          <a:bodyPr/>
          <a:lstStyle/>
          <a:p>
            <a:endParaRPr lang="en-IN"/>
          </a:p>
        </p:txBody>
      </p:sp>
      <p:sp>
        <p:nvSpPr>
          <p:cNvPr id="25" name="Text 23"/>
          <p:cNvSpPr/>
          <p:nvPr/>
        </p:nvSpPr>
        <p:spPr>
          <a:xfrm>
            <a:off x="6080760" y="3703320"/>
            <a:ext cx="29260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6" name="Text 24"/>
          <p:cNvSpPr/>
          <p:nvPr/>
        </p:nvSpPr>
        <p:spPr>
          <a:xfrm>
            <a:off x="6446520" y="3730752"/>
            <a:ext cx="2377440" cy="347472"/>
          </a:xfrm>
          <a:prstGeom prst="rect">
            <a:avLst/>
          </a:prstGeom>
          <a:noFill/>
          <a:ln/>
        </p:spPr>
        <p:txBody>
          <a:bodyPr wrap="square" lIns="0" tIns="0" rIns="0" bIns="0" rtlCol="0" anchor="ctr"/>
          <a:lstStyle/>
          <a:p>
            <a:pPr marL="0" indent="0" algn="l">
              <a:buNone/>
            </a:pPr>
            <a:r>
              <a:rPr lang="en-US" sz="1150" dirty="0">
                <a:solidFill>
                  <a:srgbClr val="3D5166"/>
                </a:solidFill>
                <a:latin typeface="Calibri" pitchFamily="34" charset="0"/>
                <a:ea typeface="Calibri" pitchFamily="34" charset="-122"/>
                <a:cs typeface="Calibri" pitchFamily="34" charset="-120"/>
              </a:rPr>
              <a:t>For each item user rated: find top-10 similar items</a:t>
            </a:r>
            <a:endParaRPr lang="en-US" sz="1150" dirty="0"/>
          </a:p>
        </p:txBody>
      </p:sp>
      <p:sp>
        <p:nvSpPr>
          <p:cNvPr id="27" name="Shape 25"/>
          <p:cNvSpPr/>
          <p:nvPr/>
        </p:nvSpPr>
        <p:spPr>
          <a:xfrm>
            <a:off x="411480" y="4251960"/>
            <a:ext cx="292608" cy="384048"/>
          </a:xfrm>
          <a:prstGeom prst="rect">
            <a:avLst/>
          </a:prstGeom>
          <a:solidFill>
            <a:srgbClr val="2A8C82"/>
          </a:solidFill>
          <a:ln/>
        </p:spPr>
        <p:txBody>
          <a:bodyPr/>
          <a:lstStyle/>
          <a:p>
            <a:endParaRPr lang="en-IN"/>
          </a:p>
        </p:txBody>
      </p:sp>
      <p:sp>
        <p:nvSpPr>
          <p:cNvPr id="28" name="Text 26"/>
          <p:cNvSpPr/>
          <p:nvPr/>
        </p:nvSpPr>
        <p:spPr>
          <a:xfrm>
            <a:off x="411480" y="4251960"/>
            <a:ext cx="29260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9" name="Text 27"/>
          <p:cNvSpPr/>
          <p:nvPr/>
        </p:nvSpPr>
        <p:spPr>
          <a:xfrm>
            <a:off x="777240" y="4279392"/>
            <a:ext cx="2377440" cy="347472"/>
          </a:xfrm>
          <a:prstGeom prst="rect">
            <a:avLst/>
          </a:prstGeom>
          <a:noFill/>
          <a:ln/>
        </p:spPr>
        <p:txBody>
          <a:bodyPr wrap="square" lIns="0" tIns="0" rIns="0" bIns="0" rtlCol="0" anchor="ctr"/>
          <a:lstStyle/>
          <a:p>
            <a:pPr marL="0" indent="0" algn="l">
              <a:buNone/>
            </a:pPr>
            <a:r>
              <a:rPr lang="en-US" sz="1150" dirty="0">
                <a:solidFill>
                  <a:srgbClr val="3D5166"/>
                </a:solidFill>
                <a:latin typeface="Calibri" pitchFamily="34" charset="0"/>
                <a:ea typeface="Calibri" pitchFamily="34" charset="-122"/>
                <a:cs typeface="Calibri" pitchFamily="34" charset="-120"/>
              </a:rPr>
              <a:t>Accumulate weighted scores for all candidates</a:t>
            </a:r>
            <a:endParaRPr lang="en-US" sz="1150" dirty="0"/>
          </a:p>
        </p:txBody>
      </p:sp>
      <p:sp>
        <p:nvSpPr>
          <p:cNvPr id="30" name="Shape 28"/>
          <p:cNvSpPr/>
          <p:nvPr/>
        </p:nvSpPr>
        <p:spPr>
          <a:xfrm>
            <a:off x="3246120" y="4251960"/>
            <a:ext cx="292608" cy="384048"/>
          </a:xfrm>
          <a:prstGeom prst="rect">
            <a:avLst/>
          </a:prstGeom>
          <a:solidFill>
            <a:srgbClr val="2A8C82"/>
          </a:solidFill>
          <a:ln/>
        </p:spPr>
        <p:txBody>
          <a:bodyPr/>
          <a:lstStyle/>
          <a:p>
            <a:endParaRPr lang="en-IN"/>
          </a:p>
        </p:txBody>
      </p:sp>
      <p:sp>
        <p:nvSpPr>
          <p:cNvPr id="31" name="Text 29"/>
          <p:cNvSpPr/>
          <p:nvPr/>
        </p:nvSpPr>
        <p:spPr>
          <a:xfrm>
            <a:off x="3246120" y="4251960"/>
            <a:ext cx="29260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32" name="Text 30"/>
          <p:cNvSpPr/>
          <p:nvPr/>
        </p:nvSpPr>
        <p:spPr>
          <a:xfrm>
            <a:off x="3611880" y="4279392"/>
            <a:ext cx="2377440" cy="347472"/>
          </a:xfrm>
          <a:prstGeom prst="rect">
            <a:avLst/>
          </a:prstGeom>
          <a:noFill/>
          <a:ln/>
        </p:spPr>
        <p:txBody>
          <a:bodyPr wrap="square" lIns="0" tIns="0" rIns="0" bIns="0" rtlCol="0" anchor="ctr"/>
          <a:lstStyle/>
          <a:p>
            <a:pPr marL="0" indent="0" algn="l">
              <a:buNone/>
            </a:pPr>
            <a:r>
              <a:rPr lang="en-US" sz="1150" dirty="0">
                <a:solidFill>
                  <a:srgbClr val="3D5166"/>
                </a:solidFill>
                <a:latin typeface="Calibri" pitchFamily="34" charset="0"/>
                <a:ea typeface="Calibri" pitchFamily="34" charset="-122"/>
                <a:cs typeface="Calibri" pitchFamily="34" charset="-120"/>
              </a:rPr>
              <a:t>Normalize by sum of similarities</a:t>
            </a:r>
            <a:endParaRPr lang="en-US" sz="1150" dirty="0"/>
          </a:p>
        </p:txBody>
      </p:sp>
      <p:sp>
        <p:nvSpPr>
          <p:cNvPr id="33" name="Shape 31"/>
          <p:cNvSpPr/>
          <p:nvPr/>
        </p:nvSpPr>
        <p:spPr>
          <a:xfrm>
            <a:off x="6080760" y="4251960"/>
            <a:ext cx="292608" cy="384048"/>
          </a:xfrm>
          <a:prstGeom prst="rect">
            <a:avLst/>
          </a:prstGeom>
          <a:solidFill>
            <a:srgbClr val="2A8C82"/>
          </a:solidFill>
          <a:ln/>
        </p:spPr>
        <p:txBody>
          <a:bodyPr/>
          <a:lstStyle/>
          <a:p>
            <a:endParaRPr lang="en-IN"/>
          </a:p>
        </p:txBody>
      </p:sp>
      <p:sp>
        <p:nvSpPr>
          <p:cNvPr id="34" name="Text 32"/>
          <p:cNvSpPr/>
          <p:nvPr/>
        </p:nvSpPr>
        <p:spPr>
          <a:xfrm>
            <a:off x="6080760" y="4251960"/>
            <a:ext cx="29260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35" name="Text 33"/>
          <p:cNvSpPr/>
          <p:nvPr/>
        </p:nvSpPr>
        <p:spPr>
          <a:xfrm>
            <a:off x="6446520" y="4279392"/>
            <a:ext cx="2377440" cy="347472"/>
          </a:xfrm>
          <a:prstGeom prst="rect">
            <a:avLst/>
          </a:prstGeom>
          <a:noFill/>
          <a:ln/>
        </p:spPr>
        <p:txBody>
          <a:bodyPr wrap="square" lIns="0" tIns="0" rIns="0" bIns="0" rtlCol="0" anchor="ctr"/>
          <a:lstStyle/>
          <a:p>
            <a:pPr marL="0" indent="0" algn="l">
              <a:buNone/>
            </a:pPr>
            <a:r>
              <a:rPr lang="en-US" sz="1150" dirty="0">
                <a:solidFill>
                  <a:srgbClr val="3D5166"/>
                </a:solidFill>
                <a:latin typeface="Calibri" pitchFamily="34" charset="0"/>
                <a:ea typeface="Calibri" pitchFamily="34" charset="-122"/>
                <a:cs typeface="Calibri" pitchFamily="34" charset="-120"/>
              </a:rPr>
              <a:t>Filter seen items → return top-5 recommendations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D3D"/>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2A8C82"/>
          </a:solidFill>
          <a:ln/>
        </p:spPr>
        <p:txBody>
          <a:bodyPr/>
          <a:lstStyle/>
          <a:p>
            <a:endParaRPr lang="en-IN"/>
          </a:p>
        </p:txBody>
      </p:sp>
      <p:sp>
        <p:nvSpPr>
          <p:cNvPr id="3" name="Text 1"/>
          <p:cNvSpPr/>
          <p:nvPr/>
        </p:nvSpPr>
        <p:spPr>
          <a:xfrm>
            <a:off x="457200" y="228600"/>
            <a:ext cx="8503920" cy="640080"/>
          </a:xfrm>
          <a:prstGeom prst="rect">
            <a:avLst/>
          </a:prstGeom>
          <a:noFill/>
          <a:ln/>
        </p:spPr>
        <p:txBody>
          <a:bodyPr wrap="square" lIns="0" tIns="0" rIns="0" bIns="0"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Model 3: Matrix Factorization</a:t>
            </a:r>
            <a:endParaRPr lang="en-US" sz="2800" dirty="0"/>
          </a:p>
        </p:txBody>
      </p:sp>
      <p:sp>
        <p:nvSpPr>
          <p:cNvPr id="4" name="Shape 2"/>
          <p:cNvSpPr/>
          <p:nvPr/>
        </p:nvSpPr>
        <p:spPr>
          <a:xfrm>
            <a:off x="457200" y="914400"/>
            <a:ext cx="8229600" cy="18288"/>
          </a:xfrm>
          <a:prstGeom prst="rect">
            <a:avLst/>
          </a:prstGeom>
          <a:solidFill>
            <a:srgbClr val="2A8C82"/>
          </a:solidFill>
          <a:ln/>
        </p:spPr>
        <p:txBody>
          <a:bodyPr/>
          <a:lstStyle/>
          <a:p>
            <a:endParaRPr lang="en-IN"/>
          </a:p>
        </p:txBody>
      </p:sp>
      <p:sp>
        <p:nvSpPr>
          <p:cNvPr id="5" name="Shape 3"/>
          <p:cNvSpPr/>
          <p:nvPr/>
        </p:nvSpPr>
        <p:spPr>
          <a:xfrm>
            <a:off x="411480" y="1051560"/>
            <a:ext cx="8321040" cy="685800"/>
          </a:xfrm>
          <a:prstGeom prst="rect">
            <a:avLst/>
          </a:prstGeom>
          <a:solidFill>
            <a:srgbClr val="2C4A5A"/>
          </a:solidFill>
          <a:ln w="8890">
            <a:solidFill>
              <a:srgbClr val="2A8C82"/>
            </a:solidFill>
            <a:prstDash val="solid"/>
          </a:ln>
          <a:effectLst>
            <a:outerShdw blurRad="63500" dist="25400" dir="8100000" algn="bl" rotWithShape="0">
              <a:srgbClr val="000000">
                <a:alpha val="10000"/>
              </a:srgbClr>
            </a:outerShdw>
          </a:effectLst>
        </p:spPr>
        <p:txBody>
          <a:bodyPr/>
          <a:lstStyle/>
          <a:p>
            <a:endParaRPr lang="en-IN"/>
          </a:p>
        </p:txBody>
      </p:sp>
      <p:sp>
        <p:nvSpPr>
          <p:cNvPr id="6" name="Text 4"/>
          <p:cNvSpPr/>
          <p:nvPr/>
        </p:nvSpPr>
        <p:spPr>
          <a:xfrm>
            <a:off x="548640" y="1115568"/>
            <a:ext cx="8046720" cy="548640"/>
          </a:xfrm>
          <a:prstGeom prst="rect">
            <a:avLst/>
          </a:prstGeom>
          <a:noFill/>
          <a:ln/>
        </p:spPr>
        <p:txBody>
          <a:bodyPr wrap="square" lIns="0" tIns="0" rIns="0" bIns="0" rtlCol="0" anchor="ctr"/>
          <a:lstStyle/>
          <a:p>
            <a:pPr marL="0" indent="0" algn="l">
              <a:buNone/>
            </a:pPr>
            <a:r>
              <a:rPr lang="en-US" sz="1250" dirty="0">
                <a:solidFill>
                  <a:srgbClr val="D0E4EC"/>
                </a:solidFill>
                <a:latin typeface="Calibri" pitchFamily="34" charset="0"/>
                <a:ea typeface="Calibri" pitchFamily="34" charset="-122"/>
                <a:cs typeface="Calibri" pitchFamily="34" charset="-120"/>
              </a:rPr>
              <a:t>Decomposes the user-item matrix R (m×n) into two lower-dimensional matrices P (m×k) and Q (k×n), where k = 10 latent factors. Latent factors capture hidden preferences such as genre, tone, or popularity.</a:t>
            </a:r>
            <a:endParaRPr lang="en-US" sz="1250" dirty="0"/>
          </a:p>
        </p:txBody>
      </p:sp>
      <p:sp>
        <p:nvSpPr>
          <p:cNvPr id="7" name="Shape 5"/>
          <p:cNvSpPr/>
          <p:nvPr/>
        </p:nvSpPr>
        <p:spPr>
          <a:xfrm>
            <a:off x="411480" y="1874520"/>
            <a:ext cx="2651760" cy="1691640"/>
          </a:xfrm>
          <a:prstGeom prst="rect">
            <a:avLst/>
          </a:prstGeom>
          <a:solidFill>
            <a:srgbClr val="2C4A5A"/>
          </a:solidFill>
          <a:ln w="8890">
            <a:solidFill>
              <a:srgbClr val="2A8C82"/>
            </a:solidFill>
            <a:prstDash val="solid"/>
          </a:ln>
          <a:effectLst>
            <a:outerShdw blurRad="63500" dist="25400" dir="8100000" algn="bl" rotWithShape="0">
              <a:srgbClr val="000000">
                <a:alpha val="10000"/>
              </a:srgbClr>
            </a:outerShdw>
          </a:effectLst>
        </p:spPr>
        <p:txBody>
          <a:bodyPr/>
          <a:lstStyle/>
          <a:p>
            <a:endParaRPr lang="en-IN"/>
          </a:p>
        </p:txBody>
      </p:sp>
      <p:sp>
        <p:nvSpPr>
          <p:cNvPr id="8" name="Shape 6"/>
          <p:cNvSpPr/>
          <p:nvPr/>
        </p:nvSpPr>
        <p:spPr>
          <a:xfrm>
            <a:off x="411480" y="1874520"/>
            <a:ext cx="2651760" cy="347472"/>
          </a:xfrm>
          <a:prstGeom prst="rect">
            <a:avLst/>
          </a:prstGeom>
          <a:solidFill>
            <a:srgbClr val="2A8C82"/>
          </a:solidFill>
          <a:ln/>
        </p:spPr>
        <p:txBody>
          <a:bodyPr/>
          <a:lstStyle/>
          <a:p>
            <a:endParaRPr lang="en-IN"/>
          </a:p>
        </p:txBody>
      </p:sp>
      <p:sp>
        <p:nvSpPr>
          <p:cNvPr id="9" name="Text 7"/>
          <p:cNvSpPr/>
          <p:nvPr/>
        </p:nvSpPr>
        <p:spPr>
          <a:xfrm>
            <a:off x="411480" y="1874520"/>
            <a:ext cx="265176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Decomposition</a:t>
            </a:r>
            <a:endParaRPr lang="en-US" sz="1300" dirty="0"/>
          </a:p>
        </p:txBody>
      </p:sp>
      <p:sp>
        <p:nvSpPr>
          <p:cNvPr id="10" name="Text 8"/>
          <p:cNvSpPr/>
          <p:nvPr/>
        </p:nvSpPr>
        <p:spPr>
          <a:xfrm>
            <a:off x="411480" y="2267712"/>
            <a:ext cx="2651760" cy="1234440"/>
          </a:xfrm>
          <a:prstGeom prst="rect">
            <a:avLst/>
          </a:prstGeom>
          <a:noFill/>
          <a:ln/>
        </p:spPr>
        <p:txBody>
          <a:bodyPr wrap="square" lIns="50800" tIns="50800" rIns="50800" bIns="50800" rtlCol="0" anchor="ctr"/>
          <a:lstStyle/>
          <a:p>
            <a:pPr marL="0" indent="0" algn="ctr">
              <a:buNone/>
            </a:pPr>
            <a:r>
              <a:rPr lang="en-US" sz="1200" dirty="0">
                <a:solidFill>
                  <a:srgbClr val="D0E4EC"/>
                </a:solidFill>
                <a:latin typeface="Consolas" pitchFamily="34" charset="0"/>
                <a:ea typeface="Consolas" pitchFamily="34" charset="-122"/>
                <a:cs typeface="Consolas" pitchFamily="34" charset="-120"/>
              </a:rPr>
              <a:t>R  ≈  P × Qᵀ</a:t>
            </a:r>
            <a:endParaRPr lang="en-US" sz="1200" dirty="0"/>
          </a:p>
          <a:p>
            <a:pPr marL="0" indent="0" algn="ctr">
              <a:buNone/>
            </a:pPr>
            <a:r>
              <a:rPr lang="en-US" sz="1200" dirty="0">
                <a:solidFill>
                  <a:srgbClr val="D0E4EC"/>
                </a:solidFill>
                <a:latin typeface="Consolas" pitchFamily="34" charset="0"/>
                <a:ea typeface="Consolas" pitchFamily="34" charset="-122"/>
                <a:cs typeface="Consolas" pitchFamily="34" charset="-120"/>
              </a:rPr>
              <a:t>r̂(u,i)  =  p_u · q_i  =  Σₖ p_uk · q_ki</a:t>
            </a:r>
            <a:endParaRPr lang="en-US" sz="1200" dirty="0"/>
          </a:p>
        </p:txBody>
      </p:sp>
      <p:sp>
        <p:nvSpPr>
          <p:cNvPr id="11" name="Shape 9"/>
          <p:cNvSpPr/>
          <p:nvPr/>
        </p:nvSpPr>
        <p:spPr>
          <a:xfrm>
            <a:off x="5989320" y="1874520"/>
            <a:ext cx="2651760" cy="1691640"/>
          </a:xfrm>
          <a:prstGeom prst="rect">
            <a:avLst/>
          </a:prstGeom>
          <a:solidFill>
            <a:srgbClr val="2C4A5A"/>
          </a:solidFill>
          <a:ln w="8890">
            <a:solidFill>
              <a:srgbClr val="2A8C82"/>
            </a:solidFill>
            <a:prstDash val="solid"/>
          </a:ln>
          <a:effectLst>
            <a:outerShdw blurRad="63500" dist="25400" dir="8100000" algn="bl" rotWithShape="0">
              <a:srgbClr val="000000">
                <a:alpha val="10000"/>
              </a:srgbClr>
            </a:outerShdw>
          </a:effectLst>
        </p:spPr>
        <p:txBody>
          <a:bodyPr/>
          <a:lstStyle/>
          <a:p>
            <a:endParaRPr lang="en-IN" dirty="0"/>
          </a:p>
        </p:txBody>
      </p:sp>
      <p:sp>
        <p:nvSpPr>
          <p:cNvPr id="12" name="Shape 10"/>
          <p:cNvSpPr/>
          <p:nvPr/>
        </p:nvSpPr>
        <p:spPr>
          <a:xfrm>
            <a:off x="5989320" y="1874520"/>
            <a:ext cx="2651760" cy="347472"/>
          </a:xfrm>
          <a:prstGeom prst="rect">
            <a:avLst/>
          </a:prstGeom>
          <a:solidFill>
            <a:srgbClr val="2A8C82"/>
          </a:solidFill>
          <a:ln/>
        </p:spPr>
        <p:txBody>
          <a:bodyPr/>
          <a:lstStyle/>
          <a:p>
            <a:endParaRPr lang="en-IN"/>
          </a:p>
        </p:txBody>
      </p:sp>
      <p:sp>
        <p:nvSpPr>
          <p:cNvPr id="13" name="Text 11"/>
          <p:cNvSpPr/>
          <p:nvPr/>
        </p:nvSpPr>
        <p:spPr>
          <a:xfrm>
            <a:off x="5950409" y="1874520"/>
            <a:ext cx="265176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Loss Function</a:t>
            </a:r>
            <a:endParaRPr lang="en-US" sz="1300" dirty="0"/>
          </a:p>
        </p:txBody>
      </p:sp>
      <p:sp>
        <p:nvSpPr>
          <p:cNvPr id="14" name="Text 12"/>
          <p:cNvSpPr/>
          <p:nvPr/>
        </p:nvSpPr>
        <p:spPr>
          <a:xfrm>
            <a:off x="5989320" y="2198128"/>
            <a:ext cx="2651760" cy="1234440"/>
          </a:xfrm>
          <a:prstGeom prst="rect">
            <a:avLst/>
          </a:prstGeom>
          <a:noFill/>
          <a:ln/>
        </p:spPr>
        <p:txBody>
          <a:bodyPr wrap="square" lIns="50800" tIns="50800" rIns="50800" bIns="50800" rtlCol="0" anchor="ctr"/>
          <a:lstStyle/>
          <a:p>
            <a:pPr marL="0" indent="0" algn="ctr">
              <a:buNone/>
            </a:pPr>
            <a:r>
              <a:rPr lang="en-US" sz="1200" dirty="0">
                <a:solidFill>
                  <a:srgbClr val="D0E4EC"/>
                </a:solidFill>
                <a:latin typeface="Consolas" pitchFamily="34" charset="0"/>
                <a:ea typeface="Consolas" pitchFamily="34" charset="-122"/>
                <a:cs typeface="Consolas" pitchFamily="34" charset="-120"/>
              </a:rPr>
              <a:t>L = Σ(</a:t>
            </a:r>
            <a:r>
              <a:rPr lang="en-US" sz="1200" dirty="0" err="1">
                <a:solidFill>
                  <a:srgbClr val="D0E4EC"/>
                </a:solidFill>
                <a:latin typeface="Consolas" pitchFamily="34" charset="0"/>
                <a:ea typeface="Consolas" pitchFamily="34" charset="-122"/>
                <a:cs typeface="Consolas" pitchFamily="34" charset="-120"/>
              </a:rPr>
              <a:t>r_ui</a:t>
            </a:r>
            <a:r>
              <a:rPr lang="en-US" sz="1200" dirty="0">
                <a:solidFill>
                  <a:srgbClr val="D0E4EC"/>
                </a:solidFill>
                <a:latin typeface="Consolas" pitchFamily="34" charset="0"/>
                <a:ea typeface="Consolas" pitchFamily="34" charset="-122"/>
                <a:cs typeface="Consolas" pitchFamily="34" charset="-120"/>
              </a:rPr>
              <a:t> − r̂_</a:t>
            </a:r>
            <a:r>
              <a:rPr lang="en-US" sz="1200" dirty="0" err="1">
                <a:solidFill>
                  <a:srgbClr val="D0E4EC"/>
                </a:solidFill>
                <a:latin typeface="Consolas" pitchFamily="34" charset="0"/>
                <a:ea typeface="Consolas" pitchFamily="34" charset="-122"/>
                <a:cs typeface="Consolas" pitchFamily="34" charset="-120"/>
              </a:rPr>
              <a:t>ui</a:t>
            </a:r>
            <a:r>
              <a:rPr lang="en-US" sz="1200" dirty="0">
                <a:solidFill>
                  <a:srgbClr val="D0E4EC"/>
                </a:solidFill>
                <a:latin typeface="Consolas" pitchFamily="34" charset="0"/>
                <a:ea typeface="Consolas" pitchFamily="34" charset="-122"/>
                <a:cs typeface="Consolas" pitchFamily="34" charset="-120"/>
              </a:rPr>
              <a:t>)² + λ(||</a:t>
            </a:r>
            <a:r>
              <a:rPr lang="en-US" sz="1200" dirty="0" err="1">
                <a:solidFill>
                  <a:srgbClr val="D0E4EC"/>
                </a:solidFill>
                <a:latin typeface="Consolas" pitchFamily="34" charset="0"/>
                <a:ea typeface="Consolas" pitchFamily="34" charset="-122"/>
                <a:cs typeface="Consolas" pitchFamily="34" charset="-120"/>
              </a:rPr>
              <a:t>q_i</a:t>
            </a:r>
            <a:r>
              <a:rPr lang="en-US" sz="1200" dirty="0">
                <a:solidFill>
                  <a:srgbClr val="D0E4EC"/>
                </a:solidFill>
                <a:latin typeface="Consolas" pitchFamily="34" charset="0"/>
                <a:ea typeface="Consolas" pitchFamily="34" charset="-122"/>
                <a:cs typeface="Consolas" pitchFamily="34" charset="-120"/>
              </a:rPr>
              <a:t>||² + ||</a:t>
            </a:r>
            <a:r>
              <a:rPr lang="en-US" sz="1200" dirty="0" err="1">
                <a:solidFill>
                  <a:srgbClr val="D0E4EC"/>
                </a:solidFill>
                <a:latin typeface="Consolas" pitchFamily="34" charset="0"/>
                <a:ea typeface="Consolas" pitchFamily="34" charset="-122"/>
                <a:cs typeface="Consolas" pitchFamily="34" charset="-120"/>
              </a:rPr>
              <a:t>p_u</a:t>
            </a:r>
            <a:r>
              <a:rPr lang="en-US" sz="1200" dirty="0">
                <a:solidFill>
                  <a:srgbClr val="D0E4EC"/>
                </a:solidFill>
                <a:latin typeface="Consolas" pitchFamily="34" charset="0"/>
                <a:ea typeface="Consolas" pitchFamily="34" charset="-122"/>
                <a:cs typeface="Consolas" pitchFamily="34" charset="-120"/>
              </a:rPr>
              <a:t>||²)</a:t>
            </a:r>
            <a:endParaRPr lang="en-US" sz="1200" dirty="0"/>
          </a:p>
          <a:p>
            <a:pPr marL="0" indent="0" algn="ctr">
              <a:buNone/>
            </a:pPr>
            <a:r>
              <a:rPr lang="en-US" sz="1200" dirty="0">
                <a:solidFill>
                  <a:srgbClr val="D0E4EC"/>
                </a:solidFill>
                <a:latin typeface="Consolas" pitchFamily="34" charset="0"/>
                <a:ea typeface="Consolas" pitchFamily="34" charset="-122"/>
                <a:cs typeface="Consolas" pitchFamily="34" charset="-120"/>
              </a:rPr>
              <a:t>Regularization prevents overfitting</a:t>
            </a:r>
            <a:endParaRPr lang="en-US" sz="1200" dirty="0"/>
          </a:p>
        </p:txBody>
      </p:sp>
      <p:sp>
        <p:nvSpPr>
          <p:cNvPr id="17" name="Text 15"/>
          <p:cNvSpPr/>
          <p:nvPr/>
        </p:nvSpPr>
        <p:spPr>
          <a:xfrm>
            <a:off x="6080760" y="1874520"/>
            <a:ext cx="2651760" cy="347472"/>
          </a:xfrm>
          <a:prstGeom prst="rect">
            <a:avLst/>
          </a:prstGeom>
          <a:noFill/>
          <a:ln/>
        </p:spPr>
        <p:txBody>
          <a:bodyPr wrap="square" lIns="0" tIns="0" rIns="0" bIns="0" rtlCol="0" anchor="ctr"/>
          <a:lstStyle/>
          <a:p>
            <a:pPr marL="0" indent="0" algn="ctr">
              <a:buNone/>
            </a:pPr>
            <a:endParaRPr lang="en-US" sz="1300" dirty="0"/>
          </a:p>
        </p:txBody>
      </p:sp>
      <p:sp>
        <p:nvSpPr>
          <p:cNvPr id="18" name="Text 16"/>
          <p:cNvSpPr/>
          <p:nvPr/>
        </p:nvSpPr>
        <p:spPr>
          <a:xfrm>
            <a:off x="6080760" y="2267712"/>
            <a:ext cx="2651760" cy="1234440"/>
          </a:xfrm>
          <a:prstGeom prst="rect">
            <a:avLst/>
          </a:prstGeom>
          <a:noFill/>
          <a:ln/>
        </p:spPr>
        <p:txBody>
          <a:bodyPr wrap="square" lIns="50800" tIns="50800" rIns="50800" bIns="50800" rtlCol="0" anchor="ctr"/>
          <a:lstStyle/>
          <a:p>
            <a:pPr marL="0" indent="0" algn="ctr">
              <a:buNone/>
            </a:pPr>
            <a:endParaRPr lang="en-US" sz="1200" dirty="0"/>
          </a:p>
        </p:txBody>
      </p:sp>
      <p:sp>
        <p:nvSpPr>
          <p:cNvPr id="19" name="Shape 17"/>
          <p:cNvSpPr/>
          <p:nvPr/>
        </p:nvSpPr>
        <p:spPr>
          <a:xfrm>
            <a:off x="411480" y="3703319"/>
            <a:ext cx="5029200" cy="1368033"/>
          </a:xfrm>
          <a:prstGeom prst="rect">
            <a:avLst/>
          </a:prstGeom>
          <a:solidFill>
            <a:srgbClr val="2C4A5A"/>
          </a:solidFill>
          <a:ln w="8890">
            <a:solidFill>
              <a:srgbClr val="2A8C82"/>
            </a:solidFill>
            <a:prstDash val="solid"/>
          </a:ln>
          <a:effectLst>
            <a:outerShdw blurRad="63500" dist="25400" dir="8100000" algn="bl" rotWithShape="0">
              <a:srgbClr val="000000">
                <a:alpha val="10000"/>
              </a:srgbClr>
            </a:outerShdw>
          </a:effectLst>
        </p:spPr>
        <p:txBody>
          <a:bodyPr/>
          <a:lstStyle/>
          <a:p>
            <a:endParaRPr lang="en-IN"/>
          </a:p>
        </p:txBody>
      </p:sp>
      <p:sp>
        <p:nvSpPr>
          <p:cNvPr id="20" name="Text 18"/>
          <p:cNvSpPr/>
          <p:nvPr/>
        </p:nvSpPr>
        <p:spPr>
          <a:xfrm>
            <a:off x="548640" y="3749040"/>
            <a:ext cx="4754880" cy="347472"/>
          </a:xfrm>
          <a:prstGeom prst="rect">
            <a:avLst/>
          </a:prstGeom>
          <a:noFill/>
          <a:ln/>
        </p:spPr>
        <p:txBody>
          <a:bodyPr wrap="square" lIns="0" tIns="0" rIns="0" bIns="0" rtlCol="0" anchor="ctr"/>
          <a:lstStyle/>
          <a:p>
            <a:pPr marL="0" indent="0" algn="l">
              <a:buNone/>
            </a:pPr>
            <a:r>
              <a:rPr lang="en-US" sz="1300" b="1" dirty="0">
                <a:solidFill>
                  <a:srgbClr val="4BB8AE"/>
                </a:solidFill>
                <a:latin typeface="Cambria" pitchFamily="34" charset="0"/>
                <a:ea typeface="Cambria" pitchFamily="34" charset="-122"/>
                <a:cs typeface="Cambria" pitchFamily="34" charset="-120"/>
              </a:rPr>
              <a:t>What Do Latent Factors Represent?</a:t>
            </a:r>
            <a:endParaRPr lang="en-US" sz="1300" dirty="0"/>
          </a:p>
        </p:txBody>
      </p:sp>
      <p:sp>
        <p:nvSpPr>
          <p:cNvPr id="21" name="Text 19"/>
          <p:cNvSpPr/>
          <p:nvPr/>
        </p:nvSpPr>
        <p:spPr>
          <a:xfrm>
            <a:off x="548640" y="4114800"/>
            <a:ext cx="4754880" cy="685800"/>
          </a:xfrm>
          <a:prstGeom prst="rect">
            <a:avLst/>
          </a:prstGeom>
          <a:noFill/>
          <a:ln/>
        </p:spPr>
        <p:txBody>
          <a:bodyPr wrap="square" lIns="25400" tIns="25400" rIns="25400" bIns="25400" rtlCol="0" anchor="t"/>
          <a:lstStyle/>
          <a:p>
            <a:pPr marL="0" indent="0" algn="l">
              <a:buNone/>
            </a:pPr>
            <a:r>
              <a:rPr lang="en-US" sz="1200" dirty="0">
                <a:solidFill>
                  <a:srgbClr val="AAC8D4"/>
                </a:solidFill>
                <a:latin typeface="Calibri" pitchFamily="34" charset="0"/>
                <a:ea typeface="Calibri" pitchFamily="34" charset="-122"/>
                <a:cs typeface="Calibri" pitchFamily="34" charset="-120"/>
              </a:rPr>
              <a:t>Factors are unlabeled but capture hidden patterns:</a:t>
            </a:r>
            <a:endParaRPr lang="en-US" sz="1200" dirty="0"/>
          </a:p>
          <a:p>
            <a:pPr marL="0" indent="0" algn="l">
              <a:buNone/>
            </a:pPr>
            <a:r>
              <a:rPr lang="en-US" sz="1200" dirty="0">
                <a:solidFill>
                  <a:srgbClr val="AAC8D4"/>
                </a:solidFill>
                <a:latin typeface="Calibri" pitchFamily="34" charset="0"/>
                <a:ea typeface="Calibri" pitchFamily="34" charset="-122"/>
                <a:cs typeface="Calibri" pitchFamily="34" charset="-120"/>
              </a:rPr>
              <a:t>Factor 1 → Action vs. Drama  |  Factor 2 → Complexity  |  Factor 3 → Humor Level</a:t>
            </a:r>
            <a:endParaRPr lang="en-US" sz="1200" dirty="0"/>
          </a:p>
          <a:p>
            <a:pPr marL="0" indent="0" algn="l">
              <a:buNone/>
            </a:pPr>
            <a:r>
              <a:rPr lang="en-US" sz="1200" dirty="0">
                <a:solidFill>
                  <a:srgbClr val="AAC8D4"/>
                </a:solidFill>
                <a:latin typeface="Calibri" pitchFamily="34" charset="0"/>
                <a:ea typeface="Calibri" pitchFamily="34" charset="-122"/>
                <a:cs typeface="Calibri" pitchFamily="34" charset="-120"/>
              </a:rPr>
              <a:t>Users who love action (high p_u1) get high scores for action movies (high q_i1)</a:t>
            </a:r>
            <a:endParaRPr lang="en-US" sz="1200" dirty="0"/>
          </a:p>
        </p:txBody>
      </p:sp>
      <p:sp>
        <p:nvSpPr>
          <p:cNvPr id="22" name="Shape 20"/>
          <p:cNvSpPr/>
          <p:nvPr/>
        </p:nvSpPr>
        <p:spPr>
          <a:xfrm>
            <a:off x="5577840" y="3703320"/>
            <a:ext cx="3200400" cy="1368032"/>
          </a:xfrm>
          <a:prstGeom prst="rect">
            <a:avLst/>
          </a:prstGeom>
          <a:solidFill>
            <a:srgbClr val="2C4A5A"/>
          </a:solidFill>
          <a:ln w="8890">
            <a:solidFill>
              <a:srgbClr val="2A8C82"/>
            </a:solidFill>
            <a:prstDash val="solid"/>
          </a:ln>
          <a:effectLst>
            <a:outerShdw blurRad="63500" dist="25400" dir="8100000" algn="bl" rotWithShape="0">
              <a:srgbClr val="000000">
                <a:alpha val="10000"/>
              </a:srgbClr>
            </a:outerShdw>
          </a:effectLst>
        </p:spPr>
        <p:txBody>
          <a:bodyPr/>
          <a:lstStyle/>
          <a:p>
            <a:endParaRPr lang="en-IN"/>
          </a:p>
        </p:txBody>
      </p:sp>
      <p:sp>
        <p:nvSpPr>
          <p:cNvPr id="23" name="Text 21"/>
          <p:cNvSpPr/>
          <p:nvPr/>
        </p:nvSpPr>
        <p:spPr>
          <a:xfrm>
            <a:off x="5715000" y="3749040"/>
            <a:ext cx="2926080" cy="347472"/>
          </a:xfrm>
          <a:prstGeom prst="rect">
            <a:avLst/>
          </a:prstGeom>
          <a:noFill/>
          <a:ln/>
        </p:spPr>
        <p:txBody>
          <a:bodyPr wrap="square" lIns="0" tIns="0" rIns="0" bIns="0" rtlCol="0" anchor="ctr"/>
          <a:lstStyle/>
          <a:p>
            <a:pPr marL="0" indent="0" algn="l">
              <a:buNone/>
            </a:pPr>
            <a:r>
              <a:rPr lang="en-US" sz="1300" b="1" dirty="0">
                <a:solidFill>
                  <a:srgbClr val="4BB8AE"/>
                </a:solidFill>
                <a:latin typeface="Cambria" pitchFamily="34" charset="0"/>
                <a:ea typeface="Cambria" pitchFamily="34" charset="-122"/>
                <a:cs typeface="Cambria" pitchFamily="34" charset="-120"/>
              </a:rPr>
              <a:t>LightFM Built-in Evaluation</a:t>
            </a:r>
            <a:endParaRPr lang="en-US" sz="1300" dirty="0"/>
          </a:p>
        </p:txBody>
      </p:sp>
      <p:sp>
        <p:nvSpPr>
          <p:cNvPr id="24" name="Text 22"/>
          <p:cNvSpPr/>
          <p:nvPr/>
        </p:nvSpPr>
        <p:spPr>
          <a:xfrm>
            <a:off x="5715000" y="4114800"/>
            <a:ext cx="2926080" cy="685800"/>
          </a:xfrm>
          <a:prstGeom prst="rect">
            <a:avLst/>
          </a:prstGeom>
          <a:noFill/>
          <a:ln/>
        </p:spPr>
        <p:txBody>
          <a:bodyPr wrap="square" lIns="25400" tIns="25400" rIns="25400" bIns="25400" rtlCol="0" anchor="t"/>
          <a:lstStyle/>
          <a:p>
            <a:pPr marL="0" indent="0" algn="l">
              <a:buNone/>
            </a:pPr>
            <a:r>
              <a:rPr lang="en-US" sz="1100" dirty="0">
                <a:solidFill>
                  <a:srgbClr val="D0E4EC"/>
                </a:solidFill>
                <a:latin typeface="Consolas" pitchFamily="34" charset="0"/>
                <a:ea typeface="Consolas" pitchFamily="34" charset="-122"/>
                <a:cs typeface="Consolas" pitchFamily="34" charset="-120"/>
              </a:rPr>
              <a:t>precision_at_k(model, matrix, k=10)</a:t>
            </a:r>
            <a:endParaRPr lang="en-US" sz="1100" dirty="0"/>
          </a:p>
          <a:p>
            <a:pPr marL="0" indent="0" algn="l">
              <a:buNone/>
            </a:pPr>
            <a:r>
              <a:rPr lang="en-US" sz="1100" dirty="0">
                <a:solidFill>
                  <a:srgbClr val="D0E4EC"/>
                </a:solidFill>
                <a:latin typeface="Consolas" pitchFamily="34" charset="0"/>
                <a:ea typeface="Consolas" pitchFamily="34" charset="-122"/>
                <a:cs typeface="Consolas" pitchFamily="34" charset="-120"/>
              </a:rPr>
              <a:t>recall_at_k(model, matrix, k=10)</a:t>
            </a:r>
            <a:endParaRPr lang="en-US" sz="1100" dirty="0"/>
          </a:p>
          <a:p>
            <a:pPr marL="0" indent="0" algn="l">
              <a:buNone/>
            </a:pPr>
            <a:r>
              <a:rPr lang="en-US" sz="1100" dirty="0">
                <a:solidFill>
                  <a:srgbClr val="D0E4EC"/>
                </a:solidFill>
                <a:latin typeface="Consolas" pitchFamily="34" charset="0"/>
                <a:ea typeface="Consolas" pitchFamily="34" charset="-122"/>
                <a:cs typeface="Consolas" pitchFamily="34" charset="-120"/>
              </a:rPr>
              <a:t>model.predict(user_id, np.arange(n_items))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9"/>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A8C82"/>
          </a:solidFill>
          <a:ln/>
        </p:spPr>
        <p:txBody>
          <a:bodyPr/>
          <a:lstStyle/>
          <a:p>
            <a:endParaRPr lang="en-IN"/>
          </a:p>
        </p:txBody>
      </p:sp>
      <p:sp>
        <p:nvSpPr>
          <p:cNvPr id="3" name="Text 1"/>
          <p:cNvSpPr/>
          <p:nvPr/>
        </p:nvSpPr>
        <p:spPr>
          <a:xfrm>
            <a:off x="411480" y="201168"/>
            <a:ext cx="8503920" cy="594360"/>
          </a:xfrm>
          <a:prstGeom prst="rect">
            <a:avLst/>
          </a:prstGeom>
          <a:noFill/>
          <a:ln/>
        </p:spPr>
        <p:txBody>
          <a:bodyPr wrap="square" lIns="0" tIns="0" rIns="0" bIns="0" rtlCol="0" anchor="ctr"/>
          <a:lstStyle/>
          <a:p>
            <a:pPr marL="0" indent="0" algn="l">
              <a:buNone/>
            </a:pPr>
            <a:r>
              <a:rPr lang="en-US" sz="2600" b="1" dirty="0">
                <a:solidFill>
                  <a:srgbClr val="1E2D3D"/>
                </a:solidFill>
                <a:latin typeface="Cambria" pitchFamily="34" charset="0"/>
                <a:ea typeface="Cambria" pitchFamily="34" charset="-122"/>
                <a:cs typeface="Cambria" pitchFamily="34" charset="-120"/>
              </a:rPr>
              <a:t>Evaluation Metrics: Precision@K &amp; Recall@K</a:t>
            </a:r>
            <a:endParaRPr lang="en-US" sz="2600" dirty="0"/>
          </a:p>
        </p:txBody>
      </p:sp>
      <p:sp>
        <p:nvSpPr>
          <p:cNvPr id="4" name="Shape 2"/>
          <p:cNvSpPr/>
          <p:nvPr/>
        </p:nvSpPr>
        <p:spPr>
          <a:xfrm>
            <a:off x="411480" y="868680"/>
            <a:ext cx="8321040" cy="22860"/>
          </a:xfrm>
          <a:prstGeom prst="rect">
            <a:avLst/>
          </a:prstGeom>
          <a:solidFill>
            <a:srgbClr val="4BB8AE"/>
          </a:solidFill>
          <a:ln/>
        </p:spPr>
        <p:txBody>
          <a:bodyPr/>
          <a:lstStyle/>
          <a:p>
            <a:endParaRPr lang="en-IN"/>
          </a:p>
        </p:txBody>
      </p:sp>
      <p:sp>
        <p:nvSpPr>
          <p:cNvPr id="5" name="Text 3"/>
          <p:cNvSpPr/>
          <p:nvPr/>
        </p:nvSpPr>
        <p:spPr>
          <a:xfrm>
            <a:off x="411480" y="1005840"/>
            <a:ext cx="4297680" cy="347472"/>
          </a:xfrm>
          <a:prstGeom prst="rect">
            <a:avLst/>
          </a:prstGeom>
          <a:noFill/>
          <a:ln/>
        </p:spPr>
        <p:txBody>
          <a:bodyPr wrap="square" lIns="0" tIns="0" rIns="0" bIns="0" rtlCol="0" anchor="ctr"/>
          <a:lstStyle/>
          <a:p>
            <a:pPr marL="0" indent="0" algn="l">
              <a:buNone/>
            </a:pPr>
            <a:r>
              <a:rPr lang="en-US" sz="1300" b="1" dirty="0">
                <a:solidFill>
                  <a:srgbClr val="1E2D3D"/>
                </a:solidFill>
                <a:latin typeface="Cambria" pitchFamily="34" charset="0"/>
                <a:ea typeface="Cambria" pitchFamily="34" charset="-122"/>
                <a:cs typeface="Cambria" pitchFamily="34" charset="-120"/>
              </a:rPr>
              <a:t>Confusion Matrix for Recommendations</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239707412"/>
              </p:ext>
            </p:extLst>
          </p:nvPr>
        </p:nvGraphicFramePr>
        <p:xfrm>
          <a:off x="411480" y="1417320"/>
          <a:ext cx="4114800" cy="150876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502920">
                <a:tc>
                  <a:txBody>
                    <a:bodyPr/>
                    <a:lstStyle/>
                    <a:p>
                      <a:pPr marL="0" indent="0" algn="ctr">
                        <a:buNone/>
                      </a:pPr>
                      <a:endParaRPr lang="en-US" sz="1200" dirty="0">
                        <a:latin typeface="Calibri" charset="0"/>
                        <a:ea typeface="Calibri" charset="0"/>
                        <a:cs typeface="Calibri" charset="0"/>
                      </a:endParaRPr>
                    </a:p>
                  </a:txBody>
                  <a:tcPr marL="50800" marR="50800" marT="50800" marB="50800" anchor="ctr">
                    <a:lnL w="12700" cap="flat" cmpd="sng" algn="ctr">
                      <a:solidFill>
                        <a:srgbClr val="2A8C82"/>
                      </a:solidFill>
                      <a:prstDash val="solid"/>
                      <a:round/>
                      <a:headEnd type="none" w="med" len="med"/>
                      <a:tailEnd type="none" w="med" len="med"/>
                    </a:lnL>
                    <a:lnR w="12700" cap="flat" cmpd="sng" algn="ctr">
                      <a:solidFill>
                        <a:srgbClr val="2A8C82"/>
                      </a:solidFill>
                      <a:prstDash val="solid"/>
                      <a:round/>
                      <a:headEnd type="none" w="med" len="med"/>
                      <a:tailEnd type="none" w="med" len="med"/>
                    </a:lnR>
                    <a:lnT w="12700" cap="flat" cmpd="sng" algn="ctr">
                      <a:solidFill>
                        <a:srgbClr val="2A8C82"/>
                      </a:solidFill>
                      <a:prstDash val="solid"/>
                      <a:round/>
                      <a:headEnd type="none" w="med" len="med"/>
                      <a:tailEnd type="none" w="med" len="med"/>
                    </a:lnT>
                    <a:lnB w="12700" cap="flat" cmpd="sng" algn="ctr">
                      <a:solidFill>
                        <a:srgbClr val="2A8C82"/>
                      </a:solidFill>
                      <a:prstDash val="solid"/>
                      <a:round/>
                      <a:headEnd type="none" w="med" len="med"/>
                      <a:tailEnd type="none" w="med" len="med"/>
                    </a:lnB>
                    <a:solidFill>
                      <a:srgbClr val="2A8C82"/>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User Liked ✓</a:t>
                      </a:r>
                      <a:endParaRPr lang="en-US" sz="1200" dirty="0">
                        <a:latin typeface="Calibri" charset="0"/>
                        <a:ea typeface="Calibri" charset="0"/>
                        <a:cs typeface="Calibri" charset="0"/>
                      </a:endParaRPr>
                    </a:p>
                  </a:txBody>
                  <a:tcPr marL="50800" marR="50800" marT="50800" marB="50800" anchor="ctr">
                    <a:lnL w="12700" cap="flat" cmpd="sng" algn="ctr">
                      <a:solidFill>
                        <a:srgbClr val="2A8C82"/>
                      </a:solidFill>
                      <a:prstDash val="solid"/>
                      <a:round/>
                      <a:headEnd type="none" w="med" len="med"/>
                      <a:tailEnd type="none" w="med" len="med"/>
                    </a:lnL>
                    <a:lnR w="12700" cap="flat" cmpd="sng" algn="ctr">
                      <a:solidFill>
                        <a:srgbClr val="2A8C82"/>
                      </a:solidFill>
                      <a:prstDash val="solid"/>
                      <a:round/>
                      <a:headEnd type="none" w="med" len="med"/>
                      <a:tailEnd type="none" w="med" len="med"/>
                    </a:lnR>
                    <a:lnT w="12700" cap="flat" cmpd="sng" algn="ctr">
                      <a:solidFill>
                        <a:srgbClr val="2A8C82"/>
                      </a:solidFill>
                      <a:prstDash val="solid"/>
                      <a:round/>
                      <a:headEnd type="none" w="med" len="med"/>
                      <a:tailEnd type="none" w="med" len="med"/>
                    </a:lnT>
                    <a:lnB w="12700" cap="flat" cmpd="sng" algn="ctr">
                      <a:solidFill>
                        <a:srgbClr val="2A8C82"/>
                      </a:solidFill>
                      <a:prstDash val="solid"/>
                      <a:round/>
                      <a:headEnd type="none" w="med" len="med"/>
                      <a:tailEnd type="none" w="med" len="med"/>
                    </a:lnB>
                    <a:solidFill>
                      <a:srgbClr val="2A8C82"/>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User Didn't Like ✗</a:t>
                      </a:r>
                      <a:endParaRPr lang="en-US" sz="1200" dirty="0">
                        <a:latin typeface="Calibri" charset="0"/>
                        <a:ea typeface="Calibri" charset="0"/>
                        <a:cs typeface="Calibri" charset="0"/>
                      </a:endParaRPr>
                    </a:p>
                  </a:txBody>
                  <a:tcPr marL="50800" marR="50800" marT="50800" marB="50800" anchor="ctr">
                    <a:lnL w="12700" cap="flat" cmpd="sng" algn="ctr">
                      <a:solidFill>
                        <a:srgbClr val="2A8C82"/>
                      </a:solidFill>
                      <a:prstDash val="solid"/>
                      <a:round/>
                      <a:headEnd type="none" w="med" len="med"/>
                      <a:tailEnd type="none" w="med" len="med"/>
                    </a:lnL>
                    <a:lnR w="12700" cap="flat" cmpd="sng" algn="ctr">
                      <a:solidFill>
                        <a:srgbClr val="2A8C82"/>
                      </a:solidFill>
                      <a:prstDash val="solid"/>
                      <a:round/>
                      <a:headEnd type="none" w="med" len="med"/>
                      <a:tailEnd type="none" w="med" len="med"/>
                    </a:lnR>
                    <a:lnT w="12700" cap="flat" cmpd="sng" algn="ctr">
                      <a:solidFill>
                        <a:srgbClr val="2A8C82"/>
                      </a:solidFill>
                      <a:prstDash val="solid"/>
                      <a:round/>
                      <a:headEnd type="none" w="med" len="med"/>
                      <a:tailEnd type="none" w="med" len="med"/>
                    </a:lnT>
                    <a:lnB w="12700" cap="flat" cmpd="sng" algn="ctr">
                      <a:solidFill>
                        <a:srgbClr val="2A8C82"/>
                      </a:solidFill>
                      <a:prstDash val="solid"/>
                      <a:round/>
                      <a:headEnd type="none" w="med" len="med"/>
                      <a:tailEnd type="none" w="med" len="med"/>
                    </a:lnB>
                    <a:solidFill>
                      <a:srgbClr val="2A8C82"/>
                    </a:solidFill>
                  </a:tcPr>
                </a:tc>
                <a:extLst>
                  <a:ext uri="{0D108BD9-81ED-4DB2-BD59-A6C34878D82A}">
                    <a16:rowId xmlns:a16="http://schemas.microsoft.com/office/drawing/2014/main" val="10000"/>
                  </a:ext>
                </a:extLst>
              </a:tr>
              <a:tr h="50292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Recommended ✓</a:t>
                      </a:r>
                      <a:endParaRPr lang="en-US" sz="1200" dirty="0">
                        <a:latin typeface="Calibri" charset="0"/>
                        <a:ea typeface="Calibri" charset="0"/>
                        <a:cs typeface="Calibri" charset="0"/>
                      </a:endParaRPr>
                    </a:p>
                  </a:txBody>
                  <a:tcPr marL="50800" marR="50800" marT="50800" marB="50800" anchor="ctr">
                    <a:lnL w="12700" cap="flat" cmpd="sng" algn="ctr">
                      <a:solidFill>
                        <a:srgbClr val="2A8C82"/>
                      </a:solidFill>
                      <a:prstDash val="solid"/>
                      <a:round/>
                      <a:headEnd type="none" w="med" len="med"/>
                      <a:tailEnd type="none" w="med" len="med"/>
                    </a:lnL>
                    <a:lnR w="12700" cap="flat" cmpd="sng" algn="ctr">
                      <a:solidFill>
                        <a:srgbClr val="2A8C82"/>
                      </a:solidFill>
                      <a:prstDash val="solid"/>
                      <a:round/>
                      <a:headEnd type="none" w="med" len="med"/>
                      <a:tailEnd type="none" w="med" len="med"/>
                    </a:lnR>
                    <a:lnT w="12700" cap="flat" cmpd="sng" algn="ctr">
                      <a:solidFill>
                        <a:srgbClr val="2A8C82"/>
                      </a:solidFill>
                      <a:prstDash val="solid"/>
                      <a:round/>
                      <a:headEnd type="none" w="med" len="med"/>
                      <a:tailEnd type="none" w="med" len="med"/>
                    </a:lnT>
                    <a:lnB w="12700" cap="flat" cmpd="sng" algn="ctr">
                      <a:solidFill>
                        <a:srgbClr val="2A8C82"/>
                      </a:solidFill>
                      <a:prstDash val="solid"/>
                      <a:round/>
                      <a:headEnd type="none" w="med" len="med"/>
                      <a:tailEnd type="none" w="med" len="med"/>
                    </a:lnB>
                    <a:solidFill>
                      <a:srgbClr val="2A8C82"/>
                    </a:solidFill>
                  </a:tcPr>
                </a:tc>
                <a:tc>
                  <a:txBody>
                    <a:bodyPr/>
                    <a:lstStyle/>
                    <a:p>
                      <a:pPr marL="0" indent="0" algn="ctr">
                        <a:buNone/>
                      </a:pPr>
                      <a:r>
                        <a:rPr lang="en-US" sz="1200" dirty="0">
                          <a:solidFill>
                            <a:srgbClr val="FFFFFF"/>
                          </a:solidFill>
                          <a:latin typeface="Calibri" pitchFamily="34" charset="0"/>
                          <a:ea typeface="Calibri" pitchFamily="34" charset="-122"/>
                          <a:cs typeface="Calibri" pitchFamily="34" charset="-120"/>
                        </a:rPr>
                        <a:t>True Positive (TP)</a:t>
                      </a:r>
                      <a:endParaRPr lang="en-US" sz="1200" dirty="0">
                        <a:latin typeface="Calibri" charset="0"/>
                        <a:ea typeface="Calibri" charset="0"/>
                        <a:cs typeface="Calibri" charset="0"/>
                      </a:endParaRPr>
                    </a:p>
                  </a:txBody>
                  <a:tcPr marL="50800" marR="50800" marT="50800" marB="50800" anchor="ctr">
                    <a:lnL w="12700" cap="flat" cmpd="sng" algn="ctr">
                      <a:solidFill>
                        <a:srgbClr val="2A8C82"/>
                      </a:solidFill>
                      <a:prstDash val="solid"/>
                      <a:round/>
                      <a:headEnd type="none" w="med" len="med"/>
                      <a:tailEnd type="none" w="med" len="med"/>
                    </a:lnL>
                    <a:lnR w="12700" cap="flat" cmpd="sng" algn="ctr">
                      <a:solidFill>
                        <a:srgbClr val="2A8C82"/>
                      </a:solidFill>
                      <a:prstDash val="solid"/>
                      <a:round/>
                      <a:headEnd type="none" w="med" len="med"/>
                      <a:tailEnd type="none" w="med" len="med"/>
                    </a:lnR>
                    <a:lnT w="12700" cap="flat" cmpd="sng" algn="ctr">
                      <a:solidFill>
                        <a:srgbClr val="2A8C82"/>
                      </a:solidFill>
                      <a:prstDash val="solid"/>
                      <a:round/>
                      <a:headEnd type="none" w="med" len="med"/>
                      <a:tailEnd type="none" w="med" len="med"/>
                    </a:lnT>
                    <a:lnB w="12700" cap="flat" cmpd="sng" algn="ctr">
                      <a:solidFill>
                        <a:srgbClr val="2A8C82"/>
                      </a:solidFill>
                      <a:prstDash val="solid"/>
                      <a:round/>
                      <a:headEnd type="none" w="med" len="med"/>
                      <a:tailEnd type="none" w="med" len="med"/>
                    </a:lnB>
                    <a:solidFill>
                      <a:srgbClr val="2A8C4A"/>
                    </a:solidFill>
                  </a:tcPr>
                </a:tc>
                <a:tc>
                  <a:txBody>
                    <a:bodyPr/>
                    <a:lstStyle/>
                    <a:p>
                      <a:pPr marL="0" indent="0" algn="ctr">
                        <a:buNone/>
                      </a:pPr>
                      <a:r>
                        <a:rPr lang="en-US" sz="1200" dirty="0">
                          <a:solidFill>
                            <a:srgbClr val="1A2533"/>
                          </a:solidFill>
                          <a:latin typeface="Calibri" pitchFamily="34" charset="0"/>
                          <a:ea typeface="Calibri" pitchFamily="34" charset="-122"/>
                          <a:cs typeface="Calibri" pitchFamily="34" charset="-120"/>
                        </a:rPr>
                        <a:t>False Positive (FP)</a:t>
                      </a:r>
                      <a:endParaRPr lang="en-US" sz="1200" dirty="0">
                        <a:latin typeface="Calibri" charset="0"/>
                        <a:ea typeface="Calibri" charset="0"/>
                        <a:cs typeface="Calibri" charset="0"/>
                      </a:endParaRPr>
                    </a:p>
                  </a:txBody>
                  <a:tcPr marL="50800" marR="50800" marT="50800" marB="50800" anchor="ctr">
                    <a:lnL w="12700" cap="flat" cmpd="sng" algn="ctr">
                      <a:solidFill>
                        <a:srgbClr val="2A8C82"/>
                      </a:solidFill>
                      <a:prstDash val="solid"/>
                      <a:round/>
                      <a:headEnd type="none" w="med" len="med"/>
                      <a:tailEnd type="none" w="med" len="med"/>
                    </a:lnL>
                    <a:lnR w="12700" cap="flat" cmpd="sng" algn="ctr">
                      <a:solidFill>
                        <a:srgbClr val="2A8C82"/>
                      </a:solidFill>
                      <a:prstDash val="solid"/>
                      <a:round/>
                      <a:headEnd type="none" w="med" len="med"/>
                      <a:tailEnd type="none" w="med" len="med"/>
                    </a:lnR>
                    <a:lnT w="12700" cap="flat" cmpd="sng" algn="ctr">
                      <a:solidFill>
                        <a:srgbClr val="2A8C82"/>
                      </a:solidFill>
                      <a:prstDash val="solid"/>
                      <a:round/>
                      <a:headEnd type="none" w="med" len="med"/>
                      <a:tailEnd type="none" w="med" len="med"/>
                    </a:lnT>
                    <a:lnB w="12700" cap="flat" cmpd="sng" algn="ctr">
                      <a:solidFill>
                        <a:srgbClr val="2A8C8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Not Recommended ✗</a:t>
                      </a:r>
                      <a:endParaRPr lang="en-US" sz="1200" dirty="0">
                        <a:latin typeface="Calibri" charset="0"/>
                        <a:ea typeface="Calibri" charset="0"/>
                        <a:cs typeface="Calibri" charset="0"/>
                      </a:endParaRPr>
                    </a:p>
                  </a:txBody>
                  <a:tcPr marL="50800" marR="50800" marT="50800" marB="50800" anchor="ctr">
                    <a:lnL w="12700" cap="flat" cmpd="sng" algn="ctr">
                      <a:solidFill>
                        <a:srgbClr val="2A8C82"/>
                      </a:solidFill>
                      <a:prstDash val="solid"/>
                      <a:round/>
                      <a:headEnd type="none" w="med" len="med"/>
                      <a:tailEnd type="none" w="med" len="med"/>
                    </a:lnL>
                    <a:lnR w="12700" cap="flat" cmpd="sng" algn="ctr">
                      <a:solidFill>
                        <a:srgbClr val="2A8C82"/>
                      </a:solidFill>
                      <a:prstDash val="solid"/>
                      <a:round/>
                      <a:headEnd type="none" w="med" len="med"/>
                      <a:tailEnd type="none" w="med" len="med"/>
                    </a:lnR>
                    <a:lnT w="12700" cap="flat" cmpd="sng" algn="ctr">
                      <a:solidFill>
                        <a:srgbClr val="2A8C82"/>
                      </a:solidFill>
                      <a:prstDash val="solid"/>
                      <a:round/>
                      <a:headEnd type="none" w="med" len="med"/>
                      <a:tailEnd type="none" w="med" len="med"/>
                    </a:lnT>
                    <a:lnB w="12700" cap="flat" cmpd="sng" algn="ctr">
                      <a:solidFill>
                        <a:srgbClr val="2A8C82"/>
                      </a:solidFill>
                      <a:prstDash val="solid"/>
                      <a:round/>
                      <a:headEnd type="none" w="med" len="med"/>
                      <a:tailEnd type="none" w="med" len="med"/>
                    </a:lnB>
                    <a:solidFill>
                      <a:srgbClr val="2A8C82"/>
                    </a:solidFill>
                  </a:tcPr>
                </a:tc>
                <a:tc>
                  <a:txBody>
                    <a:bodyPr/>
                    <a:lstStyle/>
                    <a:p>
                      <a:pPr marL="0" indent="0" algn="ctr">
                        <a:buNone/>
                      </a:pPr>
                      <a:r>
                        <a:rPr lang="en-US" sz="1200" dirty="0">
                          <a:solidFill>
                            <a:srgbClr val="1A2533"/>
                          </a:solidFill>
                          <a:latin typeface="Calibri" pitchFamily="34" charset="0"/>
                          <a:ea typeface="Calibri" pitchFamily="34" charset="-122"/>
                          <a:cs typeface="Calibri" pitchFamily="34" charset="-120"/>
                        </a:rPr>
                        <a:t>False Negative (FN)</a:t>
                      </a:r>
                      <a:endParaRPr lang="en-US" sz="1200" dirty="0">
                        <a:latin typeface="Calibri" charset="0"/>
                        <a:ea typeface="Calibri" charset="0"/>
                        <a:cs typeface="Calibri" charset="0"/>
                      </a:endParaRPr>
                    </a:p>
                  </a:txBody>
                  <a:tcPr marL="50800" marR="50800" marT="50800" marB="50800" anchor="ctr">
                    <a:lnL w="12700" cap="flat" cmpd="sng" algn="ctr">
                      <a:solidFill>
                        <a:srgbClr val="2A8C82"/>
                      </a:solidFill>
                      <a:prstDash val="solid"/>
                      <a:round/>
                      <a:headEnd type="none" w="med" len="med"/>
                      <a:tailEnd type="none" w="med" len="med"/>
                    </a:lnL>
                    <a:lnR w="12700" cap="flat" cmpd="sng" algn="ctr">
                      <a:solidFill>
                        <a:srgbClr val="2A8C82"/>
                      </a:solidFill>
                      <a:prstDash val="solid"/>
                      <a:round/>
                      <a:headEnd type="none" w="med" len="med"/>
                      <a:tailEnd type="none" w="med" len="med"/>
                    </a:lnR>
                    <a:lnT w="12700" cap="flat" cmpd="sng" algn="ctr">
                      <a:solidFill>
                        <a:srgbClr val="2A8C82"/>
                      </a:solidFill>
                      <a:prstDash val="solid"/>
                      <a:round/>
                      <a:headEnd type="none" w="med" len="med"/>
                      <a:tailEnd type="none" w="med" len="med"/>
                    </a:lnT>
                    <a:lnB w="12700" cap="flat" cmpd="sng" algn="ctr">
                      <a:solidFill>
                        <a:srgbClr val="2A8C82"/>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533"/>
                          </a:solidFill>
                          <a:latin typeface="Calibri" pitchFamily="34" charset="0"/>
                          <a:ea typeface="Calibri" pitchFamily="34" charset="-122"/>
                          <a:cs typeface="Calibri" pitchFamily="34" charset="-120"/>
                        </a:rPr>
                        <a:t>True Negative (TN)</a:t>
                      </a:r>
                      <a:endParaRPr lang="en-US" sz="1200" dirty="0">
                        <a:latin typeface="Calibri" charset="0"/>
                        <a:ea typeface="Calibri" charset="0"/>
                        <a:cs typeface="Calibri" charset="0"/>
                      </a:endParaRPr>
                    </a:p>
                  </a:txBody>
                  <a:tcPr marL="50800" marR="50800" marT="50800" marB="50800" anchor="ctr">
                    <a:lnL w="12700" cap="flat" cmpd="sng" algn="ctr">
                      <a:solidFill>
                        <a:srgbClr val="2A8C82"/>
                      </a:solidFill>
                      <a:prstDash val="solid"/>
                      <a:round/>
                      <a:headEnd type="none" w="med" len="med"/>
                      <a:tailEnd type="none" w="med" len="med"/>
                    </a:lnL>
                    <a:lnR w="12700" cap="flat" cmpd="sng" algn="ctr">
                      <a:solidFill>
                        <a:srgbClr val="2A8C82"/>
                      </a:solidFill>
                      <a:prstDash val="solid"/>
                      <a:round/>
                      <a:headEnd type="none" w="med" len="med"/>
                      <a:tailEnd type="none" w="med" len="med"/>
                    </a:lnR>
                    <a:lnT w="12700" cap="flat" cmpd="sng" algn="ctr">
                      <a:solidFill>
                        <a:srgbClr val="2A8C82"/>
                      </a:solidFill>
                      <a:prstDash val="solid"/>
                      <a:round/>
                      <a:headEnd type="none" w="med" len="med"/>
                      <a:tailEnd type="none" w="med" len="med"/>
                    </a:lnT>
                    <a:lnB w="12700" cap="flat" cmpd="sng" algn="ctr">
                      <a:solidFill>
                        <a:srgbClr val="2A8C8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7" name="Shape 4"/>
          <p:cNvSpPr/>
          <p:nvPr/>
        </p:nvSpPr>
        <p:spPr>
          <a:xfrm>
            <a:off x="411480" y="3063240"/>
            <a:ext cx="4069080" cy="1737360"/>
          </a:xfrm>
          <a:prstGeom prst="rect">
            <a:avLst/>
          </a:prstGeom>
          <a:solidFill>
            <a:srgbClr val="FFFFFF"/>
          </a:solidFill>
          <a:ln w="8890">
            <a:solidFill>
              <a:srgbClr val="D4E0EA"/>
            </a:solidFill>
            <a:prstDash val="solid"/>
          </a:ln>
          <a:effectLst>
            <a:outerShdw blurRad="63500" dist="25400" dir="8100000" algn="bl" rotWithShape="0">
              <a:srgbClr val="000000">
                <a:alpha val="10000"/>
              </a:srgbClr>
            </a:outerShdw>
          </a:effectLst>
        </p:spPr>
        <p:txBody>
          <a:bodyPr/>
          <a:lstStyle/>
          <a:p>
            <a:endParaRPr lang="en-IN"/>
          </a:p>
        </p:txBody>
      </p:sp>
      <p:sp>
        <p:nvSpPr>
          <p:cNvPr id="8" name="Shape 5"/>
          <p:cNvSpPr/>
          <p:nvPr/>
        </p:nvSpPr>
        <p:spPr>
          <a:xfrm>
            <a:off x="411480" y="3063240"/>
            <a:ext cx="4069080" cy="347472"/>
          </a:xfrm>
          <a:prstGeom prst="rect">
            <a:avLst/>
          </a:prstGeom>
          <a:solidFill>
            <a:srgbClr val="2A8C82"/>
          </a:solidFill>
          <a:ln/>
        </p:spPr>
        <p:txBody>
          <a:bodyPr/>
          <a:lstStyle/>
          <a:p>
            <a:endParaRPr lang="en-IN"/>
          </a:p>
        </p:txBody>
      </p:sp>
      <p:sp>
        <p:nvSpPr>
          <p:cNvPr id="9" name="Text 6"/>
          <p:cNvSpPr/>
          <p:nvPr/>
        </p:nvSpPr>
        <p:spPr>
          <a:xfrm>
            <a:off x="411480" y="3063240"/>
            <a:ext cx="406908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Precision@K</a:t>
            </a:r>
            <a:endParaRPr lang="en-US" sz="1400" dirty="0"/>
          </a:p>
        </p:txBody>
      </p:sp>
      <p:sp>
        <p:nvSpPr>
          <p:cNvPr id="10" name="Text 7"/>
          <p:cNvSpPr/>
          <p:nvPr/>
        </p:nvSpPr>
        <p:spPr>
          <a:xfrm>
            <a:off x="502920" y="3456432"/>
            <a:ext cx="3886200" cy="1280160"/>
          </a:xfrm>
          <a:prstGeom prst="rect">
            <a:avLst/>
          </a:prstGeom>
          <a:noFill/>
          <a:ln/>
        </p:spPr>
        <p:txBody>
          <a:bodyPr wrap="square" lIns="25400" tIns="25400" rIns="25400" bIns="25400" rtlCol="0" anchor="t"/>
          <a:lstStyle/>
          <a:p>
            <a:pPr marL="0" indent="0" algn="l">
              <a:buNone/>
            </a:pPr>
            <a:r>
              <a:rPr lang="en-US" sz="1250" dirty="0">
                <a:solidFill>
                  <a:srgbClr val="3D5166"/>
                </a:solidFill>
                <a:latin typeface="Calibri" pitchFamily="34" charset="0"/>
                <a:ea typeface="Calibri" pitchFamily="34" charset="-122"/>
                <a:cs typeface="Calibri" pitchFamily="34" charset="-120"/>
              </a:rPr>
              <a:t>Precision@K = TP / (TP + FP) = Hits in Top-K / K</a:t>
            </a:r>
            <a:endParaRPr lang="en-US" sz="1250" dirty="0"/>
          </a:p>
          <a:p>
            <a:pPr marL="0" indent="0" algn="l">
              <a:buNone/>
            </a:pPr>
            <a:endParaRPr lang="en-US" sz="1250" dirty="0"/>
          </a:p>
          <a:p>
            <a:pPr marL="0" indent="0" algn="l">
              <a:buNone/>
            </a:pPr>
            <a:r>
              <a:rPr lang="en-US" sz="1250" dirty="0">
                <a:solidFill>
                  <a:srgbClr val="3D5166"/>
                </a:solidFill>
                <a:latin typeface="Calibri" pitchFamily="34" charset="0"/>
                <a:ea typeface="Calibri" pitchFamily="34" charset="-122"/>
                <a:cs typeface="Calibri" pitchFamily="34" charset="-120"/>
              </a:rPr>
              <a:t>K=10: If 2 of 10 recommendations are relevant → 0.20</a:t>
            </a:r>
            <a:endParaRPr lang="en-US" sz="1250" dirty="0"/>
          </a:p>
          <a:p>
            <a:pPr marL="0" indent="0" algn="l">
              <a:buNone/>
            </a:pPr>
            <a:endParaRPr lang="en-US" sz="1250" dirty="0"/>
          </a:p>
          <a:p>
            <a:pPr marL="0" indent="0" algn="l">
              <a:buNone/>
            </a:pPr>
            <a:r>
              <a:rPr lang="en-US" sz="1250" dirty="0">
                <a:solidFill>
                  <a:srgbClr val="3D5166"/>
                </a:solidFill>
                <a:latin typeface="Calibri" pitchFamily="34" charset="0"/>
                <a:ea typeface="Calibri" pitchFamily="34" charset="-122"/>
                <a:cs typeface="Calibri" pitchFamily="34" charset="-120"/>
              </a:rPr>
              <a:t>"Of all movies I recommended, what fraction were actually relevant?"</a:t>
            </a:r>
            <a:endParaRPr lang="en-US" sz="1250" dirty="0"/>
          </a:p>
        </p:txBody>
      </p:sp>
      <p:sp>
        <p:nvSpPr>
          <p:cNvPr id="11" name="Shape 8"/>
          <p:cNvSpPr/>
          <p:nvPr/>
        </p:nvSpPr>
        <p:spPr>
          <a:xfrm>
            <a:off x="4663440" y="3063240"/>
            <a:ext cx="4069080" cy="1737360"/>
          </a:xfrm>
          <a:prstGeom prst="rect">
            <a:avLst/>
          </a:prstGeom>
          <a:solidFill>
            <a:srgbClr val="FFFFFF"/>
          </a:solidFill>
          <a:ln w="8890">
            <a:solidFill>
              <a:srgbClr val="D4E0EA"/>
            </a:solidFill>
            <a:prstDash val="solid"/>
          </a:ln>
          <a:effectLst>
            <a:outerShdw blurRad="63500" dist="25400" dir="8100000" algn="bl" rotWithShape="0">
              <a:srgbClr val="000000">
                <a:alpha val="10000"/>
              </a:srgbClr>
            </a:outerShdw>
          </a:effectLst>
        </p:spPr>
        <p:txBody>
          <a:bodyPr/>
          <a:lstStyle/>
          <a:p>
            <a:endParaRPr lang="en-IN"/>
          </a:p>
        </p:txBody>
      </p:sp>
      <p:sp>
        <p:nvSpPr>
          <p:cNvPr id="6" name="Shape 9"/>
          <p:cNvSpPr/>
          <p:nvPr/>
        </p:nvSpPr>
        <p:spPr>
          <a:xfrm>
            <a:off x="4663440" y="3063240"/>
            <a:ext cx="4069080" cy="347472"/>
          </a:xfrm>
          <a:prstGeom prst="rect">
            <a:avLst/>
          </a:prstGeom>
          <a:solidFill>
            <a:srgbClr val="2C4A5A"/>
          </a:solidFill>
          <a:ln/>
        </p:spPr>
        <p:txBody>
          <a:bodyPr/>
          <a:lstStyle/>
          <a:p>
            <a:endParaRPr lang="en-IN"/>
          </a:p>
        </p:txBody>
      </p:sp>
      <p:sp>
        <p:nvSpPr>
          <p:cNvPr id="13" name="Text 10"/>
          <p:cNvSpPr/>
          <p:nvPr/>
        </p:nvSpPr>
        <p:spPr>
          <a:xfrm>
            <a:off x="4663440" y="3063240"/>
            <a:ext cx="406908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Recall@K</a:t>
            </a:r>
            <a:endParaRPr lang="en-US" sz="1400" dirty="0"/>
          </a:p>
        </p:txBody>
      </p:sp>
      <p:sp>
        <p:nvSpPr>
          <p:cNvPr id="14" name="Text 11"/>
          <p:cNvSpPr/>
          <p:nvPr/>
        </p:nvSpPr>
        <p:spPr>
          <a:xfrm>
            <a:off x="4754880" y="3456432"/>
            <a:ext cx="3886200" cy="1280160"/>
          </a:xfrm>
          <a:prstGeom prst="rect">
            <a:avLst/>
          </a:prstGeom>
          <a:noFill/>
          <a:ln/>
        </p:spPr>
        <p:txBody>
          <a:bodyPr wrap="square" lIns="25400" tIns="25400" rIns="25400" bIns="25400" rtlCol="0" anchor="t"/>
          <a:lstStyle/>
          <a:p>
            <a:pPr marL="0" indent="0" algn="l">
              <a:buNone/>
            </a:pPr>
            <a:r>
              <a:rPr lang="en-US" sz="1250" dirty="0">
                <a:solidFill>
                  <a:srgbClr val="3D5166"/>
                </a:solidFill>
                <a:latin typeface="Calibri" pitchFamily="34" charset="0"/>
                <a:ea typeface="Calibri" pitchFamily="34" charset="-122"/>
                <a:cs typeface="Calibri" pitchFamily="34" charset="-120"/>
              </a:rPr>
              <a:t>Recall@K = TP / (TP + FN) = Hits in Top-K / Total Relevant</a:t>
            </a:r>
            <a:endParaRPr lang="en-US" sz="1250" dirty="0"/>
          </a:p>
          <a:p>
            <a:pPr marL="0" indent="0" algn="l">
              <a:buNone/>
            </a:pPr>
            <a:endParaRPr lang="en-US" sz="1250" dirty="0"/>
          </a:p>
          <a:p>
            <a:pPr marL="0" indent="0" algn="l">
              <a:buNone/>
            </a:pPr>
            <a:r>
              <a:rPr lang="en-US" sz="1250" dirty="0">
                <a:solidFill>
                  <a:srgbClr val="3D5166"/>
                </a:solidFill>
                <a:latin typeface="Calibri" pitchFamily="34" charset="0"/>
                <a:ea typeface="Calibri" pitchFamily="34" charset="-122"/>
                <a:cs typeface="Calibri" pitchFamily="34" charset="-120"/>
              </a:rPr>
              <a:t>K=10: 2 hits from 5 relevant test items → 0.40</a:t>
            </a:r>
            <a:endParaRPr lang="en-US" sz="1250" dirty="0"/>
          </a:p>
          <a:p>
            <a:pPr marL="0" indent="0" algn="l">
              <a:buNone/>
            </a:pPr>
            <a:endParaRPr lang="en-US" sz="1250" dirty="0"/>
          </a:p>
          <a:p>
            <a:pPr marL="0" indent="0" algn="l">
              <a:buNone/>
            </a:pPr>
            <a:r>
              <a:rPr lang="en-US" sz="1250" dirty="0">
                <a:solidFill>
                  <a:srgbClr val="3D5166"/>
                </a:solidFill>
                <a:latin typeface="Calibri" pitchFamily="34" charset="0"/>
                <a:ea typeface="Calibri" pitchFamily="34" charset="-122"/>
                <a:cs typeface="Calibri" pitchFamily="34" charset="-120"/>
              </a:rPr>
              <a:t>"Of all movies the user liked, what fraction did I recommend?"</a:t>
            </a:r>
            <a:endParaRPr lang="en-US" sz="1250" dirty="0"/>
          </a:p>
        </p:txBody>
      </p:sp>
      <p:sp>
        <p:nvSpPr>
          <p:cNvPr id="15" name="Text 12"/>
          <p:cNvSpPr/>
          <p:nvPr/>
        </p:nvSpPr>
        <p:spPr>
          <a:xfrm>
            <a:off x="4663440" y="1005840"/>
            <a:ext cx="4069080" cy="347472"/>
          </a:xfrm>
          <a:prstGeom prst="rect">
            <a:avLst/>
          </a:prstGeom>
          <a:noFill/>
          <a:ln/>
        </p:spPr>
        <p:txBody>
          <a:bodyPr wrap="square" lIns="0" tIns="0" rIns="0" bIns="0" rtlCol="0" anchor="ctr"/>
          <a:lstStyle/>
          <a:p>
            <a:pPr marL="0" indent="0" algn="l">
              <a:buNone/>
            </a:pPr>
            <a:r>
              <a:rPr lang="en-US" sz="1300" b="1" dirty="0">
                <a:solidFill>
                  <a:srgbClr val="1E2D3D"/>
                </a:solidFill>
                <a:latin typeface="Cambria" pitchFamily="34" charset="0"/>
                <a:ea typeface="Cambria" pitchFamily="34" charset="-122"/>
                <a:cs typeface="Cambria" pitchFamily="34" charset="-120"/>
              </a:rPr>
              <a:t>Precision-Recall Tradeoff</a:t>
            </a:r>
            <a:endParaRPr lang="en-US" sz="1300" dirty="0"/>
          </a:p>
        </p:txBody>
      </p:sp>
      <p:sp>
        <p:nvSpPr>
          <p:cNvPr id="16" name="Shape 13"/>
          <p:cNvSpPr/>
          <p:nvPr/>
        </p:nvSpPr>
        <p:spPr>
          <a:xfrm>
            <a:off x="4663440" y="1389888"/>
            <a:ext cx="4069080" cy="1508760"/>
          </a:xfrm>
          <a:prstGeom prst="rect">
            <a:avLst/>
          </a:prstGeom>
          <a:solidFill>
            <a:srgbClr val="FFFFFF"/>
          </a:solidFill>
          <a:ln w="8890">
            <a:solidFill>
              <a:srgbClr val="D4E0EA"/>
            </a:solidFill>
            <a:prstDash val="solid"/>
          </a:ln>
          <a:effectLst>
            <a:outerShdw blurRad="63500" dist="25400" dir="8100000" algn="bl" rotWithShape="0">
              <a:srgbClr val="000000">
                <a:alpha val="10000"/>
              </a:srgbClr>
            </a:outerShdw>
          </a:effectLst>
        </p:spPr>
        <p:txBody>
          <a:bodyPr/>
          <a:lstStyle/>
          <a:p>
            <a:endParaRPr lang="en-IN"/>
          </a:p>
        </p:txBody>
      </p:sp>
      <p:sp>
        <p:nvSpPr>
          <p:cNvPr id="17" name="Text 14"/>
          <p:cNvSpPr/>
          <p:nvPr/>
        </p:nvSpPr>
        <p:spPr>
          <a:xfrm>
            <a:off x="4754880" y="1463040"/>
            <a:ext cx="3840480" cy="1371600"/>
          </a:xfrm>
          <a:prstGeom prst="rect">
            <a:avLst/>
          </a:prstGeom>
          <a:noFill/>
          <a:ln/>
        </p:spPr>
        <p:txBody>
          <a:bodyPr wrap="square" lIns="25400" tIns="25400" rIns="25400" bIns="25400" rtlCol="0" anchor="t"/>
          <a:lstStyle/>
          <a:p>
            <a:pPr marL="0" indent="0" algn="l">
              <a:buNone/>
            </a:pPr>
            <a:r>
              <a:rPr lang="en-US" sz="1200" dirty="0">
                <a:solidFill>
                  <a:srgbClr val="3D5166"/>
                </a:solidFill>
                <a:latin typeface="Calibri" pitchFamily="34" charset="0"/>
                <a:ea typeface="Calibri" pitchFamily="34" charset="-122"/>
                <a:cs typeface="Calibri" pitchFamily="34" charset="-120"/>
              </a:rPr>
              <a:t>Precision and Recall are in tension:</a:t>
            </a:r>
            <a:endParaRPr lang="en-US" sz="1200" dirty="0"/>
          </a:p>
          <a:p>
            <a:pPr marL="0" indent="0" algn="l">
              <a:buNone/>
            </a:pPr>
            <a:r>
              <a:rPr lang="en-US" sz="1200" dirty="0">
                <a:solidFill>
                  <a:srgbClr val="3D5166"/>
                </a:solidFill>
                <a:latin typeface="Calibri" pitchFamily="34" charset="0"/>
                <a:ea typeface="Calibri" pitchFamily="34" charset="-122"/>
                <a:cs typeface="Calibri" pitchFamily="34" charset="-120"/>
              </a:rPr>
              <a:t>•  Recommending everything → perfect recall, terrible precision</a:t>
            </a:r>
            <a:endParaRPr lang="en-US" sz="1200" dirty="0"/>
          </a:p>
          <a:p>
            <a:pPr marL="0" indent="0" algn="l">
              <a:buNone/>
            </a:pPr>
            <a:r>
              <a:rPr lang="en-US" sz="1200" dirty="0">
                <a:solidFill>
                  <a:srgbClr val="3D5166"/>
                </a:solidFill>
                <a:latin typeface="Calibri" pitchFamily="34" charset="0"/>
                <a:ea typeface="Calibri" pitchFamily="34" charset="-122"/>
                <a:cs typeface="Calibri" pitchFamily="34" charset="-120"/>
              </a:rPr>
              <a:t>•  Recommending 1 item → high precision, very low recall</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D3D"/>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2A8C82"/>
          </a:solidFill>
          <a:ln/>
        </p:spPr>
        <p:txBody>
          <a:bodyPr/>
          <a:lstStyle/>
          <a:p>
            <a:endParaRPr lang="en-IN"/>
          </a:p>
        </p:txBody>
      </p:sp>
      <p:sp>
        <p:nvSpPr>
          <p:cNvPr id="3" name="Text 1"/>
          <p:cNvSpPr/>
          <p:nvPr/>
        </p:nvSpPr>
        <p:spPr>
          <a:xfrm>
            <a:off x="457200" y="228600"/>
            <a:ext cx="8503920" cy="640080"/>
          </a:xfrm>
          <a:prstGeom prst="rect">
            <a:avLst/>
          </a:prstGeom>
          <a:noFill/>
          <a:ln/>
        </p:spPr>
        <p:txBody>
          <a:bodyPr wrap="square" lIns="0" tIns="0" rIns="0" bIns="0"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Technical Deep-Dive: Sparse Matrix &amp; Cosine Similarity</a:t>
            </a:r>
            <a:endParaRPr lang="en-US" sz="2800" dirty="0"/>
          </a:p>
        </p:txBody>
      </p:sp>
      <p:sp>
        <p:nvSpPr>
          <p:cNvPr id="4" name="Shape 2"/>
          <p:cNvSpPr/>
          <p:nvPr/>
        </p:nvSpPr>
        <p:spPr>
          <a:xfrm>
            <a:off x="457200" y="914400"/>
            <a:ext cx="8229600" cy="18288"/>
          </a:xfrm>
          <a:prstGeom prst="rect">
            <a:avLst/>
          </a:prstGeom>
          <a:solidFill>
            <a:srgbClr val="2A8C82"/>
          </a:solidFill>
          <a:ln/>
        </p:spPr>
        <p:txBody>
          <a:bodyPr/>
          <a:lstStyle/>
          <a:p>
            <a:endParaRPr lang="en-IN"/>
          </a:p>
        </p:txBody>
      </p:sp>
      <p:sp>
        <p:nvSpPr>
          <p:cNvPr id="5" name="Shape 3"/>
          <p:cNvSpPr/>
          <p:nvPr/>
        </p:nvSpPr>
        <p:spPr>
          <a:xfrm>
            <a:off x="411480" y="1051560"/>
            <a:ext cx="4206240" cy="3200400"/>
          </a:xfrm>
          <a:prstGeom prst="rect">
            <a:avLst/>
          </a:prstGeom>
          <a:solidFill>
            <a:srgbClr val="2C4A5A"/>
          </a:solidFill>
          <a:ln w="8890">
            <a:solidFill>
              <a:srgbClr val="2A8C82"/>
            </a:solidFill>
            <a:prstDash val="solid"/>
          </a:ln>
          <a:effectLst>
            <a:outerShdw blurRad="63500" dist="25400" dir="8100000" algn="bl" rotWithShape="0">
              <a:srgbClr val="000000">
                <a:alpha val="10000"/>
              </a:srgbClr>
            </a:outerShdw>
          </a:effectLst>
        </p:spPr>
        <p:txBody>
          <a:bodyPr/>
          <a:lstStyle/>
          <a:p>
            <a:endParaRPr lang="en-IN"/>
          </a:p>
        </p:txBody>
      </p:sp>
      <p:sp>
        <p:nvSpPr>
          <p:cNvPr id="6" name="Shape 4"/>
          <p:cNvSpPr/>
          <p:nvPr/>
        </p:nvSpPr>
        <p:spPr>
          <a:xfrm>
            <a:off x="411480" y="1051560"/>
            <a:ext cx="4206240" cy="384048"/>
          </a:xfrm>
          <a:prstGeom prst="rect">
            <a:avLst/>
          </a:prstGeom>
          <a:solidFill>
            <a:srgbClr val="2A8C82"/>
          </a:solidFill>
          <a:ln/>
        </p:spPr>
        <p:txBody>
          <a:bodyPr/>
          <a:lstStyle/>
          <a:p>
            <a:endParaRPr lang="en-IN"/>
          </a:p>
        </p:txBody>
      </p:sp>
      <p:sp>
        <p:nvSpPr>
          <p:cNvPr id="7" name="Text 5"/>
          <p:cNvSpPr/>
          <p:nvPr/>
        </p:nvSpPr>
        <p:spPr>
          <a:xfrm>
            <a:off x="411480" y="1051560"/>
            <a:ext cx="420624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Why COO Sparse Matrix?</a:t>
            </a:r>
            <a:endParaRPr lang="en-US" sz="1400" dirty="0"/>
          </a:p>
        </p:txBody>
      </p:sp>
      <p:sp>
        <p:nvSpPr>
          <p:cNvPr id="8" name="Text 6"/>
          <p:cNvSpPr/>
          <p:nvPr/>
        </p:nvSpPr>
        <p:spPr>
          <a:xfrm>
            <a:off x="548640" y="1508760"/>
            <a:ext cx="3931920" cy="2651760"/>
          </a:xfrm>
          <a:prstGeom prst="rect">
            <a:avLst/>
          </a:prstGeom>
          <a:noFill/>
          <a:ln/>
        </p:spPr>
        <p:txBody>
          <a:bodyPr wrap="square" lIns="25400" tIns="25400" rIns="25400" bIns="25400" rtlCol="0" anchor="t"/>
          <a:lstStyle/>
          <a:p>
            <a:pPr marL="0" indent="0" algn="l">
              <a:buNone/>
            </a:pPr>
            <a:r>
              <a:rPr lang="en-US" sz="1250" dirty="0">
                <a:solidFill>
                  <a:srgbClr val="D0E4EC"/>
                </a:solidFill>
                <a:latin typeface="Calibri" pitchFamily="34" charset="0"/>
                <a:ea typeface="Calibri" pitchFamily="34" charset="-122"/>
                <a:cs typeface="Calibri" pitchFamily="34" charset="-120"/>
              </a:rPr>
              <a:t>Dense matrix: 610 users × 9,742 movies = 5.94M entries
Only ~100,000 are actual ratings → 98.3% are zeros
COO stores only non-zero values:
</a:t>
            </a:r>
            <a:r>
              <a:rPr lang="en-US" sz="1250" b="1" dirty="0">
                <a:solidFill>
                  <a:srgbClr val="D0E4EC"/>
                </a:solidFill>
                <a:latin typeface="Calibri" pitchFamily="34" charset="0"/>
                <a:ea typeface="Calibri" pitchFamily="34" charset="-122"/>
                <a:cs typeface="Calibri" pitchFamily="34" charset="-120"/>
              </a:rPr>
              <a:t>  (value, row_index, col_index)
</a:t>
            </a:r>
            <a:r>
              <a:rPr lang="en-US" sz="1250" dirty="0">
                <a:solidFill>
                  <a:srgbClr val="D0E4EC"/>
                </a:solidFill>
                <a:latin typeface="Calibri" pitchFamily="34" charset="0"/>
                <a:ea typeface="Calibri" pitchFamily="34" charset="-122"/>
                <a:cs typeface="Calibri" pitchFamily="34" charset="-120"/>
              </a:rPr>
              <a:t>•  Memory savings: ~98% reduction
•  LightFM.fit() only iterates non-zero entries
•  Ideal for construction: just append tuples
</a:t>
            </a:r>
            <a:endParaRPr lang="en-US" sz="1250" dirty="0"/>
          </a:p>
        </p:txBody>
      </p:sp>
      <p:sp>
        <p:nvSpPr>
          <p:cNvPr id="9" name="Shape 7"/>
          <p:cNvSpPr/>
          <p:nvPr/>
        </p:nvSpPr>
        <p:spPr>
          <a:xfrm>
            <a:off x="4754880" y="1051560"/>
            <a:ext cx="4023360" cy="3200400"/>
          </a:xfrm>
          <a:prstGeom prst="rect">
            <a:avLst/>
          </a:prstGeom>
          <a:solidFill>
            <a:srgbClr val="2C4A5A"/>
          </a:solidFill>
          <a:ln w="8890">
            <a:solidFill>
              <a:srgbClr val="2A8C82"/>
            </a:solidFill>
            <a:prstDash val="solid"/>
          </a:ln>
          <a:effectLst>
            <a:outerShdw blurRad="63500" dist="25400" dir="8100000" algn="bl" rotWithShape="0">
              <a:srgbClr val="000000">
                <a:alpha val="10000"/>
              </a:srgbClr>
            </a:outerShdw>
          </a:effectLst>
        </p:spPr>
        <p:txBody>
          <a:bodyPr/>
          <a:lstStyle/>
          <a:p>
            <a:endParaRPr lang="en-IN"/>
          </a:p>
        </p:txBody>
      </p:sp>
      <p:sp>
        <p:nvSpPr>
          <p:cNvPr id="10" name="Shape 8"/>
          <p:cNvSpPr/>
          <p:nvPr/>
        </p:nvSpPr>
        <p:spPr>
          <a:xfrm>
            <a:off x="4754880" y="1051560"/>
            <a:ext cx="4023360" cy="384048"/>
          </a:xfrm>
          <a:prstGeom prst="rect">
            <a:avLst/>
          </a:prstGeom>
          <a:solidFill>
            <a:srgbClr val="2C4A5A"/>
          </a:solidFill>
          <a:ln/>
        </p:spPr>
        <p:txBody>
          <a:bodyPr/>
          <a:lstStyle/>
          <a:p>
            <a:endParaRPr lang="en-IN"/>
          </a:p>
        </p:txBody>
      </p:sp>
      <p:sp>
        <p:nvSpPr>
          <p:cNvPr id="11" name="Text 9"/>
          <p:cNvSpPr/>
          <p:nvPr/>
        </p:nvSpPr>
        <p:spPr>
          <a:xfrm>
            <a:off x="4754880" y="1051560"/>
            <a:ext cx="402336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Cosine Similarity</a:t>
            </a:r>
            <a:endParaRPr lang="en-US" sz="1400" dirty="0"/>
          </a:p>
        </p:txBody>
      </p:sp>
      <p:sp>
        <p:nvSpPr>
          <p:cNvPr id="12" name="Text 10"/>
          <p:cNvSpPr/>
          <p:nvPr/>
        </p:nvSpPr>
        <p:spPr>
          <a:xfrm>
            <a:off x="4846320" y="1508760"/>
            <a:ext cx="3840480" cy="640080"/>
          </a:xfrm>
          <a:prstGeom prst="rect">
            <a:avLst/>
          </a:prstGeom>
          <a:noFill/>
          <a:ln/>
        </p:spPr>
        <p:txBody>
          <a:bodyPr wrap="square" lIns="0" tIns="0" rIns="0" bIns="0" rtlCol="0" anchor="ctr"/>
          <a:lstStyle/>
          <a:p>
            <a:pPr marL="0" indent="0" algn="ctr">
              <a:buNone/>
            </a:pPr>
            <a:r>
              <a:rPr lang="en-US" sz="1600" b="1" dirty="0">
                <a:solidFill>
                  <a:srgbClr val="4BB8AE"/>
                </a:solidFill>
                <a:latin typeface="Consolas" pitchFamily="34" charset="0"/>
                <a:ea typeface="Consolas" pitchFamily="34" charset="-122"/>
                <a:cs typeface="Consolas" pitchFamily="34" charset="-120"/>
              </a:rPr>
              <a:t>cos(u,v) = (u·v) / (||u|| × ||v||)
</a:t>
            </a:r>
            <a:endParaRPr lang="en-US" sz="1600" dirty="0"/>
          </a:p>
        </p:txBody>
      </p:sp>
      <p:sp>
        <p:nvSpPr>
          <p:cNvPr id="13" name="Text 11"/>
          <p:cNvSpPr/>
          <p:nvPr/>
        </p:nvSpPr>
        <p:spPr>
          <a:xfrm>
            <a:off x="4846320" y="2194560"/>
            <a:ext cx="3840480" cy="2011680"/>
          </a:xfrm>
          <a:prstGeom prst="rect">
            <a:avLst/>
          </a:prstGeom>
          <a:noFill/>
          <a:ln/>
        </p:spPr>
        <p:txBody>
          <a:bodyPr wrap="square" lIns="25400" tIns="25400" rIns="25400" bIns="25400" rtlCol="0" anchor="t"/>
          <a:lstStyle/>
          <a:p>
            <a:pPr marL="0" indent="0" algn="l">
              <a:buNone/>
            </a:pPr>
            <a:r>
              <a:rPr lang="en-US" sz="1250" dirty="0">
                <a:solidFill>
                  <a:srgbClr val="D0E4EC"/>
                </a:solidFill>
                <a:latin typeface="Calibri" pitchFamily="34" charset="0"/>
                <a:ea typeface="Calibri" pitchFamily="34" charset="-122"/>
                <a:cs typeface="Calibri" pitchFamily="34" charset="-120"/>
              </a:rPr>
              <a:t>•  Measures angle between vectors (range: −1 to 1)
•  1 = identical direction, 0 = orthogonal
</a:t>
            </a:r>
            <a:r>
              <a:rPr lang="en-US" sz="1250" b="1" dirty="0">
                <a:solidFill>
                  <a:srgbClr val="D0E4EC"/>
                </a:solidFill>
                <a:latin typeface="Calibri" pitchFamily="34" charset="0"/>
                <a:ea typeface="Calibri" pitchFamily="34" charset="-122"/>
                <a:cs typeface="Calibri" pitchFamily="34" charset="-120"/>
              </a:rPr>
              <a:t>Why not Pearson Correlation?
</a:t>
            </a:r>
            <a:r>
              <a:rPr lang="en-US" sz="1250" dirty="0">
                <a:solidFill>
                  <a:srgbClr val="D0E4EC"/>
                </a:solidFill>
                <a:latin typeface="Calibri" pitchFamily="34" charset="0"/>
                <a:ea typeface="Calibri" pitchFamily="34" charset="-122"/>
                <a:cs typeface="Calibri" pitchFamily="34" charset="-120"/>
              </a:rPr>
              <a:t>•  LightFM embeddings are already mean-centered
     via bias terms during training
•  Cosine is computationally simpler
•  Pearson better for raw rating vectors</a:t>
            </a:r>
            <a:endParaRPr lang="en-US" sz="1250" dirty="0"/>
          </a:p>
        </p:txBody>
      </p:sp>
      <p:sp>
        <p:nvSpPr>
          <p:cNvPr id="14" name="Text 12"/>
          <p:cNvSpPr/>
          <p:nvPr/>
        </p:nvSpPr>
        <p:spPr>
          <a:xfrm>
            <a:off x="411480" y="4434840"/>
            <a:ext cx="8321040" cy="411480"/>
          </a:xfrm>
          <a:prstGeom prst="rect">
            <a:avLst/>
          </a:prstGeom>
          <a:noFill/>
          <a:ln/>
        </p:spPr>
        <p:txBody>
          <a:bodyPr wrap="square" lIns="0" tIns="0" rIns="0" bIns="0" rtlCol="0" anchor="ctr"/>
          <a:lstStyle/>
          <a:p>
            <a:pPr marL="0" indent="0" algn="ctr">
              <a:buNone/>
            </a:pPr>
            <a:r>
              <a:rPr lang="en-US" sz="1150" i="1" dirty="0">
                <a:solidFill>
                  <a:srgbClr val="4BB8AE"/>
                </a:solidFill>
                <a:latin typeface="Calibri" pitchFamily="34" charset="0"/>
                <a:ea typeface="Calibri" pitchFamily="34" charset="-122"/>
                <a:cs typeface="Calibri" pitchFamily="34" charset="-120"/>
              </a:rPr>
              <a:t>Key Insight: LightFM embeddings are DENSE — cosine similarity is always computable, unlike raw sparse rating vectors, where users with no co-rated items get similarity = 0</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9"/>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A8C82"/>
          </a:solidFill>
          <a:ln/>
        </p:spPr>
        <p:txBody>
          <a:bodyPr/>
          <a:lstStyle/>
          <a:p>
            <a:endParaRPr lang="en-IN"/>
          </a:p>
        </p:txBody>
      </p:sp>
      <p:sp>
        <p:nvSpPr>
          <p:cNvPr id="3" name="Text 1"/>
          <p:cNvSpPr/>
          <p:nvPr/>
        </p:nvSpPr>
        <p:spPr>
          <a:xfrm>
            <a:off x="411480" y="201168"/>
            <a:ext cx="8503920" cy="594360"/>
          </a:xfrm>
          <a:prstGeom prst="rect">
            <a:avLst/>
          </a:prstGeom>
          <a:noFill/>
          <a:ln/>
        </p:spPr>
        <p:txBody>
          <a:bodyPr wrap="square" lIns="0" tIns="0" rIns="0" bIns="0" rtlCol="0" anchor="ctr"/>
          <a:lstStyle/>
          <a:p>
            <a:pPr marL="0" indent="0" algn="l">
              <a:buNone/>
            </a:pPr>
            <a:r>
              <a:rPr lang="en-US" sz="2600" b="1" dirty="0">
                <a:solidFill>
                  <a:srgbClr val="1E2D3D"/>
                </a:solidFill>
                <a:latin typeface="Cambria" pitchFamily="34" charset="0"/>
                <a:ea typeface="Cambria" pitchFamily="34" charset="-122"/>
                <a:cs typeface="Cambria" pitchFamily="34" charset="-120"/>
              </a:rPr>
              <a:t>Comparison of All Three Models</a:t>
            </a:r>
            <a:endParaRPr lang="en-US" sz="2600" dirty="0"/>
          </a:p>
        </p:txBody>
      </p:sp>
      <p:sp>
        <p:nvSpPr>
          <p:cNvPr id="4" name="Shape 2"/>
          <p:cNvSpPr/>
          <p:nvPr/>
        </p:nvSpPr>
        <p:spPr>
          <a:xfrm>
            <a:off x="411480" y="868680"/>
            <a:ext cx="8321040" cy="22860"/>
          </a:xfrm>
          <a:prstGeom prst="rect">
            <a:avLst/>
          </a:prstGeom>
          <a:solidFill>
            <a:srgbClr val="4BB8AE"/>
          </a:solidFill>
          <a:ln/>
        </p:spPr>
        <p:txBody>
          <a:bodyPr/>
          <a:lstStyle/>
          <a:p>
            <a:endParaRPr lang="en-IN"/>
          </a:p>
        </p:txBody>
      </p:sp>
      <p:graphicFrame>
        <p:nvGraphicFramePr>
          <p:cNvPr id="14" name="Table 0"/>
          <p:cNvGraphicFramePr>
            <a:graphicFrameLocks noGrp="1"/>
          </p:cNvGraphicFramePr>
          <p:nvPr>
            <p:extLst>
              <p:ext uri="{D42A27DB-BD31-4B8C-83A1-F6EECF244321}">
                <p14:modId xmlns:p14="http://schemas.microsoft.com/office/powerpoint/2010/main" val="3418205713"/>
              </p:ext>
            </p:extLst>
          </p:nvPr>
        </p:nvGraphicFramePr>
        <p:xfrm>
          <a:off x="421532" y="1005840"/>
          <a:ext cx="8310987" cy="3268981"/>
        </p:xfrm>
        <a:graphic>
          <a:graphicData uri="http://schemas.openxmlformats.org/drawingml/2006/table">
            <a:tbl>
              <a:tblPr/>
              <a:tblGrid>
                <a:gridCol w="1526414">
                  <a:extLst>
                    <a:ext uri="{9D8B030D-6E8A-4147-A177-3AD203B41FA5}">
                      <a16:colId xmlns:a16="http://schemas.microsoft.com/office/drawing/2014/main" val="20000"/>
                    </a:ext>
                  </a:extLst>
                </a:gridCol>
                <a:gridCol w="2154560">
                  <a:extLst>
                    <a:ext uri="{9D8B030D-6E8A-4147-A177-3AD203B41FA5}">
                      <a16:colId xmlns:a16="http://schemas.microsoft.com/office/drawing/2014/main" val="20001"/>
                    </a:ext>
                  </a:extLst>
                </a:gridCol>
                <a:gridCol w="2154560">
                  <a:extLst>
                    <a:ext uri="{9D8B030D-6E8A-4147-A177-3AD203B41FA5}">
                      <a16:colId xmlns:a16="http://schemas.microsoft.com/office/drawing/2014/main" val="20002"/>
                    </a:ext>
                  </a:extLst>
                </a:gridCol>
                <a:gridCol w="2475453">
                  <a:extLst>
                    <a:ext uri="{9D8B030D-6E8A-4147-A177-3AD203B41FA5}">
                      <a16:colId xmlns:a16="http://schemas.microsoft.com/office/drawing/2014/main" val="20003"/>
                    </a:ext>
                  </a:extLst>
                </a:gridCol>
              </a:tblGrid>
              <a:tr h="465264">
                <a:tc>
                  <a:txBody>
                    <a:bodyPr/>
                    <a:lstStyle/>
                    <a:p>
                      <a:pPr marL="0" indent="0" algn="ctr">
                        <a:buNone/>
                      </a:pPr>
                      <a:r>
                        <a:rPr lang="en-US" sz="1250" b="1" dirty="0">
                          <a:solidFill>
                            <a:srgbClr val="FFFFFF"/>
                          </a:solidFill>
                          <a:latin typeface="Cambria" pitchFamily="34" charset="0"/>
                          <a:ea typeface="Cambria" pitchFamily="34" charset="-122"/>
                          <a:cs typeface="Cambria" pitchFamily="34" charset="-120"/>
                        </a:rPr>
                        <a:t>Aspect</a:t>
                      </a:r>
                      <a:endParaRPr lang="en-US" sz="1250" dirty="0">
                        <a:latin typeface="Cambria" charset="0"/>
                        <a:ea typeface="Cambria" charset="0"/>
                        <a:cs typeface="Cambria" charset="0"/>
                      </a:endParaRPr>
                    </a:p>
                  </a:txBody>
                  <a:tcPr marL="50800" marR="50800" marT="50800" marB="50800" anchor="ctr">
                    <a:lnL w="10160" cap="flat" cmpd="sng" algn="ctr">
                      <a:solidFill>
                        <a:srgbClr val="D4E0EA"/>
                      </a:solidFill>
                      <a:prstDash val="solid"/>
                      <a:round/>
                      <a:headEnd type="none" w="med" len="med"/>
                      <a:tailEnd type="none" w="med" len="med"/>
                    </a:lnL>
                    <a:lnR w="10160" cap="flat" cmpd="sng" algn="ctr">
                      <a:solidFill>
                        <a:srgbClr val="D4E0EA"/>
                      </a:solidFill>
                      <a:prstDash val="solid"/>
                      <a:round/>
                      <a:headEnd type="none" w="med" len="med"/>
                      <a:tailEnd type="none" w="med" len="med"/>
                    </a:lnR>
                    <a:lnT w="10160" cap="flat" cmpd="sng" algn="ctr">
                      <a:solidFill>
                        <a:srgbClr val="D4E0EA"/>
                      </a:solidFill>
                      <a:prstDash val="solid"/>
                      <a:round/>
                      <a:headEnd type="none" w="med" len="med"/>
                      <a:tailEnd type="none" w="med" len="med"/>
                    </a:lnT>
                    <a:lnB w="10160" cap="flat" cmpd="sng" algn="ctr">
                      <a:solidFill>
                        <a:srgbClr val="D4E0EA"/>
                      </a:solidFill>
                      <a:prstDash val="solid"/>
                      <a:round/>
                      <a:headEnd type="none" w="med" len="med"/>
                      <a:tailEnd type="none" w="med" len="med"/>
                    </a:lnB>
                    <a:solidFill>
                      <a:srgbClr val="1E2D3D"/>
                    </a:solidFill>
                  </a:tcPr>
                </a:tc>
                <a:tc>
                  <a:txBody>
                    <a:bodyPr/>
                    <a:lstStyle/>
                    <a:p>
                      <a:pPr marL="0" indent="0" algn="ctr">
                        <a:buNone/>
                      </a:pPr>
                      <a:r>
                        <a:rPr lang="en-US" sz="1250" b="1" dirty="0">
                          <a:solidFill>
                            <a:srgbClr val="FFFFFF"/>
                          </a:solidFill>
                          <a:latin typeface="Cambria" pitchFamily="34" charset="0"/>
                          <a:ea typeface="Cambria" pitchFamily="34" charset="-122"/>
                          <a:cs typeface="Cambria" pitchFamily="34" charset="-120"/>
                        </a:rPr>
                        <a:t>User-Based CF</a:t>
                      </a:r>
                      <a:endParaRPr lang="en-US" sz="1250" dirty="0">
                        <a:latin typeface="Cambria" charset="0"/>
                        <a:ea typeface="Cambria" charset="0"/>
                        <a:cs typeface="Cambria" charset="0"/>
                      </a:endParaRPr>
                    </a:p>
                  </a:txBody>
                  <a:tcPr marL="50800" marR="50800" marT="50800" marB="50800" anchor="ctr">
                    <a:lnL w="10160" cap="flat" cmpd="sng" algn="ctr">
                      <a:solidFill>
                        <a:srgbClr val="D4E0EA"/>
                      </a:solidFill>
                      <a:prstDash val="solid"/>
                      <a:round/>
                      <a:headEnd type="none" w="med" len="med"/>
                      <a:tailEnd type="none" w="med" len="med"/>
                    </a:lnL>
                    <a:lnR w="10160" cap="flat" cmpd="sng" algn="ctr">
                      <a:solidFill>
                        <a:srgbClr val="D4E0EA"/>
                      </a:solidFill>
                      <a:prstDash val="solid"/>
                      <a:round/>
                      <a:headEnd type="none" w="med" len="med"/>
                      <a:tailEnd type="none" w="med" len="med"/>
                    </a:lnR>
                    <a:lnT w="10160" cap="flat" cmpd="sng" algn="ctr">
                      <a:solidFill>
                        <a:srgbClr val="D4E0EA"/>
                      </a:solidFill>
                      <a:prstDash val="solid"/>
                      <a:round/>
                      <a:headEnd type="none" w="med" len="med"/>
                      <a:tailEnd type="none" w="med" len="med"/>
                    </a:lnT>
                    <a:lnB w="10160" cap="flat" cmpd="sng" algn="ctr">
                      <a:solidFill>
                        <a:srgbClr val="D4E0EA"/>
                      </a:solidFill>
                      <a:prstDash val="solid"/>
                      <a:round/>
                      <a:headEnd type="none" w="med" len="med"/>
                      <a:tailEnd type="none" w="med" len="med"/>
                    </a:lnB>
                    <a:solidFill>
                      <a:srgbClr val="2C4A5A"/>
                    </a:solidFill>
                  </a:tcPr>
                </a:tc>
                <a:tc>
                  <a:txBody>
                    <a:bodyPr/>
                    <a:lstStyle/>
                    <a:p>
                      <a:pPr marL="0" indent="0" algn="ctr">
                        <a:buNone/>
                      </a:pPr>
                      <a:r>
                        <a:rPr lang="en-US" sz="1250" b="1" dirty="0">
                          <a:solidFill>
                            <a:srgbClr val="FFFFFF"/>
                          </a:solidFill>
                          <a:latin typeface="Cambria" pitchFamily="34" charset="0"/>
                          <a:ea typeface="Cambria" pitchFamily="34" charset="-122"/>
                          <a:cs typeface="Cambria" pitchFamily="34" charset="-120"/>
                        </a:rPr>
                        <a:t>Item-Based CF</a:t>
                      </a:r>
                      <a:endParaRPr lang="en-US" sz="1250" dirty="0">
                        <a:latin typeface="Cambria" charset="0"/>
                        <a:ea typeface="Cambria" charset="0"/>
                        <a:cs typeface="Cambria" charset="0"/>
                      </a:endParaRPr>
                    </a:p>
                  </a:txBody>
                  <a:tcPr marL="50800" marR="50800" marT="50800" marB="50800" anchor="ctr">
                    <a:lnL w="10160" cap="flat" cmpd="sng" algn="ctr">
                      <a:solidFill>
                        <a:srgbClr val="D4E0EA"/>
                      </a:solidFill>
                      <a:prstDash val="solid"/>
                      <a:round/>
                      <a:headEnd type="none" w="med" len="med"/>
                      <a:tailEnd type="none" w="med" len="med"/>
                    </a:lnL>
                    <a:lnR w="10160" cap="flat" cmpd="sng" algn="ctr">
                      <a:solidFill>
                        <a:srgbClr val="D4E0EA"/>
                      </a:solidFill>
                      <a:prstDash val="solid"/>
                      <a:round/>
                      <a:headEnd type="none" w="med" len="med"/>
                      <a:tailEnd type="none" w="med" len="med"/>
                    </a:lnR>
                    <a:lnT w="10160" cap="flat" cmpd="sng" algn="ctr">
                      <a:solidFill>
                        <a:srgbClr val="D4E0EA"/>
                      </a:solidFill>
                      <a:prstDash val="solid"/>
                      <a:round/>
                      <a:headEnd type="none" w="med" len="med"/>
                      <a:tailEnd type="none" w="med" len="med"/>
                    </a:lnT>
                    <a:lnB w="10160" cap="flat" cmpd="sng" algn="ctr">
                      <a:solidFill>
                        <a:srgbClr val="D4E0EA"/>
                      </a:solidFill>
                      <a:prstDash val="solid"/>
                      <a:round/>
                      <a:headEnd type="none" w="med" len="med"/>
                      <a:tailEnd type="none" w="med" len="med"/>
                    </a:lnB>
                    <a:solidFill>
                      <a:srgbClr val="2C4A5A"/>
                    </a:solidFill>
                  </a:tcPr>
                </a:tc>
                <a:tc>
                  <a:txBody>
                    <a:bodyPr/>
                    <a:lstStyle/>
                    <a:p>
                      <a:pPr marL="0" indent="0" algn="ctr">
                        <a:buNone/>
                      </a:pPr>
                      <a:r>
                        <a:rPr lang="en-US" sz="1250" b="1" dirty="0">
                          <a:solidFill>
                            <a:srgbClr val="FFFFFF"/>
                          </a:solidFill>
                          <a:latin typeface="Cambria" pitchFamily="34" charset="0"/>
                          <a:ea typeface="Cambria" pitchFamily="34" charset="-122"/>
                          <a:cs typeface="Cambria" pitchFamily="34" charset="-120"/>
                        </a:rPr>
                        <a:t>Matrix Factorization</a:t>
                      </a:r>
                      <a:endParaRPr lang="en-US" sz="1250" dirty="0">
                        <a:latin typeface="Cambria" charset="0"/>
                        <a:ea typeface="Cambria" charset="0"/>
                        <a:cs typeface="Cambria" charset="0"/>
                      </a:endParaRPr>
                    </a:p>
                  </a:txBody>
                  <a:tcPr marL="50800" marR="50800" marT="50800" marB="50800" anchor="ctr">
                    <a:lnL w="10160" cap="flat" cmpd="sng" algn="ctr">
                      <a:solidFill>
                        <a:srgbClr val="D4E0EA"/>
                      </a:solidFill>
                      <a:prstDash val="solid"/>
                      <a:round/>
                      <a:headEnd type="none" w="med" len="med"/>
                      <a:tailEnd type="none" w="med" len="med"/>
                    </a:lnL>
                    <a:lnR w="10160" cap="flat" cmpd="sng" algn="ctr">
                      <a:solidFill>
                        <a:srgbClr val="D4E0EA"/>
                      </a:solidFill>
                      <a:prstDash val="solid"/>
                      <a:round/>
                      <a:headEnd type="none" w="med" len="med"/>
                      <a:tailEnd type="none" w="med" len="med"/>
                    </a:lnR>
                    <a:lnT w="10160" cap="flat" cmpd="sng" algn="ctr">
                      <a:solidFill>
                        <a:srgbClr val="D4E0EA"/>
                      </a:solidFill>
                      <a:prstDash val="solid"/>
                      <a:round/>
                      <a:headEnd type="none" w="med" len="med"/>
                      <a:tailEnd type="none" w="med" len="med"/>
                    </a:lnT>
                    <a:lnB w="10160" cap="flat" cmpd="sng" algn="ctr">
                      <a:solidFill>
                        <a:srgbClr val="D4E0EA"/>
                      </a:solidFill>
                      <a:prstDash val="solid"/>
                      <a:round/>
                      <a:headEnd type="none" w="med" len="med"/>
                      <a:tailEnd type="none" w="med" len="med"/>
                    </a:lnB>
                    <a:solidFill>
                      <a:srgbClr val="2A8C82"/>
                    </a:solidFill>
                  </a:tcPr>
                </a:tc>
                <a:extLst>
                  <a:ext uri="{0D108BD9-81ED-4DB2-BD59-A6C34878D82A}">
                    <a16:rowId xmlns:a16="http://schemas.microsoft.com/office/drawing/2014/main" val="10000"/>
                  </a:ext>
                </a:extLst>
              </a:tr>
              <a:tr h="400531">
                <a:tc>
                  <a:txBody>
                    <a:bodyPr/>
                    <a:lstStyle/>
                    <a:p>
                      <a:pPr marL="0" indent="0" algn="l">
                        <a:buNone/>
                      </a:pPr>
                      <a:r>
                        <a:rPr lang="en-US" sz="1150" b="1" dirty="0">
                          <a:solidFill>
                            <a:srgbClr val="1E2D3D"/>
                          </a:solidFill>
                          <a:latin typeface="Calibri" pitchFamily="34" charset="0"/>
                          <a:ea typeface="Calibri" pitchFamily="34" charset="-122"/>
                          <a:cs typeface="Calibri" pitchFamily="34" charset="-120"/>
                        </a:rPr>
                        <a:t>Similarity Type</a:t>
                      </a:r>
                      <a:endParaRPr lang="en-US" sz="1150" dirty="0">
                        <a:latin typeface="Calibri" charset="0"/>
                        <a:ea typeface="Calibri" charset="0"/>
                        <a:cs typeface="Calibri" charset="0"/>
                      </a:endParaRPr>
                    </a:p>
                  </a:txBody>
                  <a:tcPr marL="38100" marR="38100" marT="38100" marB="38100" anchor="ctr">
                    <a:lnL w="10160" cap="flat" cmpd="sng" algn="ctr">
                      <a:solidFill>
                        <a:srgbClr val="D4E0EA"/>
                      </a:solidFill>
                      <a:prstDash val="solid"/>
                      <a:round/>
                      <a:headEnd type="none" w="med" len="med"/>
                      <a:tailEnd type="none" w="med" len="med"/>
                    </a:lnL>
                    <a:lnR w="10160" cap="flat" cmpd="sng" algn="ctr">
                      <a:solidFill>
                        <a:srgbClr val="D4E0EA"/>
                      </a:solidFill>
                      <a:prstDash val="solid"/>
                      <a:round/>
                      <a:headEnd type="none" w="med" len="med"/>
                      <a:tailEnd type="none" w="med" len="med"/>
                    </a:lnR>
                    <a:lnT w="10160" cap="flat" cmpd="sng" algn="ctr">
                      <a:solidFill>
                        <a:srgbClr val="D4E0EA"/>
                      </a:solidFill>
                      <a:prstDash val="solid"/>
                      <a:round/>
                      <a:headEnd type="none" w="med" len="med"/>
                      <a:tailEnd type="none" w="med" len="med"/>
                    </a:lnT>
                    <a:lnB w="10160" cap="flat" cmpd="sng" algn="ctr">
                      <a:solidFill>
                        <a:srgbClr val="D4E0EA"/>
                      </a:solidFill>
                      <a:prstDash val="solid"/>
                      <a:round/>
                      <a:headEnd type="none" w="med" len="med"/>
                      <a:tailEnd type="none" w="med" len="med"/>
                    </a:lnB>
                    <a:solidFill>
                      <a:srgbClr val="EEF2F5"/>
                    </a:solidFill>
                  </a:tcPr>
                </a:tc>
                <a:tc>
                  <a:txBody>
                    <a:bodyPr/>
                    <a:lstStyle/>
                    <a:p>
                      <a:pPr marL="0" indent="0" algn="ctr">
                        <a:buNone/>
                      </a:pPr>
                      <a:r>
                        <a:rPr lang="en-US" sz="1150" dirty="0">
                          <a:solidFill>
                            <a:srgbClr val="3D5166"/>
                          </a:solidFill>
                          <a:latin typeface="Calibri" pitchFamily="34" charset="0"/>
                          <a:ea typeface="Calibri" pitchFamily="34" charset="-122"/>
                          <a:cs typeface="Calibri" pitchFamily="34" charset="-120"/>
                        </a:rPr>
                        <a:t>Between users</a:t>
                      </a:r>
                      <a:endParaRPr lang="en-US" sz="1150" dirty="0">
                        <a:latin typeface="Calibri" charset="0"/>
                        <a:ea typeface="Calibri" charset="0"/>
                        <a:cs typeface="Calibri" charset="0"/>
                      </a:endParaRPr>
                    </a:p>
                  </a:txBody>
                  <a:tcPr marL="38100" marR="38100" marT="38100" marB="38100" anchor="ctr">
                    <a:lnL w="10160" cap="flat" cmpd="sng" algn="ctr">
                      <a:solidFill>
                        <a:srgbClr val="D4E0EA"/>
                      </a:solidFill>
                      <a:prstDash val="solid"/>
                      <a:round/>
                      <a:headEnd type="none" w="med" len="med"/>
                      <a:tailEnd type="none" w="med" len="med"/>
                    </a:lnL>
                    <a:lnR w="10160" cap="flat" cmpd="sng" algn="ctr">
                      <a:solidFill>
                        <a:srgbClr val="D4E0EA"/>
                      </a:solidFill>
                      <a:prstDash val="solid"/>
                      <a:round/>
                      <a:headEnd type="none" w="med" len="med"/>
                      <a:tailEnd type="none" w="med" len="med"/>
                    </a:lnR>
                    <a:lnT w="10160" cap="flat" cmpd="sng" algn="ctr">
                      <a:solidFill>
                        <a:srgbClr val="D4E0EA"/>
                      </a:solidFill>
                      <a:prstDash val="solid"/>
                      <a:round/>
                      <a:headEnd type="none" w="med" len="med"/>
                      <a:tailEnd type="none" w="med" len="med"/>
                    </a:lnT>
                    <a:lnB w="10160" cap="flat" cmpd="sng" algn="ctr">
                      <a:solidFill>
                        <a:srgbClr val="D4E0EA"/>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D5166"/>
                          </a:solidFill>
                          <a:latin typeface="Calibri" pitchFamily="34" charset="0"/>
                          <a:ea typeface="Calibri" pitchFamily="34" charset="-122"/>
                          <a:cs typeface="Calibri" pitchFamily="34" charset="-120"/>
                        </a:rPr>
                        <a:t>Between items</a:t>
                      </a:r>
                      <a:endParaRPr lang="en-US" sz="1150" dirty="0">
                        <a:latin typeface="Calibri" charset="0"/>
                        <a:ea typeface="Calibri" charset="0"/>
                        <a:cs typeface="Calibri" charset="0"/>
                      </a:endParaRPr>
                    </a:p>
                  </a:txBody>
                  <a:tcPr marL="38100" marR="38100" marT="38100" marB="38100" anchor="ctr">
                    <a:lnL w="10160" cap="flat" cmpd="sng" algn="ctr">
                      <a:solidFill>
                        <a:srgbClr val="D4E0EA"/>
                      </a:solidFill>
                      <a:prstDash val="solid"/>
                      <a:round/>
                      <a:headEnd type="none" w="med" len="med"/>
                      <a:tailEnd type="none" w="med" len="med"/>
                    </a:lnL>
                    <a:lnR w="10160" cap="flat" cmpd="sng" algn="ctr">
                      <a:solidFill>
                        <a:srgbClr val="D4E0EA"/>
                      </a:solidFill>
                      <a:prstDash val="solid"/>
                      <a:round/>
                      <a:headEnd type="none" w="med" len="med"/>
                      <a:tailEnd type="none" w="med" len="med"/>
                    </a:lnR>
                    <a:lnT w="10160" cap="flat" cmpd="sng" algn="ctr">
                      <a:solidFill>
                        <a:srgbClr val="D4E0EA"/>
                      </a:solidFill>
                      <a:prstDash val="solid"/>
                      <a:round/>
                      <a:headEnd type="none" w="med" len="med"/>
                      <a:tailEnd type="none" w="med" len="med"/>
                    </a:lnT>
                    <a:lnB w="10160" cap="flat" cmpd="sng" algn="ctr">
                      <a:solidFill>
                        <a:srgbClr val="D4E0EA"/>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D5166"/>
                          </a:solidFill>
                          <a:latin typeface="Calibri" pitchFamily="34" charset="0"/>
                          <a:ea typeface="Calibri" pitchFamily="34" charset="-122"/>
                          <a:cs typeface="Calibri" pitchFamily="34" charset="-120"/>
                        </a:rPr>
                        <a:t>Latent factors (implicit)</a:t>
                      </a:r>
                      <a:endParaRPr lang="en-US" sz="1150" dirty="0">
                        <a:latin typeface="Calibri" charset="0"/>
                        <a:ea typeface="Calibri" charset="0"/>
                        <a:cs typeface="Calibri" charset="0"/>
                      </a:endParaRPr>
                    </a:p>
                  </a:txBody>
                  <a:tcPr marL="38100" marR="38100" marT="38100" marB="38100" anchor="ctr">
                    <a:lnL w="10160" cap="flat" cmpd="sng" algn="ctr">
                      <a:solidFill>
                        <a:srgbClr val="D4E0EA"/>
                      </a:solidFill>
                      <a:prstDash val="solid"/>
                      <a:round/>
                      <a:headEnd type="none" w="med" len="med"/>
                      <a:tailEnd type="none" w="med" len="med"/>
                    </a:lnL>
                    <a:lnR w="10160" cap="flat" cmpd="sng" algn="ctr">
                      <a:solidFill>
                        <a:srgbClr val="D4E0EA"/>
                      </a:solidFill>
                      <a:prstDash val="solid"/>
                      <a:round/>
                      <a:headEnd type="none" w="med" len="med"/>
                      <a:tailEnd type="none" w="med" len="med"/>
                    </a:lnR>
                    <a:lnT w="10160" cap="flat" cmpd="sng" algn="ctr">
                      <a:solidFill>
                        <a:srgbClr val="D4E0EA"/>
                      </a:solidFill>
                      <a:prstDash val="solid"/>
                      <a:round/>
                      <a:headEnd type="none" w="med" len="med"/>
                      <a:tailEnd type="none" w="med" len="med"/>
                    </a:lnT>
                    <a:lnB w="10160" cap="flat" cmpd="sng" algn="ctr">
                      <a:solidFill>
                        <a:srgbClr val="D4E0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0531">
                <a:tc>
                  <a:txBody>
                    <a:bodyPr/>
                    <a:lstStyle/>
                    <a:p>
                      <a:pPr marL="0" indent="0" algn="l">
                        <a:buNone/>
                      </a:pPr>
                      <a:r>
                        <a:rPr lang="en-US" sz="1150" b="1" dirty="0">
                          <a:solidFill>
                            <a:srgbClr val="1E2D3D"/>
                          </a:solidFill>
                          <a:latin typeface="Calibri" pitchFamily="34" charset="0"/>
                          <a:ea typeface="Calibri" pitchFamily="34" charset="-122"/>
                          <a:cs typeface="Calibri" pitchFamily="34" charset="-120"/>
                        </a:rPr>
                        <a:t>Expected Performance</a:t>
                      </a:r>
                      <a:endParaRPr lang="en-US" sz="1150" dirty="0">
                        <a:latin typeface="Calibri" charset="0"/>
                        <a:ea typeface="Calibri" charset="0"/>
                        <a:cs typeface="Calibri" charset="0"/>
                      </a:endParaRPr>
                    </a:p>
                  </a:txBody>
                  <a:tcPr marL="38100" marR="38100" marT="38100" marB="38100" anchor="ctr">
                    <a:lnL w="10160" cap="flat" cmpd="sng" algn="ctr">
                      <a:solidFill>
                        <a:srgbClr val="D4E0EA"/>
                      </a:solidFill>
                      <a:prstDash val="solid"/>
                      <a:round/>
                      <a:headEnd type="none" w="med" len="med"/>
                      <a:tailEnd type="none" w="med" len="med"/>
                    </a:lnL>
                    <a:lnR w="10160" cap="flat" cmpd="sng" algn="ctr">
                      <a:solidFill>
                        <a:srgbClr val="D4E0EA"/>
                      </a:solidFill>
                      <a:prstDash val="solid"/>
                      <a:round/>
                      <a:headEnd type="none" w="med" len="med"/>
                      <a:tailEnd type="none" w="med" len="med"/>
                    </a:lnR>
                    <a:lnT w="10160" cap="flat" cmpd="sng" algn="ctr">
                      <a:solidFill>
                        <a:srgbClr val="D4E0EA"/>
                      </a:solidFill>
                      <a:prstDash val="solid"/>
                      <a:round/>
                      <a:headEnd type="none" w="med" len="med"/>
                      <a:tailEnd type="none" w="med" len="med"/>
                    </a:lnT>
                    <a:lnB w="10160" cap="flat" cmpd="sng" algn="ctr">
                      <a:solidFill>
                        <a:srgbClr val="D4E0EA"/>
                      </a:solidFill>
                      <a:prstDash val="solid"/>
                      <a:round/>
                      <a:headEnd type="none" w="med" len="med"/>
                      <a:tailEnd type="none" w="med" len="med"/>
                    </a:lnB>
                    <a:solidFill>
                      <a:srgbClr val="EEF2F5"/>
                    </a:solidFill>
                  </a:tcPr>
                </a:tc>
                <a:tc>
                  <a:txBody>
                    <a:bodyPr/>
                    <a:lstStyle/>
                    <a:p>
                      <a:pPr marL="0" indent="0" algn="ctr">
                        <a:buNone/>
                      </a:pPr>
                      <a:r>
                        <a:rPr lang="en-US" sz="1150" dirty="0">
                          <a:solidFill>
                            <a:srgbClr val="3D5166"/>
                          </a:solidFill>
                          <a:latin typeface="Calibri" pitchFamily="34" charset="0"/>
                          <a:ea typeface="Calibri" pitchFamily="34" charset="-122"/>
                          <a:cs typeface="Calibri" pitchFamily="34" charset="-120"/>
                        </a:rPr>
                        <a:t>Moderate</a:t>
                      </a:r>
                      <a:endParaRPr lang="en-US" sz="1150" dirty="0">
                        <a:latin typeface="Calibri" charset="0"/>
                        <a:ea typeface="Calibri" charset="0"/>
                        <a:cs typeface="Calibri" charset="0"/>
                      </a:endParaRPr>
                    </a:p>
                  </a:txBody>
                  <a:tcPr marL="38100" marR="38100" marT="38100" marB="38100" anchor="ctr">
                    <a:lnL w="10160" cap="flat" cmpd="sng" algn="ctr">
                      <a:solidFill>
                        <a:srgbClr val="D4E0EA"/>
                      </a:solidFill>
                      <a:prstDash val="solid"/>
                      <a:round/>
                      <a:headEnd type="none" w="med" len="med"/>
                      <a:tailEnd type="none" w="med" len="med"/>
                    </a:lnL>
                    <a:lnR w="10160" cap="flat" cmpd="sng" algn="ctr">
                      <a:solidFill>
                        <a:srgbClr val="D4E0EA"/>
                      </a:solidFill>
                      <a:prstDash val="solid"/>
                      <a:round/>
                      <a:headEnd type="none" w="med" len="med"/>
                      <a:tailEnd type="none" w="med" len="med"/>
                    </a:lnR>
                    <a:lnT w="10160" cap="flat" cmpd="sng" algn="ctr">
                      <a:solidFill>
                        <a:srgbClr val="D4E0EA"/>
                      </a:solidFill>
                      <a:prstDash val="solid"/>
                      <a:round/>
                      <a:headEnd type="none" w="med" len="med"/>
                      <a:tailEnd type="none" w="med" len="med"/>
                    </a:lnT>
                    <a:lnB w="10160" cap="flat" cmpd="sng" algn="ctr">
                      <a:solidFill>
                        <a:srgbClr val="D4E0EA"/>
                      </a:solidFill>
                      <a:prstDash val="solid"/>
                      <a:round/>
                      <a:headEnd type="none" w="med" len="med"/>
                      <a:tailEnd type="none" w="med" len="med"/>
                    </a:lnB>
                    <a:solidFill>
                      <a:srgbClr val="F0F5F8"/>
                    </a:solidFill>
                  </a:tcPr>
                </a:tc>
                <a:tc>
                  <a:txBody>
                    <a:bodyPr/>
                    <a:lstStyle/>
                    <a:p>
                      <a:pPr marL="0" indent="0" algn="ctr">
                        <a:buNone/>
                      </a:pPr>
                      <a:r>
                        <a:rPr lang="en-US" sz="1150" dirty="0">
                          <a:solidFill>
                            <a:srgbClr val="3D5166"/>
                          </a:solidFill>
                          <a:latin typeface="Calibri" pitchFamily="34" charset="0"/>
                          <a:ea typeface="Calibri" pitchFamily="34" charset="-122"/>
                          <a:cs typeface="Calibri" pitchFamily="34" charset="-120"/>
                        </a:rPr>
                        <a:t>Moderate–Good</a:t>
                      </a:r>
                      <a:endParaRPr lang="en-US" sz="1150" dirty="0">
                        <a:latin typeface="Calibri" charset="0"/>
                        <a:ea typeface="Calibri" charset="0"/>
                        <a:cs typeface="Calibri" charset="0"/>
                      </a:endParaRPr>
                    </a:p>
                  </a:txBody>
                  <a:tcPr marL="38100" marR="38100" marT="38100" marB="38100" anchor="ctr">
                    <a:lnL w="10160" cap="flat" cmpd="sng" algn="ctr">
                      <a:solidFill>
                        <a:srgbClr val="D4E0EA"/>
                      </a:solidFill>
                      <a:prstDash val="solid"/>
                      <a:round/>
                      <a:headEnd type="none" w="med" len="med"/>
                      <a:tailEnd type="none" w="med" len="med"/>
                    </a:lnL>
                    <a:lnR w="10160" cap="flat" cmpd="sng" algn="ctr">
                      <a:solidFill>
                        <a:srgbClr val="D4E0EA"/>
                      </a:solidFill>
                      <a:prstDash val="solid"/>
                      <a:round/>
                      <a:headEnd type="none" w="med" len="med"/>
                      <a:tailEnd type="none" w="med" len="med"/>
                    </a:lnR>
                    <a:lnT w="10160" cap="flat" cmpd="sng" algn="ctr">
                      <a:solidFill>
                        <a:srgbClr val="D4E0EA"/>
                      </a:solidFill>
                      <a:prstDash val="solid"/>
                      <a:round/>
                      <a:headEnd type="none" w="med" len="med"/>
                      <a:tailEnd type="none" w="med" len="med"/>
                    </a:lnT>
                    <a:lnB w="10160" cap="flat" cmpd="sng" algn="ctr">
                      <a:solidFill>
                        <a:srgbClr val="D4E0EA"/>
                      </a:solidFill>
                      <a:prstDash val="solid"/>
                      <a:round/>
                      <a:headEnd type="none" w="med" len="med"/>
                      <a:tailEnd type="none" w="med" len="med"/>
                    </a:lnB>
                    <a:solidFill>
                      <a:srgbClr val="F0F5F8"/>
                    </a:solidFill>
                  </a:tcPr>
                </a:tc>
                <a:tc>
                  <a:txBody>
                    <a:bodyPr/>
                    <a:lstStyle/>
                    <a:p>
                      <a:pPr marL="0" indent="0" algn="ctr">
                        <a:buNone/>
                      </a:pPr>
                      <a:r>
                        <a:rPr lang="en-US" sz="1150" dirty="0">
                          <a:solidFill>
                            <a:srgbClr val="3D5166"/>
                          </a:solidFill>
                          <a:latin typeface="Calibri" pitchFamily="34" charset="0"/>
                          <a:ea typeface="Calibri" pitchFamily="34" charset="-122"/>
                          <a:cs typeface="Calibri" pitchFamily="34" charset="-120"/>
                        </a:rPr>
                        <a:t>Best (global objective)</a:t>
                      </a:r>
                      <a:endParaRPr lang="en-US" sz="1150" dirty="0">
                        <a:latin typeface="Calibri" charset="0"/>
                        <a:ea typeface="Calibri" charset="0"/>
                        <a:cs typeface="Calibri" charset="0"/>
                      </a:endParaRPr>
                    </a:p>
                  </a:txBody>
                  <a:tcPr marL="38100" marR="38100" marT="38100" marB="38100" anchor="ctr">
                    <a:lnL w="10160" cap="flat" cmpd="sng" algn="ctr">
                      <a:solidFill>
                        <a:srgbClr val="D4E0EA"/>
                      </a:solidFill>
                      <a:prstDash val="solid"/>
                      <a:round/>
                      <a:headEnd type="none" w="med" len="med"/>
                      <a:tailEnd type="none" w="med" len="med"/>
                    </a:lnL>
                    <a:lnR w="10160" cap="flat" cmpd="sng" algn="ctr">
                      <a:solidFill>
                        <a:srgbClr val="D4E0EA"/>
                      </a:solidFill>
                      <a:prstDash val="solid"/>
                      <a:round/>
                      <a:headEnd type="none" w="med" len="med"/>
                      <a:tailEnd type="none" w="med" len="med"/>
                    </a:lnR>
                    <a:lnT w="10160" cap="flat" cmpd="sng" algn="ctr">
                      <a:solidFill>
                        <a:srgbClr val="D4E0EA"/>
                      </a:solidFill>
                      <a:prstDash val="solid"/>
                      <a:round/>
                      <a:headEnd type="none" w="med" len="med"/>
                      <a:tailEnd type="none" w="med" len="med"/>
                    </a:lnT>
                    <a:lnB w="10160" cap="flat" cmpd="sng" algn="ctr">
                      <a:solidFill>
                        <a:srgbClr val="D4E0EA"/>
                      </a:solidFill>
                      <a:prstDash val="solid"/>
                      <a:round/>
                      <a:headEnd type="none" w="med" len="med"/>
                      <a:tailEnd type="none" w="med" len="med"/>
                    </a:lnB>
                    <a:solidFill>
                      <a:srgbClr val="F0F5F8"/>
                    </a:solidFill>
                  </a:tcPr>
                </a:tc>
                <a:extLst>
                  <a:ext uri="{0D108BD9-81ED-4DB2-BD59-A6C34878D82A}">
                    <a16:rowId xmlns:a16="http://schemas.microsoft.com/office/drawing/2014/main" val="10002"/>
                  </a:ext>
                </a:extLst>
              </a:tr>
              <a:tr h="400531">
                <a:tc>
                  <a:txBody>
                    <a:bodyPr/>
                    <a:lstStyle/>
                    <a:p>
                      <a:pPr marL="0" indent="0" algn="l">
                        <a:buNone/>
                      </a:pPr>
                      <a:r>
                        <a:rPr lang="en-US" sz="1150" b="1" dirty="0">
                          <a:solidFill>
                            <a:srgbClr val="1E2D3D"/>
                          </a:solidFill>
                          <a:latin typeface="Calibri" pitchFamily="34" charset="0"/>
                          <a:ea typeface="Calibri" pitchFamily="34" charset="-122"/>
                          <a:cs typeface="Calibri" pitchFamily="34" charset="-120"/>
                        </a:rPr>
                        <a:t>Cold Start (New User)</a:t>
                      </a:r>
                      <a:endParaRPr lang="en-US" sz="1150" dirty="0">
                        <a:latin typeface="Calibri" charset="0"/>
                        <a:ea typeface="Calibri" charset="0"/>
                        <a:cs typeface="Calibri" charset="0"/>
                      </a:endParaRPr>
                    </a:p>
                  </a:txBody>
                  <a:tcPr marL="38100" marR="38100" marT="38100" marB="38100" anchor="ctr">
                    <a:lnL w="10160" cap="flat" cmpd="sng" algn="ctr">
                      <a:solidFill>
                        <a:srgbClr val="D4E0EA"/>
                      </a:solidFill>
                      <a:prstDash val="solid"/>
                      <a:round/>
                      <a:headEnd type="none" w="med" len="med"/>
                      <a:tailEnd type="none" w="med" len="med"/>
                    </a:lnL>
                    <a:lnR w="10160" cap="flat" cmpd="sng" algn="ctr">
                      <a:solidFill>
                        <a:srgbClr val="D4E0EA"/>
                      </a:solidFill>
                      <a:prstDash val="solid"/>
                      <a:round/>
                      <a:headEnd type="none" w="med" len="med"/>
                      <a:tailEnd type="none" w="med" len="med"/>
                    </a:lnR>
                    <a:lnT w="10160" cap="flat" cmpd="sng" algn="ctr">
                      <a:solidFill>
                        <a:srgbClr val="D4E0EA"/>
                      </a:solidFill>
                      <a:prstDash val="solid"/>
                      <a:round/>
                      <a:headEnd type="none" w="med" len="med"/>
                      <a:tailEnd type="none" w="med" len="med"/>
                    </a:lnT>
                    <a:lnB w="10160" cap="flat" cmpd="sng" algn="ctr">
                      <a:solidFill>
                        <a:srgbClr val="D4E0EA"/>
                      </a:solidFill>
                      <a:prstDash val="solid"/>
                      <a:round/>
                      <a:headEnd type="none" w="med" len="med"/>
                      <a:tailEnd type="none" w="med" len="med"/>
                    </a:lnB>
                    <a:solidFill>
                      <a:srgbClr val="EEF2F5"/>
                    </a:solidFill>
                  </a:tcPr>
                </a:tc>
                <a:tc>
                  <a:txBody>
                    <a:bodyPr/>
                    <a:lstStyle/>
                    <a:p>
                      <a:pPr marL="0" indent="0" algn="ctr">
                        <a:buNone/>
                      </a:pPr>
                      <a:r>
                        <a:rPr lang="en-US" sz="1150" dirty="0">
                          <a:solidFill>
                            <a:srgbClr val="3D5166"/>
                          </a:solidFill>
                          <a:latin typeface="Calibri" pitchFamily="34" charset="0"/>
                          <a:ea typeface="Calibri" pitchFamily="34" charset="-122"/>
                          <a:cs typeface="Calibri" pitchFamily="34" charset="-120"/>
                        </a:rPr>
                        <a:t>Cannot recommend</a:t>
                      </a:r>
                      <a:endParaRPr lang="en-US" sz="1150" dirty="0">
                        <a:latin typeface="Calibri" charset="0"/>
                        <a:ea typeface="Calibri" charset="0"/>
                        <a:cs typeface="Calibri" charset="0"/>
                      </a:endParaRPr>
                    </a:p>
                  </a:txBody>
                  <a:tcPr marL="38100" marR="38100" marT="38100" marB="38100" anchor="ctr">
                    <a:lnL w="10160" cap="flat" cmpd="sng" algn="ctr">
                      <a:solidFill>
                        <a:srgbClr val="D4E0EA"/>
                      </a:solidFill>
                      <a:prstDash val="solid"/>
                      <a:round/>
                      <a:headEnd type="none" w="med" len="med"/>
                      <a:tailEnd type="none" w="med" len="med"/>
                    </a:lnL>
                    <a:lnR w="10160" cap="flat" cmpd="sng" algn="ctr">
                      <a:solidFill>
                        <a:srgbClr val="D4E0EA"/>
                      </a:solidFill>
                      <a:prstDash val="solid"/>
                      <a:round/>
                      <a:headEnd type="none" w="med" len="med"/>
                      <a:tailEnd type="none" w="med" len="med"/>
                    </a:lnR>
                    <a:lnT w="10160" cap="flat" cmpd="sng" algn="ctr">
                      <a:solidFill>
                        <a:srgbClr val="D4E0EA"/>
                      </a:solidFill>
                      <a:prstDash val="solid"/>
                      <a:round/>
                      <a:headEnd type="none" w="med" len="med"/>
                      <a:tailEnd type="none" w="med" len="med"/>
                    </a:lnT>
                    <a:lnB w="10160" cap="flat" cmpd="sng" algn="ctr">
                      <a:solidFill>
                        <a:srgbClr val="D4E0EA"/>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D5166"/>
                          </a:solidFill>
                          <a:latin typeface="Calibri" pitchFamily="34" charset="0"/>
                          <a:ea typeface="Calibri" pitchFamily="34" charset="-122"/>
                          <a:cs typeface="Calibri" pitchFamily="34" charset="-120"/>
                        </a:rPr>
                        <a:t>Limited</a:t>
                      </a:r>
                      <a:endParaRPr lang="en-US" sz="1150" dirty="0">
                        <a:latin typeface="Calibri" charset="0"/>
                        <a:ea typeface="Calibri" charset="0"/>
                        <a:cs typeface="Calibri" charset="0"/>
                      </a:endParaRPr>
                    </a:p>
                  </a:txBody>
                  <a:tcPr marL="38100" marR="38100" marT="38100" marB="38100" anchor="ctr">
                    <a:lnL w="10160" cap="flat" cmpd="sng" algn="ctr">
                      <a:solidFill>
                        <a:srgbClr val="D4E0EA"/>
                      </a:solidFill>
                      <a:prstDash val="solid"/>
                      <a:round/>
                      <a:headEnd type="none" w="med" len="med"/>
                      <a:tailEnd type="none" w="med" len="med"/>
                    </a:lnL>
                    <a:lnR w="10160" cap="flat" cmpd="sng" algn="ctr">
                      <a:solidFill>
                        <a:srgbClr val="D4E0EA"/>
                      </a:solidFill>
                      <a:prstDash val="solid"/>
                      <a:round/>
                      <a:headEnd type="none" w="med" len="med"/>
                      <a:tailEnd type="none" w="med" len="med"/>
                    </a:lnR>
                    <a:lnT w="10160" cap="flat" cmpd="sng" algn="ctr">
                      <a:solidFill>
                        <a:srgbClr val="D4E0EA"/>
                      </a:solidFill>
                      <a:prstDash val="solid"/>
                      <a:round/>
                      <a:headEnd type="none" w="med" len="med"/>
                      <a:tailEnd type="none" w="med" len="med"/>
                    </a:lnT>
                    <a:lnB w="10160" cap="flat" cmpd="sng" algn="ctr">
                      <a:solidFill>
                        <a:srgbClr val="D4E0EA"/>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D5166"/>
                          </a:solidFill>
                          <a:latin typeface="Calibri" pitchFamily="34" charset="0"/>
                          <a:ea typeface="Calibri" pitchFamily="34" charset="-122"/>
                          <a:cs typeface="Calibri" pitchFamily="34" charset="-120"/>
                        </a:rPr>
                        <a:t>Cannot recommend</a:t>
                      </a:r>
                      <a:endParaRPr lang="en-US" sz="1150" dirty="0">
                        <a:latin typeface="Calibri" charset="0"/>
                        <a:ea typeface="Calibri" charset="0"/>
                        <a:cs typeface="Calibri" charset="0"/>
                      </a:endParaRPr>
                    </a:p>
                  </a:txBody>
                  <a:tcPr marL="38100" marR="38100" marT="38100" marB="38100" anchor="ctr">
                    <a:lnL w="10160" cap="flat" cmpd="sng" algn="ctr">
                      <a:solidFill>
                        <a:srgbClr val="D4E0EA"/>
                      </a:solidFill>
                      <a:prstDash val="solid"/>
                      <a:round/>
                      <a:headEnd type="none" w="med" len="med"/>
                      <a:tailEnd type="none" w="med" len="med"/>
                    </a:lnL>
                    <a:lnR w="10160" cap="flat" cmpd="sng" algn="ctr">
                      <a:solidFill>
                        <a:srgbClr val="D4E0EA"/>
                      </a:solidFill>
                      <a:prstDash val="solid"/>
                      <a:round/>
                      <a:headEnd type="none" w="med" len="med"/>
                      <a:tailEnd type="none" w="med" len="med"/>
                    </a:lnR>
                    <a:lnT w="10160" cap="flat" cmpd="sng" algn="ctr">
                      <a:solidFill>
                        <a:srgbClr val="D4E0EA"/>
                      </a:solidFill>
                      <a:prstDash val="solid"/>
                      <a:round/>
                      <a:headEnd type="none" w="med" len="med"/>
                      <a:tailEnd type="none" w="med" len="med"/>
                    </a:lnT>
                    <a:lnB w="10160" cap="flat" cmpd="sng" algn="ctr">
                      <a:solidFill>
                        <a:srgbClr val="D4E0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0531">
                <a:tc>
                  <a:txBody>
                    <a:bodyPr/>
                    <a:lstStyle/>
                    <a:p>
                      <a:pPr marL="0" indent="0" algn="l">
                        <a:buNone/>
                      </a:pPr>
                      <a:r>
                        <a:rPr lang="en-US" sz="1150" b="1" dirty="0">
                          <a:solidFill>
                            <a:srgbClr val="1E2D3D"/>
                          </a:solidFill>
                          <a:latin typeface="Calibri" pitchFamily="34" charset="0"/>
                          <a:ea typeface="Calibri" pitchFamily="34" charset="-122"/>
                          <a:cs typeface="Calibri" pitchFamily="34" charset="-120"/>
                        </a:rPr>
                        <a:t>Cold Start (New Item)</a:t>
                      </a:r>
                      <a:endParaRPr lang="en-US" sz="1150" dirty="0">
                        <a:latin typeface="Calibri" charset="0"/>
                        <a:ea typeface="Calibri" charset="0"/>
                        <a:cs typeface="Calibri" charset="0"/>
                      </a:endParaRPr>
                    </a:p>
                  </a:txBody>
                  <a:tcPr marL="38100" marR="38100" marT="38100" marB="38100" anchor="ctr">
                    <a:lnL w="10160" cap="flat" cmpd="sng" algn="ctr">
                      <a:solidFill>
                        <a:srgbClr val="D4E0EA"/>
                      </a:solidFill>
                      <a:prstDash val="solid"/>
                      <a:round/>
                      <a:headEnd type="none" w="med" len="med"/>
                      <a:tailEnd type="none" w="med" len="med"/>
                    </a:lnL>
                    <a:lnR w="10160" cap="flat" cmpd="sng" algn="ctr">
                      <a:solidFill>
                        <a:srgbClr val="D4E0EA"/>
                      </a:solidFill>
                      <a:prstDash val="solid"/>
                      <a:round/>
                      <a:headEnd type="none" w="med" len="med"/>
                      <a:tailEnd type="none" w="med" len="med"/>
                    </a:lnR>
                    <a:lnT w="10160" cap="flat" cmpd="sng" algn="ctr">
                      <a:solidFill>
                        <a:srgbClr val="D4E0EA"/>
                      </a:solidFill>
                      <a:prstDash val="solid"/>
                      <a:round/>
                      <a:headEnd type="none" w="med" len="med"/>
                      <a:tailEnd type="none" w="med" len="med"/>
                    </a:lnT>
                    <a:lnB w="10160" cap="flat" cmpd="sng" algn="ctr">
                      <a:solidFill>
                        <a:srgbClr val="D4E0EA"/>
                      </a:solidFill>
                      <a:prstDash val="solid"/>
                      <a:round/>
                      <a:headEnd type="none" w="med" len="med"/>
                      <a:tailEnd type="none" w="med" len="med"/>
                    </a:lnB>
                    <a:solidFill>
                      <a:srgbClr val="EEF2F5"/>
                    </a:solidFill>
                  </a:tcPr>
                </a:tc>
                <a:tc>
                  <a:txBody>
                    <a:bodyPr/>
                    <a:lstStyle/>
                    <a:p>
                      <a:pPr marL="0" indent="0" algn="ctr">
                        <a:buNone/>
                      </a:pPr>
                      <a:r>
                        <a:rPr lang="en-US" sz="1150" dirty="0">
                          <a:solidFill>
                            <a:srgbClr val="3D5166"/>
                          </a:solidFill>
                          <a:latin typeface="Calibri" pitchFamily="34" charset="0"/>
                          <a:ea typeface="Calibri" pitchFamily="34" charset="-122"/>
                          <a:cs typeface="Calibri" pitchFamily="34" charset="-120"/>
                        </a:rPr>
                        <a:t>Limited</a:t>
                      </a:r>
                      <a:endParaRPr lang="en-US" sz="1150" dirty="0">
                        <a:latin typeface="Calibri" charset="0"/>
                        <a:ea typeface="Calibri" charset="0"/>
                        <a:cs typeface="Calibri" charset="0"/>
                      </a:endParaRPr>
                    </a:p>
                  </a:txBody>
                  <a:tcPr marL="38100" marR="38100" marT="38100" marB="38100" anchor="ctr">
                    <a:lnL w="10160" cap="flat" cmpd="sng" algn="ctr">
                      <a:solidFill>
                        <a:srgbClr val="D4E0EA"/>
                      </a:solidFill>
                      <a:prstDash val="solid"/>
                      <a:round/>
                      <a:headEnd type="none" w="med" len="med"/>
                      <a:tailEnd type="none" w="med" len="med"/>
                    </a:lnL>
                    <a:lnR w="10160" cap="flat" cmpd="sng" algn="ctr">
                      <a:solidFill>
                        <a:srgbClr val="D4E0EA"/>
                      </a:solidFill>
                      <a:prstDash val="solid"/>
                      <a:round/>
                      <a:headEnd type="none" w="med" len="med"/>
                      <a:tailEnd type="none" w="med" len="med"/>
                    </a:lnR>
                    <a:lnT w="10160" cap="flat" cmpd="sng" algn="ctr">
                      <a:solidFill>
                        <a:srgbClr val="D4E0EA"/>
                      </a:solidFill>
                      <a:prstDash val="solid"/>
                      <a:round/>
                      <a:headEnd type="none" w="med" len="med"/>
                      <a:tailEnd type="none" w="med" len="med"/>
                    </a:lnT>
                    <a:lnB w="10160" cap="flat" cmpd="sng" algn="ctr">
                      <a:solidFill>
                        <a:srgbClr val="D4E0EA"/>
                      </a:solidFill>
                      <a:prstDash val="solid"/>
                      <a:round/>
                      <a:headEnd type="none" w="med" len="med"/>
                      <a:tailEnd type="none" w="med" len="med"/>
                    </a:lnB>
                    <a:solidFill>
                      <a:srgbClr val="F0F5F8"/>
                    </a:solidFill>
                  </a:tcPr>
                </a:tc>
                <a:tc>
                  <a:txBody>
                    <a:bodyPr/>
                    <a:lstStyle/>
                    <a:p>
                      <a:pPr marL="0" indent="0" algn="ctr">
                        <a:buNone/>
                      </a:pPr>
                      <a:r>
                        <a:rPr lang="en-US" sz="1150" dirty="0">
                          <a:solidFill>
                            <a:srgbClr val="3D5166"/>
                          </a:solidFill>
                          <a:latin typeface="Calibri" pitchFamily="34" charset="0"/>
                          <a:ea typeface="Calibri" pitchFamily="34" charset="-122"/>
                          <a:cs typeface="Calibri" pitchFamily="34" charset="-120"/>
                        </a:rPr>
                        <a:t>Cannot recommend</a:t>
                      </a:r>
                      <a:endParaRPr lang="en-US" sz="1150" dirty="0">
                        <a:latin typeface="Calibri" charset="0"/>
                        <a:ea typeface="Calibri" charset="0"/>
                        <a:cs typeface="Calibri" charset="0"/>
                      </a:endParaRPr>
                    </a:p>
                  </a:txBody>
                  <a:tcPr marL="38100" marR="38100" marT="38100" marB="38100" anchor="ctr">
                    <a:lnL w="10160" cap="flat" cmpd="sng" algn="ctr">
                      <a:solidFill>
                        <a:srgbClr val="D4E0EA"/>
                      </a:solidFill>
                      <a:prstDash val="solid"/>
                      <a:round/>
                      <a:headEnd type="none" w="med" len="med"/>
                      <a:tailEnd type="none" w="med" len="med"/>
                    </a:lnL>
                    <a:lnR w="10160" cap="flat" cmpd="sng" algn="ctr">
                      <a:solidFill>
                        <a:srgbClr val="D4E0EA"/>
                      </a:solidFill>
                      <a:prstDash val="solid"/>
                      <a:round/>
                      <a:headEnd type="none" w="med" len="med"/>
                      <a:tailEnd type="none" w="med" len="med"/>
                    </a:lnR>
                    <a:lnT w="10160" cap="flat" cmpd="sng" algn="ctr">
                      <a:solidFill>
                        <a:srgbClr val="D4E0EA"/>
                      </a:solidFill>
                      <a:prstDash val="solid"/>
                      <a:round/>
                      <a:headEnd type="none" w="med" len="med"/>
                      <a:tailEnd type="none" w="med" len="med"/>
                    </a:lnT>
                    <a:lnB w="10160" cap="flat" cmpd="sng" algn="ctr">
                      <a:solidFill>
                        <a:srgbClr val="D4E0EA"/>
                      </a:solidFill>
                      <a:prstDash val="solid"/>
                      <a:round/>
                      <a:headEnd type="none" w="med" len="med"/>
                      <a:tailEnd type="none" w="med" len="med"/>
                    </a:lnB>
                    <a:solidFill>
                      <a:srgbClr val="F0F5F8"/>
                    </a:solidFill>
                  </a:tcPr>
                </a:tc>
                <a:tc>
                  <a:txBody>
                    <a:bodyPr/>
                    <a:lstStyle/>
                    <a:p>
                      <a:pPr marL="0" indent="0" algn="ctr">
                        <a:buNone/>
                      </a:pPr>
                      <a:r>
                        <a:rPr lang="en-US" sz="1150" dirty="0">
                          <a:solidFill>
                            <a:srgbClr val="3D5166"/>
                          </a:solidFill>
                          <a:latin typeface="Calibri" pitchFamily="34" charset="0"/>
                          <a:ea typeface="Calibri" pitchFamily="34" charset="-122"/>
                          <a:cs typeface="Calibri" pitchFamily="34" charset="-120"/>
                        </a:rPr>
                        <a:t>Cannot recommend</a:t>
                      </a:r>
                      <a:endParaRPr lang="en-US" sz="1150" dirty="0">
                        <a:latin typeface="Calibri" charset="0"/>
                        <a:ea typeface="Calibri" charset="0"/>
                        <a:cs typeface="Calibri" charset="0"/>
                      </a:endParaRPr>
                    </a:p>
                  </a:txBody>
                  <a:tcPr marL="38100" marR="38100" marT="38100" marB="38100" anchor="ctr">
                    <a:lnL w="10160" cap="flat" cmpd="sng" algn="ctr">
                      <a:solidFill>
                        <a:srgbClr val="D4E0EA"/>
                      </a:solidFill>
                      <a:prstDash val="solid"/>
                      <a:round/>
                      <a:headEnd type="none" w="med" len="med"/>
                      <a:tailEnd type="none" w="med" len="med"/>
                    </a:lnL>
                    <a:lnR w="10160" cap="flat" cmpd="sng" algn="ctr">
                      <a:solidFill>
                        <a:srgbClr val="D4E0EA"/>
                      </a:solidFill>
                      <a:prstDash val="solid"/>
                      <a:round/>
                      <a:headEnd type="none" w="med" len="med"/>
                      <a:tailEnd type="none" w="med" len="med"/>
                    </a:lnR>
                    <a:lnT w="10160" cap="flat" cmpd="sng" algn="ctr">
                      <a:solidFill>
                        <a:srgbClr val="D4E0EA"/>
                      </a:solidFill>
                      <a:prstDash val="solid"/>
                      <a:round/>
                      <a:headEnd type="none" w="med" len="med"/>
                      <a:tailEnd type="none" w="med" len="med"/>
                    </a:lnT>
                    <a:lnB w="10160" cap="flat" cmpd="sng" algn="ctr">
                      <a:solidFill>
                        <a:srgbClr val="D4E0EA"/>
                      </a:solidFill>
                      <a:prstDash val="solid"/>
                      <a:round/>
                      <a:headEnd type="none" w="med" len="med"/>
                      <a:tailEnd type="none" w="med" len="med"/>
                    </a:lnB>
                    <a:solidFill>
                      <a:srgbClr val="F0F5F8"/>
                    </a:solidFill>
                  </a:tcPr>
                </a:tc>
                <a:extLst>
                  <a:ext uri="{0D108BD9-81ED-4DB2-BD59-A6C34878D82A}">
                    <a16:rowId xmlns:a16="http://schemas.microsoft.com/office/drawing/2014/main" val="10004"/>
                  </a:ext>
                </a:extLst>
              </a:tr>
              <a:tr h="400531">
                <a:tc>
                  <a:txBody>
                    <a:bodyPr/>
                    <a:lstStyle/>
                    <a:p>
                      <a:pPr marL="0" indent="0" algn="l">
                        <a:buNone/>
                      </a:pPr>
                      <a:r>
                        <a:rPr lang="en-US" sz="1150" b="1" dirty="0">
                          <a:solidFill>
                            <a:srgbClr val="1E2D3D"/>
                          </a:solidFill>
                          <a:latin typeface="Calibri" pitchFamily="34" charset="0"/>
                          <a:ea typeface="Calibri" pitchFamily="34" charset="-122"/>
                          <a:cs typeface="Calibri" pitchFamily="34" charset="-120"/>
                        </a:rPr>
                        <a:t>Scalability</a:t>
                      </a:r>
                      <a:endParaRPr lang="en-US" sz="1150" dirty="0">
                        <a:latin typeface="Calibri" charset="0"/>
                        <a:ea typeface="Calibri" charset="0"/>
                        <a:cs typeface="Calibri" charset="0"/>
                      </a:endParaRPr>
                    </a:p>
                  </a:txBody>
                  <a:tcPr marL="38100" marR="38100" marT="38100" marB="38100" anchor="ctr">
                    <a:lnL w="10160" cap="flat" cmpd="sng" algn="ctr">
                      <a:solidFill>
                        <a:srgbClr val="D4E0EA"/>
                      </a:solidFill>
                      <a:prstDash val="solid"/>
                      <a:round/>
                      <a:headEnd type="none" w="med" len="med"/>
                      <a:tailEnd type="none" w="med" len="med"/>
                    </a:lnL>
                    <a:lnR w="10160" cap="flat" cmpd="sng" algn="ctr">
                      <a:solidFill>
                        <a:srgbClr val="D4E0EA"/>
                      </a:solidFill>
                      <a:prstDash val="solid"/>
                      <a:round/>
                      <a:headEnd type="none" w="med" len="med"/>
                      <a:tailEnd type="none" w="med" len="med"/>
                    </a:lnR>
                    <a:lnT w="10160" cap="flat" cmpd="sng" algn="ctr">
                      <a:solidFill>
                        <a:srgbClr val="D4E0EA"/>
                      </a:solidFill>
                      <a:prstDash val="solid"/>
                      <a:round/>
                      <a:headEnd type="none" w="med" len="med"/>
                      <a:tailEnd type="none" w="med" len="med"/>
                    </a:lnT>
                    <a:lnB w="10160" cap="flat" cmpd="sng" algn="ctr">
                      <a:solidFill>
                        <a:srgbClr val="D4E0EA"/>
                      </a:solidFill>
                      <a:prstDash val="solid"/>
                      <a:round/>
                      <a:headEnd type="none" w="med" len="med"/>
                      <a:tailEnd type="none" w="med" len="med"/>
                    </a:lnB>
                    <a:solidFill>
                      <a:srgbClr val="EEF2F5"/>
                    </a:solidFill>
                  </a:tcPr>
                </a:tc>
                <a:tc>
                  <a:txBody>
                    <a:bodyPr/>
                    <a:lstStyle/>
                    <a:p>
                      <a:pPr marL="0" indent="0" algn="ctr">
                        <a:buNone/>
                      </a:pPr>
                      <a:r>
                        <a:rPr lang="en-US" sz="1150" dirty="0">
                          <a:solidFill>
                            <a:srgbClr val="3D5166"/>
                          </a:solidFill>
                          <a:latin typeface="Calibri" pitchFamily="34" charset="0"/>
                          <a:ea typeface="Calibri" pitchFamily="34" charset="-122"/>
                          <a:cs typeface="Calibri" pitchFamily="34" charset="-120"/>
                        </a:rPr>
                        <a:t>Poor (U grows large)</a:t>
                      </a:r>
                      <a:endParaRPr lang="en-US" sz="1150" dirty="0">
                        <a:latin typeface="Calibri" charset="0"/>
                        <a:ea typeface="Calibri" charset="0"/>
                        <a:cs typeface="Calibri" charset="0"/>
                      </a:endParaRPr>
                    </a:p>
                  </a:txBody>
                  <a:tcPr marL="38100" marR="38100" marT="38100" marB="38100" anchor="ctr">
                    <a:lnL w="10160" cap="flat" cmpd="sng" algn="ctr">
                      <a:solidFill>
                        <a:srgbClr val="D4E0EA"/>
                      </a:solidFill>
                      <a:prstDash val="solid"/>
                      <a:round/>
                      <a:headEnd type="none" w="med" len="med"/>
                      <a:tailEnd type="none" w="med" len="med"/>
                    </a:lnL>
                    <a:lnR w="10160" cap="flat" cmpd="sng" algn="ctr">
                      <a:solidFill>
                        <a:srgbClr val="D4E0EA"/>
                      </a:solidFill>
                      <a:prstDash val="solid"/>
                      <a:round/>
                      <a:headEnd type="none" w="med" len="med"/>
                      <a:tailEnd type="none" w="med" len="med"/>
                    </a:lnR>
                    <a:lnT w="10160" cap="flat" cmpd="sng" algn="ctr">
                      <a:solidFill>
                        <a:srgbClr val="D4E0EA"/>
                      </a:solidFill>
                      <a:prstDash val="solid"/>
                      <a:round/>
                      <a:headEnd type="none" w="med" len="med"/>
                      <a:tailEnd type="none" w="med" len="med"/>
                    </a:lnT>
                    <a:lnB w="10160" cap="flat" cmpd="sng" algn="ctr">
                      <a:solidFill>
                        <a:srgbClr val="D4E0EA"/>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D5166"/>
                          </a:solidFill>
                          <a:latin typeface="Calibri" pitchFamily="34" charset="0"/>
                          <a:ea typeface="Calibri" pitchFamily="34" charset="-122"/>
                          <a:cs typeface="Calibri" pitchFamily="34" charset="-120"/>
                        </a:rPr>
                        <a:t>Better (items stable)</a:t>
                      </a:r>
                      <a:endParaRPr lang="en-US" sz="1150" dirty="0">
                        <a:latin typeface="Calibri" charset="0"/>
                        <a:ea typeface="Calibri" charset="0"/>
                        <a:cs typeface="Calibri" charset="0"/>
                      </a:endParaRPr>
                    </a:p>
                  </a:txBody>
                  <a:tcPr marL="38100" marR="38100" marT="38100" marB="38100" anchor="ctr">
                    <a:lnL w="10160" cap="flat" cmpd="sng" algn="ctr">
                      <a:solidFill>
                        <a:srgbClr val="D4E0EA"/>
                      </a:solidFill>
                      <a:prstDash val="solid"/>
                      <a:round/>
                      <a:headEnd type="none" w="med" len="med"/>
                      <a:tailEnd type="none" w="med" len="med"/>
                    </a:lnL>
                    <a:lnR w="10160" cap="flat" cmpd="sng" algn="ctr">
                      <a:solidFill>
                        <a:srgbClr val="D4E0EA"/>
                      </a:solidFill>
                      <a:prstDash val="solid"/>
                      <a:round/>
                      <a:headEnd type="none" w="med" len="med"/>
                      <a:tailEnd type="none" w="med" len="med"/>
                    </a:lnR>
                    <a:lnT w="10160" cap="flat" cmpd="sng" algn="ctr">
                      <a:solidFill>
                        <a:srgbClr val="D4E0EA"/>
                      </a:solidFill>
                      <a:prstDash val="solid"/>
                      <a:round/>
                      <a:headEnd type="none" w="med" len="med"/>
                      <a:tailEnd type="none" w="med" len="med"/>
                    </a:lnT>
                    <a:lnB w="10160" cap="flat" cmpd="sng" algn="ctr">
                      <a:solidFill>
                        <a:srgbClr val="D4E0EA"/>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D5166"/>
                          </a:solidFill>
                          <a:latin typeface="Calibri" pitchFamily="34" charset="0"/>
                          <a:ea typeface="Calibri" pitchFamily="34" charset="-122"/>
                          <a:cs typeface="Calibri" pitchFamily="34" charset="-120"/>
                        </a:rPr>
                        <a:t>Excellent</a:t>
                      </a:r>
                      <a:endParaRPr lang="en-US" sz="1150" dirty="0">
                        <a:latin typeface="Calibri" charset="0"/>
                        <a:ea typeface="Calibri" charset="0"/>
                        <a:cs typeface="Calibri" charset="0"/>
                      </a:endParaRPr>
                    </a:p>
                  </a:txBody>
                  <a:tcPr marL="38100" marR="38100" marT="38100" marB="38100" anchor="ctr">
                    <a:lnL w="10160" cap="flat" cmpd="sng" algn="ctr">
                      <a:solidFill>
                        <a:srgbClr val="D4E0EA"/>
                      </a:solidFill>
                      <a:prstDash val="solid"/>
                      <a:round/>
                      <a:headEnd type="none" w="med" len="med"/>
                      <a:tailEnd type="none" w="med" len="med"/>
                    </a:lnL>
                    <a:lnR w="10160" cap="flat" cmpd="sng" algn="ctr">
                      <a:solidFill>
                        <a:srgbClr val="D4E0EA"/>
                      </a:solidFill>
                      <a:prstDash val="solid"/>
                      <a:round/>
                      <a:headEnd type="none" w="med" len="med"/>
                      <a:tailEnd type="none" w="med" len="med"/>
                    </a:lnR>
                    <a:lnT w="10160" cap="flat" cmpd="sng" algn="ctr">
                      <a:solidFill>
                        <a:srgbClr val="D4E0EA"/>
                      </a:solidFill>
                      <a:prstDash val="solid"/>
                      <a:round/>
                      <a:headEnd type="none" w="med" len="med"/>
                      <a:tailEnd type="none" w="med" len="med"/>
                    </a:lnT>
                    <a:lnB w="10160" cap="flat" cmpd="sng" algn="ctr">
                      <a:solidFill>
                        <a:srgbClr val="D4E0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0531">
                <a:tc>
                  <a:txBody>
                    <a:bodyPr/>
                    <a:lstStyle/>
                    <a:p>
                      <a:pPr marL="0" indent="0" algn="l">
                        <a:buNone/>
                      </a:pPr>
                      <a:r>
                        <a:rPr lang="en-US" sz="1150" b="1" dirty="0">
                          <a:solidFill>
                            <a:srgbClr val="1E2D3D"/>
                          </a:solidFill>
                          <a:latin typeface="Calibri" pitchFamily="34" charset="0"/>
                          <a:ea typeface="Calibri" pitchFamily="34" charset="-122"/>
                          <a:cs typeface="Calibri" pitchFamily="34" charset="-120"/>
                        </a:rPr>
                        <a:t>Interpretability</a:t>
                      </a:r>
                      <a:endParaRPr lang="en-US" sz="1150" dirty="0">
                        <a:latin typeface="Calibri" charset="0"/>
                        <a:ea typeface="Calibri" charset="0"/>
                        <a:cs typeface="Calibri" charset="0"/>
                      </a:endParaRPr>
                    </a:p>
                  </a:txBody>
                  <a:tcPr marL="38100" marR="38100" marT="38100" marB="38100" anchor="ctr">
                    <a:lnL w="10160" cap="flat" cmpd="sng" algn="ctr">
                      <a:solidFill>
                        <a:srgbClr val="D4E0EA"/>
                      </a:solidFill>
                      <a:prstDash val="solid"/>
                      <a:round/>
                      <a:headEnd type="none" w="med" len="med"/>
                      <a:tailEnd type="none" w="med" len="med"/>
                    </a:lnL>
                    <a:lnR w="10160" cap="flat" cmpd="sng" algn="ctr">
                      <a:solidFill>
                        <a:srgbClr val="D4E0EA"/>
                      </a:solidFill>
                      <a:prstDash val="solid"/>
                      <a:round/>
                      <a:headEnd type="none" w="med" len="med"/>
                      <a:tailEnd type="none" w="med" len="med"/>
                    </a:lnR>
                    <a:lnT w="10160" cap="flat" cmpd="sng" algn="ctr">
                      <a:solidFill>
                        <a:srgbClr val="D4E0EA"/>
                      </a:solidFill>
                      <a:prstDash val="solid"/>
                      <a:round/>
                      <a:headEnd type="none" w="med" len="med"/>
                      <a:tailEnd type="none" w="med" len="med"/>
                    </a:lnT>
                    <a:lnB w="10160" cap="flat" cmpd="sng" algn="ctr">
                      <a:solidFill>
                        <a:srgbClr val="D4E0EA"/>
                      </a:solidFill>
                      <a:prstDash val="solid"/>
                      <a:round/>
                      <a:headEnd type="none" w="med" len="med"/>
                      <a:tailEnd type="none" w="med" len="med"/>
                    </a:lnB>
                    <a:solidFill>
                      <a:srgbClr val="EEF2F5"/>
                    </a:solidFill>
                  </a:tcPr>
                </a:tc>
                <a:tc>
                  <a:txBody>
                    <a:bodyPr/>
                    <a:lstStyle/>
                    <a:p>
                      <a:pPr marL="0" indent="0" algn="ctr">
                        <a:buNone/>
                      </a:pPr>
                      <a:r>
                        <a:rPr lang="en-US" sz="1150" dirty="0">
                          <a:solidFill>
                            <a:srgbClr val="3D5166"/>
                          </a:solidFill>
                          <a:latin typeface="Calibri" pitchFamily="34" charset="0"/>
                          <a:ea typeface="Calibri" pitchFamily="34" charset="-122"/>
                          <a:cs typeface="Calibri" pitchFamily="34" charset="-120"/>
                        </a:rPr>
                        <a:t>High (neighbor-based)</a:t>
                      </a:r>
                      <a:endParaRPr lang="en-US" sz="1150" dirty="0">
                        <a:latin typeface="Calibri" charset="0"/>
                        <a:ea typeface="Calibri" charset="0"/>
                        <a:cs typeface="Calibri" charset="0"/>
                      </a:endParaRPr>
                    </a:p>
                  </a:txBody>
                  <a:tcPr marL="38100" marR="38100" marT="38100" marB="38100" anchor="ctr">
                    <a:lnL w="10160" cap="flat" cmpd="sng" algn="ctr">
                      <a:solidFill>
                        <a:srgbClr val="D4E0EA"/>
                      </a:solidFill>
                      <a:prstDash val="solid"/>
                      <a:round/>
                      <a:headEnd type="none" w="med" len="med"/>
                      <a:tailEnd type="none" w="med" len="med"/>
                    </a:lnL>
                    <a:lnR w="10160" cap="flat" cmpd="sng" algn="ctr">
                      <a:solidFill>
                        <a:srgbClr val="D4E0EA"/>
                      </a:solidFill>
                      <a:prstDash val="solid"/>
                      <a:round/>
                      <a:headEnd type="none" w="med" len="med"/>
                      <a:tailEnd type="none" w="med" len="med"/>
                    </a:lnR>
                    <a:lnT w="10160" cap="flat" cmpd="sng" algn="ctr">
                      <a:solidFill>
                        <a:srgbClr val="D4E0EA"/>
                      </a:solidFill>
                      <a:prstDash val="solid"/>
                      <a:round/>
                      <a:headEnd type="none" w="med" len="med"/>
                      <a:tailEnd type="none" w="med" len="med"/>
                    </a:lnT>
                    <a:lnB w="10160" cap="flat" cmpd="sng" algn="ctr">
                      <a:solidFill>
                        <a:srgbClr val="D4E0EA"/>
                      </a:solidFill>
                      <a:prstDash val="solid"/>
                      <a:round/>
                      <a:headEnd type="none" w="med" len="med"/>
                      <a:tailEnd type="none" w="med" len="med"/>
                    </a:lnB>
                    <a:solidFill>
                      <a:srgbClr val="F0F5F8"/>
                    </a:solidFill>
                  </a:tcPr>
                </a:tc>
                <a:tc>
                  <a:txBody>
                    <a:bodyPr/>
                    <a:lstStyle/>
                    <a:p>
                      <a:pPr marL="0" indent="0" algn="ctr">
                        <a:buNone/>
                      </a:pPr>
                      <a:r>
                        <a:rPr lang="en-US" sz="1150" dirty="0">
                          <a:solidFill>
                            <a:srgbClr val="3D5166"/>
                          </a:solidFill>
                          <a:latin typeface="Calibri" pitchFamily="34" charset="0"/>
                          <a:ea typeface="Calibri" pitchFamily="34" charset="-122"/>
                          <a:cs typeface="Calibri" pitchFamily="34" charset="-120"/>
                        </a:rPr>
                        <a:t>High (item similarity)</a:t>
                      </a:r>
                      <a:endParaRPr lang="en-US" sz="1150" dirty="0">
                        <a:latin typeface="Calibri" charset="0"/>
                        <a:ea typeface="Calibri" charset="0"/>
                        <a:cs typeface="Calibri" charset="0"/>
                      </a:endParaRPr>
                    </a:p>
                  </a:txBody>
                  <a:tcPr marL="38100" marR="38100" marT="38100" marB="38100" anchor="ctr">
                    <a:lnL w="10160" cap="flat" cmpd="sng" algn="ctr">
                      <a:solidFill>
                        <a:srgbClr val="D4E0EA"/>
                      </a:solidFill>
                      <a:prstDash val="solid"/>
                      <a:round/>
                      <a:headEnd type="none" w="med" len="med"/>
                      <a:tailEnd type="none" w="med" len="med"/>
                    </a:lnL>
                    <a:lnR w="10160" cap="flat" cmpd="sng" algn="ctr">
                      <a:solidFill>
                        <a:srgbClr val="D4E0EA"/>
                      </a:solidFill>
                      <a:prstDash val="solid"/>
                      <a:round/>
                      <a:headEnd type="none" w="med" len="med"/>
                      <a:tailEnd type="none" w="med" len="med"/>
                    </a:lnR>
                    <a:lnT w="10160" cap="flat" cmpd="sng" algn="ctr">
                      <a:solidFill>
                        <a:srgbClr val="D4E0EA"/>
                      </a:solidFill>
                      <a:prstDash val="solid"/>
                      <a:round/>
                      <a:headEnd type="none" w="med" len="med"/>
                      <a:tailEnd type="none" w="med" len="med"/>
                    </a:lnT>
                    <a:lnB w="10160" cap="flat" cmpd="sng" algn="ctr">
                      <a:solidFill>
                        <a:srgbClr val="D4E0EA"/>
                      </a:solidFill>
                      <a:prstDash val="solid"/>
                      <a:round/>
                      <a:headEnd type="none" w="med" len="med"/>
                      <a:tailEnd type="none" w="med" len="med"/>
                    </a:lnB>
                    <a:solidFill>
                      <a:srgbClr val="F0F5F8"/>
                    </a:solidFill>
                  </a:tcPr>
                </a:tc>
                <a:tc>
                  <a:txBody>
                    <a:bodyPr/>
                    <a:lstStyle/>
                    <a:p>
                      <a:pPr marL="0" indent="0" algn="ctr">
                        <a:buNone/>
                      </a:pPr>
                      <a:r>
                        <a:rPr lang="en-US" sz="1150" dirty="0">
                          <a:solidFill>
                            <a:srgbClr val="3D5166"/>
                          </a:solidFill>
                          <a:latin typeface="Calibri" pitchFamily="34" charset="0"/>
                          <a:ea typeface="Calibri" pitchFamily="34" charset="-122"/>
                          <a:cs typeface="Calibri" pitchFamily="34" charset="-120"/>
                        </a:rPr>
                        <a:t>Low (black box latents)</a:t>
                      </a:r>
                      <a:endParaRPr lang="en-US" sz="1150" dirty="0">
                        <a:latin typeface="Calibri" charset="0"/>
                        <a:ea typeface="Calibri" charset="0"/>
                        <a:cs typeface="Calibri" charset="0"/>
                      </a:endParaRPr>
                    </a:p>
                  </a:txBody>
                  <a:tcPr marL="38100" marR="38100" marT="38100" marB="38100" anchor="ctr">
                    <a:lnL w="10160" cap="flat" cmpd="sng" algn="ctr">
                      <a:solidFill>
                        <a:srgbClr val="D4E0EA"/>
                      </a:solidFill>
                      <a:prstDash val="solid"/>
                      <a:round/>
                      <a:headEnd type="none" w="med" len="med"/>
                      <a:tailEnd type="none" w="med" len="med"/>
                    </a:lnL>
                    <a:lnR w="10160" cap="flat" cmpd="sng" algn="ctr">
                      <a:solidFill>
                        <a:srgbClr val="D4E0EA"/>
                      </a:solidFill>
                      <a:prstDash val="solid"/>
                      <a:round/>
                      <a:headEnd type="none" w="med" len="med"/>
                      <a:tailEnd type="none" w="med" len="med"/>
                    </a:lnR>
                    <a:lnT w="10160" cap="flat" cmpd="sng" algn="ctr">
                      <a:solidFill>
                        <a:srgbClr val="D4E0EA"/>
                      </a:solidFill>
                      <a:prstDash val="solid"/>
                      <a:round/>
                      <a:headEnd type="none" w="med" len="med"/>
                      <a:tailEnd type="none" w="med" len="med"/>
                    </a:lnT>
                    <a:lnB w="10160" cap="flat" cmpd="sng" algn="ctr">
                      <a:solidFill>
                        <a:srgbClr val="D4E0EA"/>
                      </a:solidFill>
                      <a:prstDash val="solid"/>
                      <a:round/>
                      <a:headEnd type="none" w="med" len="med"/>
                      <a:tailEnd type="none" w="med" len="med"/>
                    </a:lnB>
                    <a:solidFill>
                      <a:srgbClr val="F0F5F8"/>
                    </a:solidFill>
                  </a:tcPr>
                </a:tc>
                <a:extLst>
                  <a:ext uri="{0D108BD9-81ED-4DB2-BD59-A6C34878D82A}">
                    <a16:rowId xmlns:a16="http://schemas.microsoft.com/office/drawing/2014/main" val="10006"/>
                  </a:ext>
                </a:extLst>
              </a:tr>
              <a:tr h="400531">
                <a:tc>
                  <a:txBody>
                    <a:bodyPr/>
                    <a:lstStyle/>
                    <a:p>
                      <a:pPr marL="0" indent="0" algn="l">
                        <a:buNone/>
                      </a:pPr>
                      <a:r>
                        <a:rPr lang="en-US" sz="1150" b="1" dirty="0">
                          <a:solidFill>
                            <a:srgbClr val="1E2D3D"/>
                          </a:solidFill>
                          <a:latin typeface="Calibri" pitchFamily="34" charset="0"/>
                          <a:ea typeface="Calibri" pitchFamily="34" charset="-122"/>
                          <a:cs typeface="Calibri" pitchFamily="34" charset="-120"/>
                        </a:rPr>
                        <a:t>Use of LightFM</a:t>
                      </a:r>
                      <a:endParaRPr lang="en-US" sz="1150" dirty="0">
                        <a:latin typeface="Calibri" charset="0"/>
                        <a:ea typeface="Calibri" charset="0"/>
                        <a:cs typeface="Calibri" charset="0"/>
                      </a:endParaRPr>
                    </a:p>
                  </a:txBody>
                  <a:tcPr marL="38100" marR="38100" marT="38100" marB="38100" anchor="ctr">
                    <a:lnL w="10160" cap="flat" cmpd="sng" algn="ctr">
                      <a:solidFill>
                        <a:srgbClr val="D4E0EA"/>
                      </a:solidFill>
                      <a:prstDash val="solid"/>
                      <a:round/>
                      <a:headEnd type="none" w="med" len="med"/>
                      <a:tailEnd type="none" w="med" len="med"/>
                    </a:lnL>
                    <a:lnR w="10160" cap="flat" cmpd="sng" algn="ctr">
                      <a:solidFill>
                        <a:srgbClr val="D4E0EA"/>
                      </a:solidFill>
                      <a:prstDash val="solid"/>
                      <a:round/>
                      <a:headEnd type="none" w="med" len="med"/>
                      <a:tailEnd type="none" w="med" len="med"/>
                    </a:lnR>
                    <a:lnT w="10160" cap="flat" cmpd="sng" algn="ctr">
                      <a:solidFill>
                        <a:srgbClr val="D4E0EA"/>
                      </a:solidFill>
                      <a:prstDash val="solid"/>
                      <a:round/>
                      <a:headEnd type="none" w="med" len="med"/>
                      <a:tailEnd type="none" w="med" len="med"/>
                    </a:lnT>
                    <a:lnB w="10160" cap="flat" cmpd="sng" algn="ctr">
                      <a:solidFill>
                        <a:srgbClr val="D4E0EA"/>
                      </a:solidFill>
                      <a:prstDash val="solid"/>
                      <a:round/>
                      <a:headEnd type="none" w="med" len="med"/>
                      <a:tailEnd type="none" w="med" len="med"/>
                    </a:lnB>
                    <a:solidFill>
                      <a:srgbClr val="EEF2F5"/>
                    </a:solidFill>
                  </a:tcPr>
                </a:tc>
                <a:tc>
                  <a:txBody>
                    <a:bodyPr/>
                    <a:lstStyle/>
                    <a:p>
                      <a:pPr marL="0" indent="0" algn="ctr">
                        <a:buNone/>
                      </a:pPr>
                      <a:r>
                        <a:rPr lang="en-US" sz="1150" dirty="0">
                          <a:solidFill>
                            <a:srgbClr val="3D5166"/>
                          </a:solidFill>
                          <a:latin typeface="Calibri" pitchFamily="34" charset="0"/>
                          <a:ea typeface="Calibri" pitchFamily="34" charset="-122"/>
                          <a:cs typeface="Calibri" pitchFamily="34" charset="-120"/>
                        </a:rPr>
                        <a:t>For user embeddings only</a:t>
                      </a:r>
                      <a:endParaRPr lang="en-US" sz="1150" dirty="0">
                        <a:latin typeface="Calibri" charset="0"/>
                        <a:ea typeface="Calibri" charset="0"/>
                        <a:cs typeface="Calibri" charset="0"/>
                      </a:endParaRPr>
                    </a:p>
                  </a:txBody>
                  <a:tcPr marL="38100" marR="38100" marT="38100" marB="38100" anchor="ctr">
                    <a:lnL w="10160" cap="flat" cmpd="sng" algn="ctr">
                      <a:solidFill>
                        <a:srgbClr val="D4E0EA"/>
                      </a:solidFill>
                      <a:prstDash val="solid"/>
                      <a:round/>
                      <a:headEnd type="none" w="med" len="med"/>
                      <a:tailEnd type="none" w="med" len="med"/>
                    </a:lnL>
                    <a:lnR w="10160" cap="flat" cmpd="sng" algn="ctr">
                      <a:solidFill>
                        <a:srgbClr val="D4E0EA"/>
                      </a:solidFill>
                      <a:prstDash val="solid"/>
                      <a:round/>
                      <a:headEnd type="none" w="med" len="med"/>
                      <a:tailEnd type="none" w="med" len="med"/>
                    </a:lnR>
                    <a:lnT w="10160" cap="flat" cmpd="sng" algn="ctr">
                      <a:solidFill>
                        <a:srgbClr val="D4E0EA"/>
                      </a:solidFill>
                      <a:prstDash val="solid"/>
                      <a:round/>
                      <a:headEnd type="none" w="med" len="med"/>
                      <a:tailEnd type="none" w="med" len="med"/>
                    </a:lnT>
                    <a:lnB w="10160" cap="flat" cmpd="sng" algn="ctr">
                      <a:solidFill>
                        <a:srgbClr val="D4E0EA"/>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D5166"/>
                          </a:solidFill>
                          <a:latin typeface="Calibri" pitchFamily="34" charset="0"/>
                          <a:ea typeface="Calibri" pitchFamily="34" charset="-122"/>
                          <a:cs typeface="Calibri" pitchFamily="34" charset="-120"/>
                        </a:rPr>
                        <a:t>For item embeddings only</a:t>
                      </a:r>
                      <a:endParaRPr lang="en-US" sz="1150" dirty="0">
                        <a:latin typeface="Calibri" charset="0"/>
                        <a:ea typeface="Calibri" charset="0"/>
                        <a:cs typeface="Calibri" charset="0"/>
                      </a:endParaRPr>
                    </a:p>
                  </a:txBody>
                  <a:tcPr marL="38100" marR="38100" marT="38100" marB="38100" anchor="ctr">
                    <a:lnL w="10160" cap="flat" cmpd="sng" algn="ctr">
                      <a:solidFill>
                        <a:srgbClr val="D4E0EA"/>
                      </a:solidFill>
                      <a:prstDash val="solid"/>
                      <a:round/>
                      <a:headEnd type="none" w="med" len="med"/>
                      <a:tailEnd type="none" w="med" len="med"/>
                    </a:lnL>
                    <a:lnR w="10160" cap="flat" cmpd="sng" algn="ctr">
                      <a:solidFill>
                        <a:srgbClr val="D4E0EA"/>
                      </a:solidFill>
                      <a:prstDash val="solid"/>
                      <a:round/>
                      <a:headEnd type="none" w="med" len="med"/>
                      <a:tailEnd type="none" w="med" len="med"/>
                    </a:lnR>
                    <a:lnT w="10160" cap="flat" cmpd="sng" algn="ctr">
                      <a:solidFill>
                        <a:srgbClr val="D4E0EA"/>
                      </a:solidFill>
                      <a:prstDash val="solid"/>
                      <a:round/>
                      <a:headEnd type="none" w="med" len="med"/>
                      <a:tailEnd type="none" w="med" len="med"/>
                    </a:lnT>
                    <a:lnB w="10160" cap="flat" cmpd="sng" algn="ctr">
                      <a:solidFill>
                        <a:srgbClr val="D4E0EA"/>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D5166"/>
                          </a:solidFill>
                          <a:latin typeface="Calibri" pitchFamily="34" charset="0"/>
                          <a:ea typeface="Calibri" pitchFamily="34" charset="-122"/>
                          <a:cs typeface="Calibri" pitchFamily="34" charset="-120"/>
                        </a:rPr>
                        <a:t>Full MF model</a:t>
                      </a:r>
                      <a:endParaRPr lang="en-US" sz="1150" dirty="0">
                        <a:latin typeface="Calibri" charset="0"/>
                        <a:ea typeface="Calibri" charset="0"/>
                        <a:cs typeface="Calibri" charset="0"/>
                      </a:endParaRPr>
                    </a:p>
                  </a:txBody>
                  <a:tcPr marL="38100" marR="38100" marT="38100" marB="38100" anchor="ctr">
                    <a:lnL w="10160" cap="flat" cmpd="sng" algn="ctr">
                      <a:solidFill>
                        <a:srgbClr val="D4E0EA"/>
                      </a:solidFill>
                      <a:prstDash val="solid"/>
                      <a:round/>
                      <a:headEnd type="none" w="med" len="med"/>
                      <a:tailEnd type="none" w="med" len="med"/>
                    </a:lnL>
                    <a:lnR w="10160" cap="flat" cmpd="sng" algn="ctr">
                      <a:solidFill>
                        <a:srgbClr val="D4E0EA"/>
                      </a:solidFill>
                      <a:prstDash val="solid"/>
                      <a:round/>
                      <a:headEnd type="none" w="med" len="med"/>
                      <a:tailEnd type="none" w="med" len="med"/>
                    </a:lnR>
                    <a:lnT w="10160" cap="flat" cmpd="sng" algn="ctr">
                      <a:solidFill>
                        <a:srgbClr val="D4E0EA"/>
                      </a:solidFill>
                      <a:prstDash val="solid"/>
                      <a:round/>
                      <a:headEnd type="none" w="med" len="med"/>
                      <a:tailEnd type="none" w="med" len="med"/>
                    </a:lnT>
                    <a:lnB w="10160" cap="flat" cmpd="sng" algn="ctr">
                      <a:solidFill>
                        <a:srgbClr val="D4E0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Text 3"/>
          <p:cNvSpPr/>
          <p:nvPr/>
        </p:nvSpPr>
        <p:spPr>
          <a:xfrm>
            <a:off x="411480" y="4663440"/>
            <a:ext cx="8321040" cy="292608"/>
          </a:xfrm>
          <a:prstGeom prst="rect">
            <a:avLst/>
          </a:prstGeom>
          <a:noFill/>
          <a:ln/>
        </p:spPr>
        <p:txBody>
          <a:bodyPr wrap="square" lIns="0" tIns="0" rIns="0" bIns="0" rtlCol="0" anchor="ctr"/>
          <a:lstStyle/>
          <a:p>
            <a:pPr marL="0" indent="0" algn="ctr">
              <a:buNone/>
            </a:pPr>
            <a:r>
              <a:rPr lang="en-US" sz="1150" i="1" dirty="0">
                <a:solidFill>
                  <a:srgbClr val="607A8D"/>
                </a:solidFill>
                <a:latin typeface="Calibri" pitchFamily="34" charset="0"/>
                <a:ea typeface="Calibri" pitchFamily="34" charset="-122"/>
                <a:cs typeface="Calibri" pitchFamily="34" charset="-120"/>
              </a:rPr>
              <a:t>Matrix Factorization typically achieves the highest precision &amp; recall by optimizing a global objective over all users and items simultaneously.</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D3D"/>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2A8C82"/>
          </a:solidFill>
          <a:ln/>
        </p:spPr>
        <p:txBody>
          <a:bodyPr/>
          <a:lstStyle/>
          <a:p>
            <a:endParaRPr lang="en-IN"/>
          </a:p>
        </p:txBody>
      </p:sp>
      <p:sp>
        <p:nvSpPr>
          <p:cNvPr id="3" name="Text 1"/>
          <p:cNvSpPr/>
          <p:nvPr/>
        </p:nvSpPr>
        <p:spPr>
          <a:xfrm>
            <a:off x="457200" y="228600"/>
            <a:ext cx="8503920" cy="640080"/>
          </a:xfrm>
          <a:prstGeom prst="rect">
            <a:avLst/>
          </a:prstGeom>
          <a:noFill/>
          <a:ln/>
        </p:spPr>
        <p:txBody>
          <a:bodyPr wrap="square" lIns="0" tIns="0" rIns="0" bIns="0"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Key Contributions</a:t>
            </a:r>
            <a:endParaRPr lang="en-US" sz="2800" dirty="0"/>
          </a:p>
        </p:txBody>
      </p:sp>
      <p:sp>
        <p:nvSpPr>
          <p:cNvPr id="4" name="Shape 2"/>
          <p:cNvSpPr/>
          <p:nvPr/>
        </p:nvSpPr>
        <p:spPr>
          <a:xfrm>
            <a:off x="457200" y="914400"/>
            <a:ext cx="8229600" cy="18288"/>
          </a:xfrm>
          <a:prstGeom prst="rect">
            <a:avLst/>
          </a:prstGeom>
          <a:solidFill>
            <a:srgbClr val="2A8C82"/>
          </a:solidFill>
          <a:ln/>
        </p:spPr>
        <p:txBody>
          <a:bodyPr/>
          <a:lstStyle/>
          <a:p>
            <a:endParaRPr lang="en-IN"/>
          </a:p>
        </p:txBody>
      </p:sp>
      <p:sp>
        <p:nvSpPr>
          <p:cNvPr id="5" name="Shape 3"/>
          <p:cNvSpPr/>
          <p:nvPr/>
        </p:nvSpPr>
        <p:spPr>
          <a:xfrm>
            <a:off x="411480" y="1060704"/>
            <a:ext cx="8321040" cy="1234440"/>
          </a:xfrm>
          <a:prstGeom prst="rect">
            <a:avLst/>
          </a:prstGeom>
          <a:solidFill>
            <a:srgbClr val="2C4A5A"/>
          </a:solidFill>
          <a:ln w="8890">
            <a:solidFill>
              <a:srgbClr val="2A8C82"/>
            </a:solidFill>
            <a:prstDash val="solid"/>
          </a:ln>
          <a:effectLst>
            <a:outerShdw blurRad="63500" dist="25400" dir="8100000" algn="bl" rotWithShape="0">
              <a:srgbClr val="000000">
                <a:alpha val="10000"/>
              </a:srgbClr>
            </a:outerShdw>
          </a:effectLst>
        </p:spPr>
        <p:txBody>
          <a:bodyPr/>
          <a:lstStyle/>
          <a:p>
            <a:endParaRPr lang="en-IN" dirty="0"/>
          </a:p>
        </p:txBody>
      </p:sp>
      <p:sp>
        <p:nvSpPr>
          <p:cNvPr id="6" name="Text 4"/>
          <p:cNvSpPr/>
          <p:nvPr/>
        </p:nvSpPr>
        <p:spPr>
          <a:xfrm>
            <a:off x="548640" y="1115568"/>
            <a:ext cx="1828800" cy="457200"/>
          </a:xfrm>
          <a:prstGeom prst="rect">
            <a:avLst/>
          </a:prstGeom>
          <a:noFill/>
          <a:ln/>
        </p:spPr>
        <p:txBody>
          <a:bodyPr wrap="square" lIns="0" tIns="0" rIns="0" bIns="0" rtlCol="0" anchor="ctr"/>
          <a:lstStyle/>
          <a:p>
            <a:pPr marL="0" indent="0" algn="l">
              <a:buNone/>
            </a:pPr>
            <a:r>
              <a:rPr lang="en-US" sz="1400" b="1" dirty="0">
                <a:solidFill>
                  <a:srgbClr val="4BB8AE"/>
                </a:solidFill>
                <a:latin typeface="Cambria" pitchFamily="34" charset="0"/>
                <a:ea typeface="Cambria" pitchFamily="34" charset="-122"/>
                <a:cs typeface="Cambria" pitchFamily="34" charset="-120"/>
              </a:rPr>
              <a:t>⭐ Key Idea:</a:t>
            </a:r>
            <a:endParaRPr lang="en-US" sz="1400" dirty="0"/>
          </a:p>
        </p:txBody>
      </p:sp>
      <p:sp>
        <p:nvSpPr>
          <p:cNvPr id="7" name="Text 5"/>
          <p:cNvSpPr/>
          <p:nvPr/>
        </p:nvSpPr>
        <p:spPr>
          <a:xfrm>
            <a:off x="2286000" y="1115568"/>
            <a:ext cx="6309360" cy="1005840"/>
          </a:xfrm>
          <a:prstGeom prst="rect">
            <a:avLst/>
          </a:prstGeom>
          <a:noFill/>
          <a:ln/>
        </p:spPr>
        <p:txBody>
          <a:bodyPr wrap="square" lIns="0" tIns="0" rIns="0" bIns="0" rtlCol="0" anchor="ctr"/>
          <a:lstStyle/>
          <a:p>
            <a:pPr marL="0" indent="0" algn="l">
              <a:buNone/>
            </a:pPr>
            <a:r>
              <a:rPr lang="en-US" sz="1300" i="1" dirty="0">
                <a:solidFill>
                  <a:srgbClr val="D0E4EC"/>
                </a:solidFill>
                <a:latin typeface="Calibri" pitchFamily="34" charset="0"/>
                <a:ea typeface="Calibri" pitchFamily="34" charset="-122"/>
                <a:cs typeface="Calibri" pitchFamily="34" charset="-120"/>
              </a:rPr>
              <a:t>"A hybrid recommendation framework that leverages latent factor embeddings as dense user and item representations for improved neighborhood-based collaborative filtering in sparse interaction scenarios."</a:t>
            </a:r>
            <a:endParaRPr lang="en-US" sz="1300" dirty="0"/>
          </a:p>
        </p:txBody>
      </p:sp>
      <p:sp>
        <p:nvSpPr>
          <p:cNvPr id="8" name="Shape 6"/>
          <p:cNvSpPr/>
          <p:nvPr/>
        </p:nvSpPr>
        <p:spPr>
          <a:xfrm>
            <a:off x="411480" y="2423160"/>
            <a:ext cx="2651760" cy="2423160"/>
          </a:xfrm>
          <a:prstGeom prst="rect">
            <a:avLst/>
          </a:prstGeom>
          <a:solidFill>
            <a:srgbClr val="2A8C82"/>
          </a:solidFill>
          <a:ln/>
          <a:effectLst>
            <a:outerShdw blurRad="63500" dist="25400" dir="8100000" algn="bl" rotWithShape="0">
              <a:srgbClr val="000000">
                <a:alpha val="10000"/>
              </a:srgbClr>
            </a:outerShdw>
          </a:effectLst>
        </p:spPr>
        <p:txBody>
          <a:bodyPr/>
          <a:lstStyle/>
          <a:p>
            <a:endParaRPr lang="en-IN"/>
          </a:p>
        </p:txBody>
      </p:sp>
      <p:sp>
        <p:nvSpPr>
          <p:cNvPr id="9" name="Shape 7"/>
          <p:cNvSpPr/>
          <p:nvPr/>
        </p:nvSpPr>
        <p:spPr>
          <a:xfrm>
            <a:off x="411480" y="2423160"/>
            <a:ext cx="2651760" cy="384048"/>
          </a:xfrm>
          <a:prstGeom prst="rect">
            <a:avLst/>
          </a:prstGeom>
          <a:solidFill>
            <a:srgbClr val="1A2533"/>
          </a:solidFill>
          <a:ln/>
        </p:spPr>
        <p:txBody>
          <a:bodyPr/>
          <a:lstStyle/>
          <a:p>
            <a:endParaRPr lang="en-IN"/>
          </a:p>
        </p:txBody>
      </p:sp>
      <p:sp>
        <p:nvSpPr>
          <p:cNvPr id="10" name="Text 8"/>
          <p:cNvSpPr/>
          <p:nvPr/>
        </p:nvSpPr>
        <p:spPr>
          <a:xfrm>
            <a:off x="411480" y="2423160"/>
            <a:ext cx="47548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01</a:t>
            </a:r>
            <a:endParaRPr lang="en-US" sz="1600" dirty="0"/>
          </a:p>
        </p:txBody>
      </p:sp>
      <p:sp>
        <p:nvSpPr>
          <p:cNvPr id="11" name="Text 9"/>
          <p:cNvSpPr/>
          <p:nvPr/>
        </p:nvSpPr>
        <p:spPr>
          <a:xfrm>
            <a:off x="868680" y="2423160"/>
            <a:ext cx="2148840" cy="384048"/>
          </a:xfrm>
          <a:prstGeom prst="rect">
            <a:avLst/>
          </a:prstGeom>
          <a:noFill/>
          <a:ln/>
        </p:spPr>
        <p:txBody>
          <a:bodyPr wrap="square" lIns="0" tIns="0" rIns="0" bIns="0" rtlCol="0" anchor="ctr"/>
          <a:lstStyle/>
          <a:p>
            <a:pPr marL="0" indent="0" algn="l">
              <a:buNone/>
            </a:pPr>
            <a:r>
              <a:rPr lang="en-US" sz="1300" b="1" dirty="0">
                <a:solidFill>
                  <a:srgbClr val="FFFFFF"/>
                </a:solidFill>
                <a:latin typeface="Cambria" pitchFamily="34" charset="0"/>
                <a:ea typeface="Cambria" pitchFamily="34" charset="-122"/>
                <a:cs typeface="Cambria" pitchFamily="34" charset="-120"/>
              </a:rPr>
              <a:t>Hybrid Architecture</a:t>
            </a:r>
            <a:endParaRPr lang="en-US" sz="1300" dirty="0"/>
          </a:p>
        </p:txBody>
      </p:sp>
      <p:sp>
        <p:nvSpPr>
          <p:cNvPr id="12" name="Text 10"/>
          <p:cNvSpPr/>
          <p:nvPr/>
        </p:nvSpPr>
        <p:spPr>
          <a:xfrm>
            <a:off x="411480" y="2852928"/>
            <a:ext cx="2651760" cy="1920240"/>
          </a:xfrm>
          <a:prstGeom prst="rect">
            <a:avLst/>
          </a:prstGeom>
          <a:noFill/>
          <a:ln/>
        </p:spPr>
        <p:txBody>
          <a:bodyPr wrap="square" lIns="76200" tIns="76200" rIns="76200" bIns="76200" rtlCol="0" anchor="t"/>
          <a:lstStyle/>
          <a:p>
            <a:pPr marL="0" indent="0" algn="l">
              <a:buNone/>
            </a:pPr>
            <a:r>
              <a:rPr lang="en-US" sz="1200" dirty="0">
                <a:solidFill>
                  <a:srgbClr val="EAF4F8"/>
                </a:solidFill>
                <a:latin typeface="Calibri" pitchFamily="34" charset="0"/>
                <a:ea typeface="Calibri" pitchFamily="34" charset="-122"/>
                <a:cs typeface="Calibri" pitchFamily="34" charset="-120"/>
              </a:rPr>
              <a:t>LightFM MF used to generate dense embeddings that feed into UBCF &amp; IBCF — replacing sparse raw rating vectors. Captures global patterns, not just co-rating overlap.</a:t>
            </a:r>
            <a:endParaRPr lang="en-US" sz="1200" dirty="0"/>
          </a:p>
        </p:txBody>
      </p:sp>
      <p:sp>
        <p:nvSpPr>
          <p:cNvPr id="13" name="Shape 11"/>
          <p:cNvSpPr/>
          <p:nvPr/>
        </p:nvSpPr>
        <p:spPr>
          <a:xfrm>
            <a:off x="3246120" y="2423160"/>
            <a:ext cx="2651760" cy="2423160"/>
          </a:xfrm>
          <a:prstGeom prst="rect">
            <a:avLst/>
          </a:prstGeom>
          <a:solidFill>
            <a:srgbClr val="2C4A5A"/>
          </a:solidFill>
          <a:ln/>
          <a:effectLst>
            <a:outerShdw blurRad="63500" dist="25400" dir="8100000" algn="bl" rotWithShape="0">
              <a:srgbClr val="000000">
                <a:alpha val="10000"/>
              </a:srgbClr>
            </a:outerShdw>
          </a:effectLst>
        </p:spPr>
        <p:txBody>
          <a:bodyPr/>
          <a:lstStyle/>
          <a:p>
            <a:endParaRPr lang="en-IN"/>
          </a:p>
        </p:txBody>
      </p:sp>
      <p:sp>
        <p:nvSpPr>
          <p:cNvPr id="14" name="Shape 12"/>
          <p:cNvSpPr/>
          <p:nvPr/>
        </p:nvSpPr>
        <p:spPr>
          <a:xfrm>
            <a:off x="3246120" y="2423160"/>
            <a:ext cx="2651760" cy="384048"/>
          </a:xfrm>
          <a:prstGeom prst="rect">
            <a:avLst/>
          </a:prstGeom>
          <a:solidFill>
            <a:srgbClr val="1A2533"/>
          </a:solidFill>
          <a:ln/>
        </p:spPr>
        <p:txBody>
          <a:bodyPr/>
          <a:lstStyle/>
          <a:p>
            <a:endParaRPr lang="en-IN"/>
          </a:p>
        </p:txBody>
      </p:sp>
      <p:sp>
        <p:nvSpPr>
          <p:cNvPr id="15" name="Text 13"/>
          <p:cNvSpPr/>
          <p:nvPr/>
        </p:nvSpPr>
        <p:spPr>
          <a:xfrm>
            <a:off x="3246120" y="2423160"/>
            <a:ext cx="47548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02</a:t>
            </a:r>
            <a:endParaRPr lang="en-US" sz="1600" dirty="0"/>
          </a:p>
        </p:txBody>
      </p:sp>
      <p:sp>
        <p:nvSpPr>
          <p:cNvPr id="16" name="Text 14"/>
          <p:cNvSpPr/>
          <p:nvPr/>
        </p:nvSpPr>
        <p:spPr>
          <a:xfrm>
            <a:off x="3703320" y="2423160"/>
            <a:ext cx="2148840" cy="384048"/>
          </a:xfrm>
          <a:prstGeom prst="rect">
            <a:avLst/>
          </a:prstGeom>
          <a:noFill/>
          <a:ln/>
        </p:spPr>
        <p:txBody>
          <a:bodyPr wrap="square" lIns="0" tIns="0" rIns="0" bIns="0" rtlCol="0" anchor="ctr"/>
          <a:lstStyle/>
          <a:p>
            <a:pPr marL="0" indent="0" algn="l">
              <a:buNone/>
            </a:pPr>
            <a:r>
              <a:rPr lang="en-US" sz="1300" b="1" dirty="0">
                <a:solidFill>
                  <a:srgbClr val="FFFFFF"/>
                </a:solidFill>
                <a:latin typeface="Cambria" pitchFamily="34" charset="0"/>
                <a:ea typeface="Cambria" pitchFamily="34" charset="-122"/>
                <a:cs typeface="Cambria" pitchFamily="34" charset="-120"/>
              </a:rPr>
              <a:t>Fair Comparative Study</a:t>
            </a:r>
            <a:endParaRPr lang="en-US" sz="1300" dirty="0"/>
          </a:p>
        </p:txBody>
      </p:sp>
      <p:sp>
        <p:nvSpPr>
          <p:cNvPr id="17" name="Text 15"/>
          <p:cNvSpPr/>
          <p:nvPr/>
        </p:nvSpPr>
        <p:spPr>
          <a:xfrm>
            <a:off x="3246120" y="2852928"/>
            <a:ext cx="2651760" cy="1920240"/>
          </a:xfrm>
          <a:prstGeom prst="rect">
            <a:avLst/>
          </a:prstGeom>
          <a:noFill/>
          <a:ln/>
        </p:spPr>
        <p:txBody>
          <a:bodyPr wrap="square" lIns="76200" tIns="76200" rIns="76200" bIns="76200" rtlCol="0" anchor="t"/>
          <a:lstStyle/>
          <a:p>
            <a:pPr marL="0" indent="0" algn="l">
              <a:buNone/>
            </a:pPr>
            <a:r>
              <a:rPr lang="en-US" sz="1200" dirty="0">
                <a:solidFill>
                  <a:srgbClr val="EAF4F8"/>
                </a:solidFill>
                <a:latin typeface="Calibri" pitchFamily="34" charset="0"/>
                <a:ea typeface="Calibri" pitchFamily="34" charset="-122"/>
                <a:cs typeface="Calibri" pitchFamily="34" charset="-120"/>
              </a:rPr>
              <a:t>All three paradigms (memory-based user, memory-based item, model-based MF) evaluated under identical conditions: same dataset, split, K=10, and metrics.</a:t>
            </a:r>
            <a:endParaRPr lang="en-US" sz="1200" dirty="0"/>
          </a:p>
        </p:txBody>
      </p:sp>
      <p:sp>
        <p:nvSpPr>
          <p:cNvPr id="18" name="Shape 16"/>
          <p:cNvSpPr/>
          <p:nvPr/>
        </p:nvSpPr>
        <p:spPr>
          <a:xfrm>
            <a:off x="6080760" y="2423160"/>
            <a:ext cx="2651760" cy="2423160"/>
          </a:xfrm>
          <a:prstGeom prst="rect">
            <a:avLst/>
          </a:prstGeom>
          <a:solidFill>
            <a:srgbClr val="2A5E6A"/>
          </a:solidFill>
          <a:ln/>
          <a:effectLst>
            <a:outerShdw blurRad="63500" dist="25400" dir="8100000" algn="bl" rotWithShape="0">
              <a:srgbClr val="000000">
                <a:alpha val="10000"/>
              </a:srgbClr>
            </a:outerShdw>
          </a:effectLst>
        </p:spPr>
        <p:txBody>
          <a:bodyPr/>
          <a:lstStyle/>
          <a:p>
            <a:endParaRPr lang="en-IN"/>
          </a:p>
        </p:txBody>
      </p:sp>
      <p:sp>
        <p:nvSpPr>
          <p:cNvPr id="19" name="Shape 17"/>
          <p:cNvSpPr/>
          <p:nvPr/>
        </p:nvSpPr>
        <p:spPr>
          <a:xfrm>
            <a:off x="6080760" y="2423160"/>
            <a:ext cx="2651760" cy="384048"/>
          </a:xfrm>
          <a:prstGeom prst="rect">
            <a:avLst/>
          </a:prstGeom>
          <a:solidFill>
            <a:srgbClr val="1A2533"/>
          </a:solidFill>
          <a:ln/>
        </p:spPr>
        <p:txBody>
          <a:bodyPr/>
          <a:lstStyle/>
          <a:p>
            <a:endParaRPr lang="en-IN"/>
          </a:p>
        </p:txBody>
      </p:sp>
      <p:sp>
        <p:nvSpPr>
          <p:cNvPr id="20" name="Text 18"/>
          <p:cNvSpPr/>
          <p:nvPr/>
        </p:nvSpPr>
        <p:spPr>
          <a:xfrm>
            <a:off x="6080760" y="2423160"/>
            <a:ext cx="47548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03</a:t>
            </a:r>
            <a:endParaRPr lang="en-US" sz="1600" dirty="0"/>
          </a:p>
        </p:txBody>
      </p:sp>
      <p:sp>
        <p:nvSpPr>
          <p:cNvPr id="21" name="Text 19"/>
          <p:cNvSpPr/>
          <p:nvPr/>
        </p:nvSpPr>
        <p:spPr>
          <a:xfrm>
            <a:off x="6537960" y="2423160"/>
            <a:ext cx="2148840" cy="384048"/>
          </a:xfrm>
          <a:prstGeom prst="rect">
            <a:avLst/>
          </a:prstGeom>
          <a:noFill/>
          <a:ln/>
        </p:spPr>
        <p:txBody>
          <a:bodyPr wrap="square" lIns="0" tIns="0" rIns="0" bIns="0" rtlCol="0" anchor="ctr"/>
          <a:lstStyle/>
          <a:p>
            <a:pPr marL="0" indent="0" algn="l">
              <a:buNone/>
            </a:pPr>
            <a:r>
              <a:rPr lang="en-US" sz="1300" b="1" dirty="0">
                <a:solidFill>
                  <a:srgbClr val="FFFFFF"/>
                </a:solidFill>
                <a:latin typeface="Cambria" pitchFamily="34" charset="0"/>
                <a:ea typeface="Cambria" pitchFamily="34" charset="-122"/>
                <a:cs typeface="Cambria" pitchFamily="34" charset="-120"/>
              </a:rPr>
              <a:t>Possible Extensions</a:t>
            </a:r>
            <a:endParaRPr lang="en-US" sz="1300" dirty="0"/>
          </a:p>
        </p:txBody>
      </p:sp>
      <p:sp>
        <p:nvSpPr>
          <p:cNvPr id="22" name="Text 20"/>
          <p:cNvSpPr/>
          <p:nvPr/>
        </p:nvSpPr>
        <p:spPr>
          <a:xfrm>
            <a:off x="6080760" y="2852928"/>
            <a:ext cx="2651760" cy="1920240"/>
          </a:xfrm>
          <a:prstGeom prst="rect">
            <a:avLst/>
          </a:prstGeom>
          <a:noFill/>
          <a:ln/>
        </p:spPr>
        <p:txBody>
          <a:bodyPr wrap="square" lIns="76200" tIns="76200" rIns="76200" bIns="76200" rtlCol="0" anchor="t"/>
          <a:lstStyle/>
          <a:p>
            <a:pPr marL="0" indent="0" algn="l">
              <a:buNone/>
            </a:pPr>
            <a:r>
              <a:rPr lang="en-US" sz="1200" dirty="0">
                <a:solidFill>
                  <a:srgbClr val="EAF4F8"/>
                </a:solidFill>
                <a:latin typeface="Calibri" pitchFamily="34" charset="0"/>
                <a:ea typeface="Calibri" pitchFamily="34" charset="-122"/>
                <a:cs typeface="Calibri" pitchFamily="34" charset="-120"/>
              </a:rPr>
              <a:t>Genre features as LightFM item features → true hybrid. Temporal train/test split. BPR loss for ranking. NDCG@K evaluation. Sparsity analysis for cold-start robustness.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D3D"/>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2A8C82"/>
          </a:solidFill>
          <a:ln/>
        </p:spPr>
        <p:txBody>
          <a:bodyPr/>
          <a:lstStyle/>
          <a:p>
            <a:endParaRPr lang="en-IN"/>
          </a:p>
        </p:txBody>
      </p:sp>
      <p:sp>
        <p:nvSpPr>
          <p:cNvPr id="3" name="Text 1"/>
          <p:cNvSpPr/>
          <p:nvPr/>
        </p:nvSpPr>
        <p:spPr>
          <a:xfrm>
            <a:off x="457200" y="182880"/>
            <a:ext cx="832104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Cambria" pitchFamily="34" charset="0"/>
                <a:ea typeface="Cambria" pitchFamily="34" charset="-122"/>
                <a:cs typeface="Cambria" pitchFamily="34" charset="-120"/>
              </a:rPr>
              <a:t>Key Concepts &amp; Important Numbers</a:t>
            </a:r>
            <a:endParaRPr lang="en-US" sz="2600" dirty="0"/>
          </a:p>
        </p:txBody>
      </p:sp>
      <p:sp>
        <p:nvSpPr>
          <p:cNvPr id="4" name="Shape 2"/>
          <p:cNvSpPr/>
          <p:nvPr/>
        </p:nvSpPr>
        <p:spPr>
          <a:xfrm>
            <a:off x="457200" y="731520"/>
            <a:ext cx="8229600" cy="18288"/>
          </a:xfrm>
          <a:prstGeom prst="rect">
            <a:avLst/>
          </a:prstGeom>
          <a:solidFill>
            <a:srgbClr val="2A8C82"/>
          </a:solidFill>
          <a:ln/>
        </p:spPr>
        <p:txBody>
          <a:bodyPr/>
          <a:lstStyle/>
          <a:p>
            <a:endParaRPr lang="en-IN"/>
          </a:p>
        </p:txBody>
      </p:sp>
      <p:sp>
        <p:nvSpPr>
          <p:cNvPr id="5" name="Shape 3"/>
          <p:cNvSpPr/>
          <p:nvPr/>
        </p:nvSpPr>
        <p:spPr>
          <a:xfrm>
            <a:off x="411480" y="914400"/>
            <a:ext cx="1920240" cy="749808"/>
          </a:xfrm>
          <a:prstGeom prst="rect">
            <a:avLst/>
          </a:prstGeom>
          <a:solidFill>
            <a:srgbClr val="2C4A5A"/>
          </a:solidFill>
          <a:ln w="8890">
            <a:solidFill>
              <a:srgbClr val="2A8C82"/>
            </a:solidFill>
            <a:prstDash val="solid"/>
          </a:ln>
          <a:effectLst>
            <a:outerShdw blurRad="63500" dist="25400" dir="8100000" algn="bl" rotWithShape="0">
              <a:srgbClr val="000000">
                <a:alpha val="10000"/>
              </a:srgbClr>
            </a:outerShdw>
          </a:effectLst>
        </p:spPr>
        <p:txBody>
          <a:bodyPr/>
          <a:lstStyle/>
          <a:p>
            <a:endParaRPr lang="en-IN"/>
          </a:p>
        </p:txBody>
      </p:sp>
      <p:sp>
        <p:nvSpPr>
          <p:cNvPr id="6" name="Text 4"/>
          <p:cNvSpPr/>
          <p:nvPr/>
        </p:nvSpPr>
        <p:spPr>
          <a:xfrm>
            <a:off x="411480" y="932688"/>
            <a:ext cx="1920240" cy="438912"/>
          </a:xfrm>
          <a:prstGeom prst="rect">
            <a:avLst/>
          </a:prstGeom>
          <a:noFill/>
          <a:ln/>
        </p:spPr>
        <p:txBody>
          <a:bodyPr wrap="square" lIns="0" tIns="0" rIns="0" bIns="0" rtlCol="0" anchor="ctr"/>
          <a:lstStyle/>
          <a:p>
            <a:pPr marL="0" indent="0" algn="ctr">
              <a:buNone/>
            </a:pPr>
            <a:r>
              <a:rPr lang="en-US" sz="2000" b="1" dirty="0">
                <a:solidFill>
                  <a:srgbClr val="4BB8AE"/>
                </a:solidFill>
                <a:latin typeface="Cambria" pitchFamily="34" charset="0"/>
                <a:ea typeface="Cambria" pitchFamily="34" charset="-122"/>
                <a:cs typeface="Cambria" pitchFamily="34" charset="-120"/>
              </a:rPr>
              <a:t>100K</a:t>
            </a:r>
            <a:endParaRPr lang="en-US" sz="2000" dirty="0"/>
          </a:p>
        </p:txBody>
      </p:sp>
      <p:sp>
        <p:nvSpPr>
          <p:cNvPr id="7" name="Text 5"/>
          <p:cNvSpPr/>
          <p:nvPr/>
        </p:nvSpPr>
        <p:spPr>
          <a:xfrm>
            <a:off x="411480" y="1371600"/>
            <a:ext cx="1920240" cy="256032"/>
          </a:xfrm>
          <a:prstGeom prst="rect">
            <a:avLst/>
          </a:prstGeom>
          <a:noFill/>
          <a:ln/>
        </p:spPr>
        <p:txBody>
          <a:bodyPr wrap="square" lIns="0" tIns="0" rIns="0" bIns="0" rtlCol="0" anchor="ctr"/>
          <a:lstStyle/>
          <a:p>
            <a:pPr marL="0" indent="0" algn="ctr">
              <a:buNone/>
            </a:pPr>
            <a:r>
              <a:rPr lang="en-US" sz="1050" dirty="0">
                <a:solidFill>
                  <a:srgbClr val="AAC8D4"/>
                </a:solidFill>
                <a:latin typeface="Calibri" pitchFamily="34" charset="0"/>
                <a:ea typeface="Calibri" pitchFamily="34" charset="-122"/>
                <a:cs typeface="Calibri" pitchFamily="34" charset="-120"/>
              </a:rPr>
              <a:t>Total Ratings</a:t>
            </a:r>
            <a:endParaRPr lang="en-US" sz="1050" dirty="0"/>
          </a:p>
        </p:txBody>
      </p:sp>
      <p:sp>
        <p:nvSpPr>
          <p:cNvPr id="8" name="Shape 6"/>
          <p:cNvSpPr/>
          <p:nvPr/>
        </p:nvSpPr>
        <p:spPr>
          <a:xfrm>
            <a:off x="2606040" y="914400"/>
            <a:ext cx="1920240" cy="749808"/>
          </a:xfrm>
          <a:prstGeom prst="rect">
            <a:avLst/>
          </a:prstGeom>
          <a:solidFill>
            <a:srgbClr val="2C4A5A"/>
          </a:solidFill>
          <a:ln w="8890">
            <a:solidFill>
              <a:srgbClr val="2A8C82"/>
            </a:solidFill>
            <a:prstDash val="solid"/>
          </a:ln>
          <a:effectLst>
            <a:outerShdw blurRad="63500" dist="25400" dir="8100000" algn="bl" rotWithShape="0">
              <a:srgbClr val="000000">
                <a:alpha val="10000"/>
              </a:srgbClr>
            </a:outerShdw>
          </a:effectLst>
        </p:spPr>
        <p:txBody>
          <a:bodyPr/>
          <a:lstStyle/>
          <a:p>
            <a:endParaRPr lang="en-IN"/>
          </a:p>
        </p:txBody>
      </p:sp>
      <p:sp>
        <p:nvSpPr>
          <p:cNvPr id="9" name="Text 7"/>
          <p:cNvSpPr/>
          <p:nvPr/>
        </p:nvSpPr>
        <p:spPr>
          <a:xfrm>
            <a:off x="2606040" y="932688"/>
            <a:ext cx="1920240" cy="438912"/>
          </a:xfrm>
          <a:prstGeom prst="rect">
            <a:avLst/>
          </a:prstGeom>
          <a:noFill/>
          <a:ln/>
        </p:spPr>
        <p:txBody>
          <a:bodyPr wrap="square" lIns="0" tIns="0" rIns="0" bIns="0" rtlCol="0" anchor="ctr"/>
          <a:lstStyle/>
          <a:p>
            <a:pPr marL="0" indent="0" algn="ctr">
              <a:buNone/>
            </a:pPr>
            <a:r>
              <a:rPr lang="en-US" sz="2000" b="1" dirty="0">
                <a:solidFill>
                  <a:srgbClr val="4BB8AE"/>
                </a:solidFill>
                <a:latin typeface="Cambria" pitchFamily="34" charset="0"/>
                <a:ea typeface="Cambria" pitchFamily="34" charset="-122"/>
                <a:cs typeface="Cambria" pitchFamily="34" charset="-120"/>
              </a:rPr>
              <a:t>610</a:t>
            </a:r>
            <a:endParaRPr lang="en-US" sz="2000" dirty="0"/>
          </a:p>
        </p:txBody>
      </p:sp>
      <p:sp>
        <p:nvSpPr>
          <p:cNvPr id="10" name="Text 8"/>
          <p:cNvSpPr/>
          <p:nvPr/>
        </p:nvSpPr>
        <p:spPr>
          <a:xfrm>
            <a:off x="2606040" y="1371600"/>
            <a:ext cx="1920240" cy="256032"/>
          </a:xfrm>
          <a:prstGeom prst="rect">
            <a:avLst/>
          </a:prstGeom>
          <a:noFill/>
          <a:ln/>
        </p:spPr>
        <p:txBody>
          <a:bodyPr wrap="square" lIns="0" tIns="0" rIns="0" bIns="0" rtlCol="0" anchor="ctr"/>
          <a:lstStyle/>
          <a:p>
            <a:pPr marL="0" indent="0" algn="ctr">
              <a:buNone/>
            </a:pPr>
            <a:r>
              <a:rPr lang="en-US" sz="1050" dirty="0">
                <a:solidFill>
                  <a:srgbClr val="AAC8D4"/>
                </a:solidFill>
                <a:latin typeface="Calibri" pitchFamily="34" charset="0"/>
                <a:ea typeface="Calibri" pitchFamily="34" charset="-122"/>
                <a:cs typeface="Calibri" pitchFamily="34" charset="-120"/>
              </a:rPr>
              <a:t>Users</a:t>
            </a:r>
            <a:endParaRPr lang="en-US" sz="1050" dirty="0"/>
          </a:p>
        </p:txBody>
      </p:sp>
      <p:sp>
        <p:nvSpPr>
          <p:cNvPr id="11" name="Shape 9"/>
          <p:cNvSpPr/>
          <p:nvPr/>
        </p:nvSpPr>
        <p:spPr>
          <a:xfrm>
            <a:off x="4800600" y="914400"/>
            <a:ext cx="1920240" cy="749808"/>
          </a:xfrm>
          <a:prstGeom prst="rect">
            <a:avLst/>
          </a:prstGeom>
          <a:solidFill>
            <a:srgbClr val="2C4A5A"/>
          </a:solidFill>
          <a:ln w="8890">
            <a:solidFill>
              <a:srgbClr val="2A8C82"/>
            </a:solidFill>
            <a:prstDash val="solid"/>
          </a:ln>
          <a:effectLst>
            <a:outerShdw blurRad="63500" dist="25400" dir="8100000" algn="bl" rotWithShape="0">
              <a:srgbClr val="000000">
                <a:alpha val="10000"/>
              </a:srgbClr>
            </a:outerShdw>
          </a:effectLst>
        </p:spPr>
        <p:txBody>
          <a:bodyPr/>
          <a:lstStyle/>
          <a:p>
            <a:endParaRPr lang="en-IN"/>
          </a:p>
        </p:txBody>
      </p:sp>
      <p:sp>
        <p:nvSpPr>
          <p:cNvPr id="12" name="Text 10"/>
          <p:cNvSpPr/>
          <p:nvPr/>
        </p:nvSpPr>
        <p:spPr>
          <a:xfrm>
            <a:off x="4800600" y="932688"/>
            <a:ext cx="1920240" cy="438912"/>
          </a:xfrm>
          <a:prstGeom prst="rect">
            <a:avLst/>
          </a:prstGeom>
          <a:noFill/>
          <a:ln/>
        </p:spPr>
        <p:txBody>
          <a:bodyPr wrap="square" lIns="0" tIns="0" rIns="0" bIns="0" rtlCol="0" anchor="ctr"/>
          <a:lstStyle/>
          <a:p>
            <a:pPr marL="0" indent="0" algn="ctr">
              <a:buNone/>
            </a:pPr>
            <a:r>
              <a:rPr lang="en-US" sz="2000" b="1" dirty="0">
                <a:solidFill>
                  <a:srgbClr val="4BB8AE"/>
                </a:solidFill>
                <a:latin typeface="Cambria" pitchFamily="34" charset="0"/>
                <a:ea typeface="Cambria" pitchFamily="34" charset="-122"/>
                <a:cs typeface="Cambria" pitchFamily="34" charset="-120"/>
              </a:rPr>
              <a:t>9,742</a:t>
            </a:r>
            <a:endParaRPr lang="en-US" sz="2000" dirty="0"/>
          </a:p>
        </p:txBody>
      </p:sp>
      <p:sp>
        <p:nvSpPr>
          <p:cNvPr id="13" name="Text 11"/>
          <p:cNvSpPr/>
          <p:nvPr/>
        </p:nvSpPr>
        <p:spPr>
          <a:xfrm>
            <a:off x="4800600" y="1371600"/>
            <a:ext cx="1920240" cy="256032"/>
          </a:xfrm>
          <a:prstGeom prst="rect">
            <a:avLst/>
          </a:prstGeom>
          <a:noFill/>
          <a:ln/>
        </p:spPr>
        <p:txBody>
          <a:bodyPr wrap="square" lIns="0" tIns="0" rIns="0" bIns="0" rtlCol="0" anchor="ctr"/>
          <a:lstStyle/>
          <a:p>
            <a:pPr marL="0" indent="0" algn="ctr">
              <a:buNone/>
            </a:pPr>
            <a:r>
              <a:rPr lang="en-US" sz="1050" dirty="0">
                <a:solidFill>
                  <a:srgbClr val="AAC8D4"/>
                </a:solidFill>
                <a:latin typeface="Calibri" pitchFamily="34" charset="0"/>
                <a:ea typeface="Calibri" pitchFamily="34" charset="-122"/>
                <a:cs typeface="Calibri" pitchFamily="34" charset="-120"/>
              </a:rPr>
              <a:t>Movies</a:t>
            </a:r>
            <a:endParaRPr lang="en-US" sz="1050" dirty="0"/>
          </a:p>
        </p:txBody>
      </p:sp>
      <p:sp>
        <p:nvSpPr>
          <p:cNvPr id="14" name="Shape 12"/>
          <p:cNvSpPr/>
          <p:nvPr/>
        </p:nvSpPr>
        <p:spPr>
          <a:xfrm>
            <a:off x="6995160" y="914400"/>
            <a:ext cx="1920240" cy="749808"/>
          </a:xfrm>
          <a:prstGeom prst="rect">
            <a:avLst/>
          </a:prstGeom>
          <a:solidFill>
            <a:srgbClr val="2C4A5A"/>
          </a:solidFill>
          <a:ln w="8890">
            <a:solidFill>
              <a:srgbClr val="2A8C82"/>
            </a:solidFill>
            <a:prstDash val="solid"/>
          </a:ln>
          <a:effectLst>
            <a:outerShdw blurRad="63500" dist="25400" dir="8100000" algn="bl" rotWithShape="0">
              <a:srgbClr val="000000">
                <a:alpha val="10000"/>
              </a:srgbClr>
            </a:outerShdw>
          </a:effectLst>
        </p:spPr>
        <p:txBody>
          <a:bodyPr/>
          <a:lstStyle/>
          <a:p>
            <a:endParaRPr lang="en-IN"/>
          </a:p>
        </p:txBody>
      </p:sp>
      <p:sp>
        <p:nvSpPr>
          <p:cNvPr id="15" name="Text 13"/>
          <p:cNvSpPr/>
          <p:nvPr/>
        </p:nvSpPr>
        <p:spPr>
          <a:xfrm>
            <a:off x="6995160" y="932688"/>
            <a:ext cx="1920240" cy="438912"/>
          </a:xfrm>
          <a:prstGeom prst="rect">
            <a:avLst/>
          </a:prstGeom>
          <a:noFill/>
          <a:ln/>
        </p:spPr>
        <p:txBody>
          <a:bodyPr wrap="square" lIns="0" tIns="0" rIns="0" bIns="0" rtlCol="0" anchor="ctr"/>
          <a:lstStyle/>
          <a:p>
            <a:pPr marL="0" indent="0" algn="ctr">
              <a:buNone/>
            </a:pPr>
            <a:r>
              <a:rPr lang="en-US" sz="2000" b="1" dirty="0">
                <a:solidFill>
                  <a:srgbClr val="4BB8AE"/>
                </a:solidFill>
                <a:latin typeface="Cambria" pitchFamily="34" charset="0"/>
                <a:ea typeface="Cambria" pitchFamily="34" charset="-122"/>
                <a:cs typeface="Cambria" pitchFamily="34" charset="-120"/>
              </a:rPr>
              <a:t>90/10</a:t>
            </a:r>
            <a:endParaRPr lang="en-US" sz="2000" dirty="0"/>
          </a:p>
        </p:txBody>
      </p:sp>
      <p:sp>
        <p:nvSpPr>
          <p:cNvPr id="16" name="Text 14"/>
          <p:cNvSpPr/>
          <p:nvPr/>
        </p:nvSpPr>
        <p:spPr>
          <a:xfrm>
            <a:off x="6995160" y="1371600"/>
            <a:ext cx="1920240" cy="256032"/>
          </a:xfrm>
          <a:prstGeom prst="rect">
            <a:avLst/>
          </a:prstGeom>
          <a:noFill/>
          <a:ln/>
        </p:spPr>
        <p:txBody>
          <a:bodyPr wrap="square" lIns="0" tIns="0" rIns="0" bIns="0" rtlCol="0" anchor="ctr"/>
          <a:lstStyle/>
          <a:p>
            <a:pPr marL="0" indent="0" algn="ctr">
              <a:buNone/>
            </a:pPr>
            <a:r>
              <a:rPr lang="en-US" sz="1050" dirty="0">
                <a:solidFill>
                  <a:srgbClr val="AAC8D4"/>
                </a:solidFill>
                <a:latin typeface="Calibri" pitchFamily="34" charset="0"/>
                <a:ea typeface="Calibri" pitchFamily="34" charset="-122"/>
                <a:cs typeface="Calibri" pitchFamily="34" charset="-120"/>
              </a:rPr>
              <a:t>Train/Test Split</a:t>
            </a:r>
            <a:endParaRPr lang="en-US" sz="1050" dirty="0"/>
          </a:p>
        </p:txBody>
      </p:sp>
      <p:sp>
        <p:nvSpPr>
          <p:cNvPr id="17" name="Shape 15"/>
          <p:cNvSpPr/>
          <p:nvPr/>
        </p:nvSpPr>
        <p:spPr>
          <a:xfrm>
            <a:off x="411480" y="1828800"/>
            <a:ext cx="1920240" cy="749808"/>
          </a:xfrm>
          <a:prstGeom prst="rect">
            <a:avLst/>
          </a:prstGeom>
          <a:solidFill>
            <a:srgbClr val="2C4A5A"/>
          </a:solidFill>
          <a:ln w="8890">
            <a:solidFill>
              <a:srgbClr val="2A8C82"/>
            </a:solidFill>
            <a:prstDash val="solid"/>
          </a:ln>
          <a:effectLst>
            <a:outerShdw blurRad="63500" dist="25400" dir="8100000" algn="bl" rotWithShape="0">
              <a:srgbClr val="000000">
                <a:alpha val="10000"/>
              </a:srgbClr>
            </a:outerShdw>
          </a:effectLst>
        </p:spPr>
        <p:txBody>
          <a:bodyPr/>
          <a:lstStyle/>
          <a:p>
            <a:endParaRPr lang="en-IN"/>
          </a:p>
        </p:txBody>
      </p:sp>
      <p:sp>
        <p:nvSpPr>
          <p:cNvPr id="18" name="Text 16"/>
          <p:cNvSpPr/>
          <p:nvPr/>
        </p:nvSpPr>
        <p:spPr>
          <a:xfrm>
            <a:off x="411480" y="1847088"/>
            <a:ext cx="1920240" cy="438912"/>
          </a:xfrm>
          <a:prstGeom prst="rect">
            <a:avLst/>
          </a:prstGeom>
          <a:noFill/>
          <a:ln/>
        </p:spPr>
        <p:txBody>
          <a:bodyPr wrap="square" lIns="0" tIns="0" rIns="0" bIns="0" rtlCol="0" anchor="ctr"/>
          <a:lstStyle/>
          <a:p>
            <a:pPr marL="0" indent="0" algn="ctr">
              <a:buNone/>
            </a:pPr>
            <a:r>
              <a:rPr lang="en-US" sz="2000" b="1" dirty="0">
                <a:solidFill>
                  <a:srgbClr val="4BB8AE"/>
                </a:solidFill>
                <a:latin typeface="Cambria" pitchFamily="34" charset="0"/>
                <a:ea typeface="Cambria" pitchFamily="34" charset="-122"/>
                <a:cs typeface="Cambria" pitchFamily="34" charset="-120"/>
              </a:rPr>
              <a:t>10</a:t>
            </a:r>
            <a:endParaRPr lang="en-US" sz="2000" dirty="0"/>
          </a:p>
        </p:txBody>
      </p:sp>
      <p:sp>
        <p:nvSpPr>
          <p:cNvPr id="19" name="Text 17"/>
          <p:cNvSpPr/>
          <p:nvPr/>
        </p:nvSpPr>
        <p:spPr>
          <a:xfrm>
            <a:off x="411480" y="2286000"/>
            <a:ext cx="1920240" cy="256032"/>
          </a:xfrm>
          <a:prstGeom prst="rect">
            <a:avLst/>
          </a:prstGeom>
          <a:noFill/>
          <a:ln/>
        </p:spPr>
        <p:txBody>
          <a:bodyPr wrap="square" lIns="0" tIns="0" rIns="0" bIns="0" rtlCol="0" anchor="ctr"/>
          <a:lstStyle/>
          <a:p>
            <a:pPr marL="0" indent="0" algn="ctr">
              <a:buNone/>
            </a:pPr>
            <a:r>
              <a:rPr lang="en-US" sz="1050" dirty="0">
                <a:solidFill>
                  <a:srgbClr val="AAC8D4"/>
                </a:solidFill>
                <a:latin typeface="Calibri" pitchFamily="34" charset="0"/>
                <a:ea typeface="Calibri" pitchFamily="34" charset="-122"/>
                <a:cs typeface="Calibri" pitchFamily="34" charset="-120"/>
              </a:rPr>
              <a:t>Latent Dims (k)</a:t>
            </a:r>
            <a:endParaRPr lang="en-US" sz="1050" dirty="0"/>
          </a:p>
        </p:txBody>
      </p:sp>
      <p:sp>
        <p:nvSpPr>
          <p:cNvPr id="20" name="Shape 18"/>
          <p:cNvSpPr/>
          <p:nvPr/>
        </p:nvSpPr>
        <p:spPr>
          <a:xfrm>
            <a:off x="2606040" y="1828800"/>
            <a:ext cx="1920240" cy="749808"/>
          </a:xfrm>
          <a:prstGeom prst="rect">
            <a:avLst/>
          </a:prstGeom>
          <a:solidFill>
            <a:srgbClr val="2C4A5A"/>
          </a:solidFill>
          <a:ln w="8890">
            <a:solidFill>
              <a:srgbClr val="2A8C82"/>
            </a:solidFill>
            <a:prstDash val="solid"/>
          </a:ln>
          <a:effectLst>
            <a:outerShdw blurRad="63500" dist="25400" dir="8100000" algn="bl" rotWithShape="0">
              <a:srgbClr val="000000">
                <a:alpha val="10000"/>
              </a:srgbClr>
            </a:outerShdw>
          </a:effectLst>
        </p:spPr>
        <p:txBody>
          <a:bodyPr/>
          <a:lstStyle/>
          <a:p>
            <a:endParaRPr lang="en-IN"/>
          </a:p>
        </p:txBody>
      </p:sp>
      <p:sp>
        <p:nvSpPr>
          <p:cNvPr id="21" name="Text 19"/>
          <p:cNvSpPr/>
          <p:nvPr/>
        </p:nvSpPr>
        <p:spPr>
          <a:xfrm>
            <a:off x="2606040" y="1847088"/>
            <a:ext cx="1920240" cy="438912"/>
          </a:xfrm>
          <a:prstGeom prst="rect">
            <a:avLst/>
          </a:prstGeom>
          <a:noFill/>
          <a:ln/>
        </p:spPr>
        <p:txBody>
          <a:bodyPr wrap="square" lIns="0" tIns="0" rIns="0" bIns="0" rtlCol="0" anchor="ctr"/>
          <a:lstStyle/>
          <a:p>
            <a:pPr marL="0" indent="0" algn="ctr">
              <a:buNone/>
            </a:pPr>
            <a:r>
              <a:rPr lang="en-US" sz="2000" b="1" dirty="0">
                <a:solidFill>
                  <a:srgbClr val="4BB8AE"/>
                </a:solidFill>
                <a:latin typeface="Cambria" pitchFamily="34" charset="0"/>
                <a:ea typeface="Cambria" pitchFamily="34" charset="-122"/>
                <a:cs typeface="Cambria" pitchFamily="34" charset="-120"/>
              </a:rPr>
              <a:t>10</a:t>
            </a:r>
            <a:endParaRPr lang="en-US" sz="2000" dirty="0"/>
          </a:p>
        </p:txBody>
      </p:sp>
      <p:sp>
        <p:nvSpPr>
          <p:cNvPr id="22" name="Text 20"/>
          <p:cNvSpPr/>
          <p:nvPr/>
        </p:nvSpPr>
        <p:spPr>
          <a:xfrm>
            <a:off x="2606040" y="2286000"/>
            <a:ext cx="1920240" cy="256032"/>
          </a:xfrm>
          <a:prstGeom prst="rect">
            <a:avLst/>
          </a:prstGeom>
          <a:noFill/>
          <a:ln/>
        </p:spPr>
        <p:txBody>
          <a:bodyPr wrap="square" lIns="0" tIns="0" rIns="0" bIns="0" rtlCol="0" anchor="ctr"/>
          <a:lstStyle/>
          <a:p>
            <a:pPr marL="0" indent="0" algn="ctr">
              <a:buNone/>
            </a:pPr>
            <a:r>
              <a:rPr lang="en-US" sz="1050" dirty="0">
                <a:solidFill>
                  <a:srgbClr val="AAC8D4"/>
                </a:solidFill>
                <a:latin typeface="Calibri" pitchFamily="34" charset="0"/>
                <a:ea typeface="Calibri" pitchFamily="34" charset="-122"/>
                <a:cs typeface="Calibri" pitchFamily="34" charset="-120"/>
              </a:rPr>
              <a:t>Training Epochs</a:t>
            </a:r>
            <a:endParaRPr lang="en-US" sz="1050" dirty="0"/>
          </a:p>
        </p:txBody>
      </p:sp>
      <p:sp>
        <p:nvSpPr>
          <p:cNvPr id="23" name="Shape 21"/>
          <p:cNvSpPr/>
          <p:nvPr/>
        </p:nvSpPr>
        <p:spPr>
          <a:xfrm>
            <a:off x="4800600" y="1828800"/>
            <a:ext cx="1920240" cy="749808"/>
          </a:xfrm>
          <a:prstGeom prst="rect">
            <a:avLst/>
          </a:prstGeom>
          <a:solidFill>
            <a:srgbClr val="2C4A5A"/>
          </a:solidFill>
          <a:ln w="8890">
            <a:solidFill>
              <a:srgbClr val="2A8C82"/>
            </a:solidFill>
            <a:prstDash val="solid"/>
          </a:ln>
          <a:effectLst>
            <a:outerShdw blurRad="63500" dist="25400" dir="8100000" algn="bl" rotWithShape="0">
              <a:srgbClr val="000000">
                <a:alpha val="10000"/>
              </a:srgbClr>
            </a:outerShdw>
          </a:effectLst>
        </p:spPr>
        <p:txBody>
          <a:bodyPr/>
          <a:lstStyle/>
          <a:p>
            <a:endParaRPr lang="en-IN"/>
          </a:p>
        </p:txBody>
      </p:sp>
      <p:sp>
        <p:nvSpPr>
          <p:cNvPr id="24" name="Text 22"/>
          <p:cNvSpPr/>
          <p:nvPr/>
        </p:nvSpPr>
        <p:spPr>
          <a:xfrm>
            <a:off x="4800600" y="1847088"/>
            <a:ext cx="1920240" cy="438912"/>
          </a:xfrm>
          <a:prstGeom prst="rect">
            <a:avLst/>
          </a:prstGeom>
          <a:noFill/>
          <a:ln/>
        </p:spPr>
        <p:txBody>
          <a:bodyPr wrap="square" lIns="0" tIns="0" rIns="0" bIns="0" rtlCol="0" anchor="ctr"/>
          <a:lstStyle/>
          <a:p>
            <a:pPr marL="0" indent="0" algn="ctr">
              <a:buNone/>
            </a:pPr>
            <a:r>
              <a:rPr lang="en-US" sz="2000" b="1" dirty="0">
                <a:solidFill>
                  <a:srgbClr val="4BB8AE"/>
                </a:solidFill>
                <a:latin typeface="Cambria" pitchFamily="34" charset="0"/>
                <a:ea typeface="Cambria" pitchFamily="34" charset="-122"/>
                <a:cs typeface="Cambria" pitchFamily="34" charset="-120"/>
              </a:rPr>
              <a:t>K = 10</a:t>
            </a:r>
            <a:endParaRPr lang="en-US" sz="2000" dirty="0"/>
          </a:p>
        </p:txBody>
      </p:sp>
      <p:sp>
        <p:nvSpPr>
          <p:cNvPr id="25" name="Text 23"/>
          <p:cNvSpPr/>
          <p:nvPr/>
        </p:nvSpPr>
        <p:spPr>
          <a:xfrm>
            <a:off x="4800600" y="2286000"/>
            <a:ext cx="1920240" cy="256032"/>
          </a:xfrm>
          <a:prstGeom prst="rect">
            <a:avLst/>
          </a:prstGeom>
          <a:noFill/>
          <a:ln/>
        </p:spPr>
        <p:txBody>
          <a:bodyPr wrap="square" lIns="0" tIns="0" rIns="0" bIns="0" rtlCol="0" anchor="ctr"/>
          <a:lstStyle/>
          <a:p>
            <a:pPr marL="0" indent="0" algn="ctr">
              <a:buNone/>
            </a:pPr>
            <a:r>
              <a:rPr lang="en-US" sz="1050" dirty="0">
                <a:solidFill>
                  <a:srgbClr val="AAC8D4"/>
                </a:solidFill>
                <a:latin typeface="Calibri" pitchFamily="34" charset="0"/>
                <a:ea typeface="Calibri" pitchFamily="34" charset="-122"/>
                <a:cs typeface="Calibri" pitchFamily="34" charset="-120"/>
              </a:rPr>
              <a:t>Evaluation K</a:t>
            </a:r>
            <a:endParaRPr lang="en-US" sz="1050" dirty="0"/>
          </a:p>
        </p:txBody>
      </p:sp>
      <p:sp>
        <p:nvSpPr>
          <p:cNvPr id="26" name="Shape 24"/>
          <p:cNvSpPr/>
          <p:nvPr/>
        </p:nvSpPr>
        <p:spPr>
          <a:xfrm>
            <a:off x="6995160" y="1828800"/>
            <a:ext cx="1920240" cy="749808"/>
          </a:xfrm>
          <a:prstGeom prst="rect">
            <a:avLst/>
          </a:prstGeom>
          <a:solidFill>
            <a:srgbClr val="2C4A5A"/>
          </a:solidFill>
          <a:ln w="8890">
            <a:solidFill>
              <a:srgbClr val="2A8C82"/>
            </a:solidFill>
            <a:prstDash val="solid"/>
          </a:ln>
          <a:effectLst>
            <a:outerShdw blurRad="63500" dist="25400" dir="8100000" algn="bl" rotWithShape="0">
              <a:srgbClr val="000000">
                <a:alpha val="10000"/>
              </a:srgbClr>
            </a:outerShdw>
          </a:effectLst>
        </p:spPr>
        <p:txBody>
          <a:bodyPr/>
          <a:lstStyle/>
          <a:p>
            <a:endParaRPr lang="en-IN"/>
          </a:p>
        </p:txBody>
      </p:sp>
      <p:sp>
        <p:nvSpPr>
          <p:cNvPr id="27" name="Text 25"/>
          <p:cNvSpPr/>
          <p:nvPr/>
        </p:nvSpPr>
        <p:spPr>
          <a:xfrm>
            <a:off x="6995160" y="1847088"/>
            <a:ext cx="1920240" cy="438912"/>
          </a:xfrm>
          <a:prstGeom prst="rect">
            <a:avLst/>
          </a:prstGeom>
          <a:noFill/>
          <a:ln/>
        </p:spPr>
        <p:txBody>
          <a:bodyPr wrap="square" lIns="0" tIns="0" rIns="0" bIns="0" rtlCol="0" anchor="ctr"/>
          <a:lstStyle/>
          <a:p>
            <a:pPr marL="0" indent="0" algn="ctr">
              <a:buNone/>
            </a:pPr>
            <a:r>
              <a:rPr lang="en-US" sz="2000" b="1" dirty="0">
                <a:solidFill>
                  <a:srgbClr val="4BB8AE"/>
                </a:solidFill>
                <a:latin typeface="Cambria" pitchFamily="34" charset="0"/>
                <a:ea typeface="Cambria" pitchFamily="34" charset="-122"/>
                <a:cs typeface="Cambria" pitchFamily="34" charset="-120"/>
              </a:rPr>
              <a:t>Top-5</a:t>
            </a:r>
            <a:endParaRPr lang="en-US" sz="2000" dirty="0"/>
          </a:p>
        </p:txBody>
      </p:sp>
      <p:sp>
        <p:nvSpPr>
          <p:cNvPr id="28" name="Text 26"/>
          <p:cNvSpPr/>
          <p:nvPr/>
        </p:nvSpPr>
        <p:spPr>
          <a:xfrm>
            <a:off x="6995160" y="2286000"/>
            <a:ext cx="1920240" cy="256032"/>
          </a:xfrm>
          <a:prstGeom prst="rect">
            <a:avLst/>
          </a:prstGeom>
          <a:noFill/>
          <a:ln/>
        </p:spPr>
        <p:txBody>
          <a:bodyPr wrap="square" lIns="0" tIns="0" rIns="0" bIns="0" rtlCol="0" anchor="ctr"/>
          <a:lstStyle/>
          <a:p>
            <a:pPr marL="0" indent="0" algn="ctr">
              <a:buNone/>
            </a:pPr>
            <a:r>
              <a:rPr lang="en-US" sz="1050" dirty="0">
                <a:solidFill>
                  <a:srgbClr val="AAC8D4"/>
                </a:solidFill>
                <a:latin typeface="Calibri" pitchFamily="34" charset="0"/>
                <a:ea typeface="Calibri" pitchFamily="34" charset="-122"/>
                <a:cs typeface="Calibri" pitchFamily="34" charset="-120"/>
              </a:rPr>
              <a:t>Recommendations</a:t>
            </a:r>
            <a:endParaRPr lang="en-US" sz="1050" dirty="0"/>
          </a:p>
        </p:txBody>
      </p:sp>
      <p:sp>
        <p:nvSpPr>
          <p:cNvPr id="29" name="Shape 27"/>
          <p:cNvSpPr/>
          <p:nvPr/>
        </p:nvSpPr>
        <p:spPr>
          <a:xfrm>
            <a:off x="411480" y="2834640"/>
            <a:ext cx="8321040" cy="1051560"/>
          </a:xfrm>
          <a:prstGeom prst="rect">
            <a:avLst/>
          </a:prstGeom>
          <a:solidFill>
            <a:srgbClr val="2C4A5A"/>
          </a:solidFill>
          <a:ln w="8890">
            <a:solidFill>
              <a:srgbClr val="2A8C82"/>
            </a:solidFill>
            <a:prstDash val="solid"/>
          </a:ln>
          <a:effectLst>
            <a:outerShdw blurRad="63500" dist="25400" dir="8100000" algn="bl" rotWithShape="0">
              <a:srgbClr val="000000">
                <a:alpha val="10000"/>
              </a:srgbClr>
            </a:outerShdw>
          </a:effectLst>
        </p:spPr>
        <p:txBody>
          <a:bodyPr/>
          <a:lstStyle/>
          <a:p>
            <a:endParaRPr lang="en-IN"/>
          </a:p>
        </p:txBody>
      </p:sp>
      <p:sp>
        <p:nvSpPr>
          <p:cNvPr id="30" name="Text 28"/>
          <p:cNvSpPr/>
          <p:nvPr/>
        </p:nvSpPr>
        <p:spPr>
          <a:xfrm>
            <a:off x="548640" y="2880360"/>
            <a:ext cx="2743200" cy="347472"/>
          </a:xfrm>
          <a:prstGeom prst="rect">
            <a:avLst/>
          </a:prstGeom>
          <a:noFill/>
          <a:ln/>
        </p:spPr>
        <p:txBody>
          <a:bodyPr wrap="square" lIns="0" tIns="0" rIns="0" bIns="0" rtlCol="0" anchor="ctr"/>
          <a:lstStyle/>
          <a:p>
            <a:pPr marL="0" indent="0" algn="l">
              <a:buNone/>
            </a:pPr>
            <a:r>
              <a:rPr lang="en-US" sz="1400" b="1" dirty="0">
                <a:solidFill>
                  <a:srgbClr val="4BB8AE"/>
                </a:solidFill>
                <a:latin typeface="Cambria" pitchFamily="34" charset="0"/>
                <a:ea typeface="Cambria" pitchFamily="34" charset="-122"/>
                <a:cs typeface="Cambria" pitchFamily="34" charset="-120"/>
              </a:rPr>
              <a:t>Project Summary</a:t>
            </a:r>
            <a:endParaRPr lang="en-US" sz="1400" dirty="0"/>
          </a:p>
        </p:txBody>
      </p:sp>
      <p:sp>
        <p:nvSpPr>
          <p:cNvPr id="31" name="Text 29"/>
          <p:cNvSpPr/>
          <p:nvPr/>
        </p:nvSpPr>
        <p:spPr>
          <a:xfrm>
            <a:off x="548640" y="3246120"/>
            <a:ext cx="8046720" cy="566928"/>
          </a:xfrm>
          <a:prstGeom prst="rect">
            <a:avLst/>
          </a:prstGeom>
          <a:noFill/>
          <a:ln/>
        </p:spPr>
        <p:txBody>
          <a:bodyPr wrap="square" lIns="0" tIns="0" rIns="0" bIns="0" rtlCol="0" anchor="t"/>
          <a:lstStyle/>
          <a:p>
            <a:pPr marL="0" indent="0" algn="l">
              <a:buNone/>
            </a:pPr>
            <a:r>
              <a:rPr lang="en-US" sz="1250" dirty="0">
                <a:solidFill>
                  <a:srgbClr val="D0E4EC"/>
                </a:solidFill>
                <a:latin typeface="Calibri" pitchFamily="34" charset="0"/>
                <a:ea typeface="Calibri" pitchFamily="34" charset="-122"/>
                <a:cs typeface="Calibri" pitchFamily="34" charset="-120"/>
              </a:rPr>
              <a:t>This project implements UBCF, IBCF, and MF using LightFM on MovieLens 100K. The key novelty is using LightFM's dense embeddings to improve neighborhood similarity in sparse settings. All models are evaluated fairly using Precision@10 and Recall@10. Matrix Factorization is expected to outperform memory-based methods due to its global optimization approach.</a:t>
            </a:r>
            <a:endParaRPr lang="en-US" sz="1250" dirty="0"/>
          </a:p>
        </p:txBody>
      </p:sp>
      <p:sp>
        <p:nvSpPr>
          <p:cNvPr id="32" name="Shape 30"/>
          <p:cNvSpPr/>
          <p:nvPr/>
        </p:nvSpPr>
        <p:spPr>
          <a:xfrm>
            <a:off x="411480" y="4005072"/>
            <a:ext cx="8321040" cy="804672"/>
          </a:xfrm>
          <a:prstGeom prst="rect">
            <a:avLst/>
          </a:prstGeom>
          <a:solidFill>
            <a:srgbClr val="2A8C82"/>
          </a:solidFill>
          <a:ln w="8890">
            <a:solidFill>
              <a:srgbClr val="D4E0EA"/>
            </a:solidFill>
            <a:prstDash val="solid"/>
          </a:ln>
          <a:effectLst>
            <a:outerShdw blurRad="63500" dist="25400" dir="8100000" algn="bl" rotWithShape="0">
              <a:srgbClr val="000000">
                <a:alpha val="10000"/>
              </a:srgbClr>
            </a:outerShdw>
          </a:effectLst>
        </p:spPr>
        <p:txBody>
          <a:bodyPr/>
          <a:lstStyle/>
          <a:p>
            <a:endParaRPr lang="en-IN" dirty="0"/>
          </a:p>
        </p:txBody>
      </p:sp>
      <p:sp>
        <p:nvSpPr>
          <p:cNvPr id="33" name="Text 31"/>
          <p:cNvSpPr/>
          <p:nvPr/>
        </p:nvSpPr>
        <p:spPr>
          <a:xfrm>
            <a:off x="411480" y="4005072"/>
            <a:ext cx="5943600" cy="804672"/>
          </a:xfrm>
          <a:prstGeom prst="rect">
            <a:avLst/>
          </a:prstGeom>
          <a:noFill/>
          <a:ln/>
        </p:spPr>
        <p:txBody>
          <a:bodyPr wrap="square" lIns="127000" tIns="127000" rIns="127000" bIns="127000" rtlCol="0" anchor="ctr"/>
          <a:lstStyle/>
          <a:p>
            <a:pPr marL="0" indent="0" algn="l">
              <a:buNone/>
            </a:pPr>
            <a:r>
              <a:rPr lang="en-US" sz="2200" b="1">
                <a:solidFill>
                  <a:srgbClr val="FFFFFF"/>
                </a:solidFill>
                <a:latin typeface="Cambria" pitchFamily="34" charset="0"/>
                <a:ea typeface="Cambria" pitchFamily="34" charset="-122"/>
                <a:cs typeface="Cambria" pitchFamily="34" charset="-120"/>
              </a:rPr>
              <a:t>Thank You</a:t>
            </a:r>
            <a:endParaRPr lang="en-US" sz="2200" dirty="0"/>
          </a:p>
        </p:txBody>
      </p:sp>
      <p:sp>
        <p:nvSpPr>
          <p:cNvPr id="34" name="Text 32"/>
          <p:cNvSpPr/>
          <p:nvPr/>
        </p:nvSpPr>
        <p:spPr>
          <a:xfrm>
            <a:off x="6355080" y="4005072"/>
            <a:ext cx="2286000" cy="804672"/>
          </a:xfrm>
          <a:prstGeom prst="rect">
            <a:avLst/>
          </a:prstGeom>
          <a:noFill/>
          <a:ln/>
        </p:spPr>
        <p:txBody>
          <a:bodyPr wrap="square" lIns="50800" tIns="50800" rIns="50800" bIns="50800" rtlCol="0" anchor="ctr"/>
          <a:lstStyle/>
          <a:p>
            <a:pPr marL="0" indent="0" algn="r">
              <a:buNone/>
            </a:pP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TotalTime>
  <Words>1971</Words>
  <Application>Microsoft Office PowerPoint</Application>
  <PresentationFormat>On-screen Show (16:9)</PresentationFormat>
  <Paragraphs>272</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LightFM-Based Movie Recommender System</dc:title>
  <dc:subject>PptxGenJS Presentation</dc:subject>
  <dc:creator>IIT (BHU) Varanasi</dc:creator>
  <cp:lastModifiedBy>jitesh mishra</cp:lastModifiedBy>
  <cp:revision>4</cp:revision>
  <dcterms:created xsi:type="dcterms:W3CDTF">2026-04-24T02:29:04Z</dcterms:created>
  <dcterms:modified xsi:type="dcterms:W3CDTF">2026-04-24T05:24:36Z</dcterms:modified>
</cp:coreProperties>
</file>